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12192000"/>
  <p:embeddedFontLst>
    <p:embeddedFont>
      <p:font typeface="Alimama ShuHeiTi" charset="-122"/>
      <p:regular r:id="rId14"/>
    </p:embeddedFont>
    <p:embeddedFont>
      <p:font typeface="微软雅黑" panose="020B0503020204020204" pitchFamily="34" charset="-122"/>
      <p:regular r:id="rId15"/>
      <p:bold r:id="rId16"/>
    </p:embeddedFont>
    <p:embeddedFont>
      <p:font typeface="MiSans" panose="020B0604020202020204" charset="-122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44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bin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2D5A87"/>
              </a:gs>
            </a:gsLst>
            <a:lin ang="2700000" scaled="1"/>
          </a:gradFill>
          <a:ln/>
        </p:spPr>
      </p:sp>
      <p:pic>
        <p:nvPicPr>
          <p:cNvPr id="3" name="Image 0" descr="https://kimi-web-img.moonshot.cn/img/media.istockphoto.com/568f01fa592b5f00537e9969812d1a6efdd922d0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0248" b="1024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1727928" y="1778000"/>
            <a:ext cx="8591291" cy="746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kern="0" spc="105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19885" y="2438400"/>
            <a:ext cx="5153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00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PETDOC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19958" y="3238500"/>
            <a:ext cx="95852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Veterinary Care System with AI-Based Disease Detection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10781" y="4152900"/>
            <a:ext cx="47720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Group: 05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11962" y="4765665"/>
            <a:ext cx="72012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Members: Rishat Bin Sultan, Fariha Islam, MD Tamim Hasan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2425" y="649605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Meet PetDoc: The Future of Pet Healthcare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3657600" cy="4762500"/>
          </a:xfrm>
          <a:custGeom>
            <a:avLst/>
            <a:gdLst/>
            <a:ahLst/>
            <a:cxnLst/>
            <a:rect l="l" t="t" r="r" b="b"/>
            <a:pathLst>
              <a:path w="3657600" h="4762500">
                <a:moveTo>
                  <a:pt x="114300" y="0"/>
                </a:moveTo>
                <a:lnTo>
                  <a:pt x="3543300" y="0"/>
                </a:lnTo>
                <a:cubicBezTo>
                  <a:pt x="3606384" y="0"/>
                  <a:pt x="3657600" y="51216"/>
                  <a:pt x="3657600" y="114300"/>
                </a:cubicBezTo>
                <a:lnTo>
                  <a:pt x="3657600" y="4648200"/>
                </a:lnTo>
                <a:cubicBezTo>
                  <a:pt x="3657600" y="4711284"/>
                  <a:pt x="3606384" y="4762500"/>
                  <a:pt x="3543300" y="4762500"/>
                </a:cubicBezTo>
                <a:lnTo>
                  <a:pt x="114300" y="4762500"/>
                </a:lnTo>
                <a:cubicBezTo>
                  <a:pt x="51216" y="4762500"/>
                  <a:pt x="0" y="4711284"/>
                  <a:pt x="0" y="464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DBEAFE"/>
              </a:gs>
            </a:gsLst>
            <a:lin ang="2700000" scaled="1"/>
          </a:gradFill>
          <a:ln/>
        </p:spPr>
      </p:sp>
      <p:pic>
        <p:nvPicPr>
          <p:cNvPr id="5" name="Image 0" descr="https://kimi-web-img.moonshot.cn/img/petapixel.com/fa4de4b37e0be1abd2ffd0447e98c3ab889a551d.jpg"/>
          <p:cNvPicPr>
            <a:picLocks noChangeAspect="1"/>
          </p:cNvPicPr>
          <p:nvPr/>
        </p:nvPicPr>
        <p:blipFill>
          <a:blip r:embed="rId3"/>
          <a:srcRect t="13719" b="13719"/>
          <a:stretch/>
        </p:blipFill>
        <p:spPr>
          <a:xfrm>
            <a:off x="609600" y="1447800"/>
            <a:ext cx="3200400" cy="1571984"/>
          </a:xfrm>
          <a:prstGeom prst="roundRect">
            <a:avLst>
              <a:gd name="adj" fmla="val 625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566738" y="30861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Disease Detection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262" y="3518607"/>
            <a:ext cx="3267075" cy="71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preliminary disease guidance by selecting symptoms or uploading pet images for instant AI analysis.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67200" y="1219200"/>
            <a:ext cx="3657600" cy="4762500"/>
          </a:xfrm>
          <a:custGeom>
            <a:avLst/>
            <a:gdLst/>
            <a:ahLst/>
            <a:cxnLst/>
            <a:rect l="l" t="t" r="r" b="b"/>
            <a:pathLst>
              <a:path w="3657600" h="4762500">
                <a:moveTo>
                  <a:pt x="114300" y="0"/>
                </a:moveTo>
                <a:lnTo>
                  <a:pt x="3543300" y="0"/>
                </a:lnTo>
                <a:cubicBezTo>
                  <a:pt x="3606384" y="0"/>
                  <a:pt x="3657600" y="51216"/>
                  <a:pt x="3657600" y="114300"/>
                </a:cubicBezTo>
                <a:lnTo>
                  <a:pt x="3657600" y="4648200"/>
                </a:lnTo>
                <a:cubicBezTo>
                  <a:pt x="3657600" y="4711284"/>
                  <a:pt x="3606384" y="4762500"/>
                  <a:pt x="3543300" y="4762500"/>
                </a:cubicBezTo>
                <a:lnTo>
                  <a:pt x="114300" y="4762500"/>
                </a:lnTo>
                <a:cubicBezTo>
                  <a:pt x="51216" y="4762500"/>
                  <a:pt x="0" y="4711284"/>
                  <a:pt x="0" y="464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DCFCE7"/>
              </a:gs>
            </a:gsLst>
            <a:lin ang="2700000" scaled="1"/>
          </a:gradFill>
          <a:ln/>
        </p:spPr>
      </p:sp>
      <p:pic>
        <p:nvPicPr>
          <p:cNvPr id="9" name="Image 1" descr="https://kimi-web-img.moonshot.cn/img/thumbs.dreamstime.com/7d64195dc29552f980bbcfb7e20b6710c36a5e0c.jpg"/>
          <p:cNvPicPr>
            <a:picLocks noChangeAspect="1"/>
          </p:cNvPicPr>
          <p:nvPr/>
        </p:nvPicPr>
        <p:blipFill>
          <a:blip r:embed="rId4"/>
          <a:srcRect t="21411" b="21411"/>
          <a:stretch/>
        </p:blipFill>
        <p:spPr>
          <a:xfrm>
            <a:off x="4495800" y="1447800"/>
            <a:ext cx="3200400" cy="1571984"/>
          </a:xfrm>
          <a:prstGeom prst="roundRect">
            <a:avLst>
              <a:gd name="adj" fmla="val 6250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4486275" y="30861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E-Commerce Platform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95800" y="3518607"/>
            <a:ext cx="3267075" cy="71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Browse and purchase veterinary products, medicines, and pet care essentials online with seamless delivery.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53400" y="1219200"/>
            <a:ext cx="3657600" cy="4762500"/>
          </a:xfrm>
          <a:custGeom>
            <a:avLst/>
            <a:gdLst/>
            <a:ahLst/>
            <a:cxnLst/>
            <a:rect l="l" t="t" r="r" b="b"/>
            <a:pathLst>
              <a:path w="3657600" h="4762500">
                <a:moveTo>
                  <a:pt x="114300" y="0"/>
                </a:moveTo>
                <a:lnTo>
                  <a:pt x="3543300" y="0"/>
                </a:lnTo>
                <a:cubicBezTo>
                  <a:pt x="3606384" y="0"/>
                  <a:pt x="3657600" y="51216"/>
                  <a:pt x="3657600" y="114300"/>
                </a:cubicBezTo>
                <a:lnTo>
                  <a:pt x="3657600" y="4648200"/>
                </a:lnTo>
                <a:cubicBezTo>
                  <a:pt x="3657600" y="4711284"/>
                  <a:pt x="3606384" y="4762500"/>
                  <a:pt x="3543300" y="4762500"/>
                </a:cubicBezTo>
                <a:lnTo>
                  <a:pt x="114300" y="4762500"/>
                </a:lnTo>
                <a:cubicBezTo>
                  <a:pt x="51216" y="4762500"/>
                  <a:pt x="0" y="4711284"/>
                  <a:pt x="0" y="464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F3E8FF"/>
              </a:gs>
            </a:gsLst>
            <a:lin ang="2700000" scaled="1"/>
          </a:gradFill>
          <a:ln/>
        </p:spPr>
      </p:sp>
      <p:pic>
        <p:nvPicPr>
          <p:cNvPr id="13" name="Image 2" descr="https://kimi-web-img.moonshot.cn/img/cdn-ildnilb.nitrocdn.com/0ae6faf4d6266f2a718242620a8d18c4bb95ea57.jpg"/>
          <p:cNvPicPr>
            <a:picLocks noChangeAspect="1"/>
          </p:cNvPicPr>
          <p:nvPr/>
        </p:nvPicPr>
        <p:blipFill>
          <a:blip r:embed="rId5"/>
          <a:srcRect t="13746" b="13746"/>
          <a:stretch/>
        </p:blipFill>
        <p:spPr>
          <a:xfrm>
            <a:off x="8382000" y="1447800"/>
            <a:ext cx="3200400" cy="1571984"/>
          </a:xfrm>
          <a:prstGeom prst="roundRect">
            <a:avLst>
              <a:gd name="adj" fmla="val 6250"/>
            </a:avLst>
          </a:prstGeom>
        </p:spPr>
      </p:pic>
      <p:sp>
        <p:nvSpPr>
          <p:cNvPr id="14" name="Text 9"/>
          <p:cNvSpPr/>
          <p:nvPr/>
        </p:nvSpPr>
        <p:spPr>
          <a:xfrm>
            <a:off x="8339137" y="30861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9810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Consultation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48663" y="3518607"/>
            <a:ext cx="3267075" cy="71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 round-the-clock online veterinary support and expert advice whenever you need it.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81000" y="606743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 Platform. Complete Care. Smarter Decisions.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2425" y="649605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Digital Healthcare Revolution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8077200" cy="1295400"/>
          </a:xfrm>
          <a:custGeom>
            <a:avLst/>
            <a:gdLst/>
            <a:ahLst/>
            <a:cxnLst/>
            <a:rect l="l" t="t" r="r" b="b"/>
            <a:pathLst>
              <a:path w="8077200" h="1295400">
                <a:moveTo>
                  <a:pt x="114306" y="0"/>
                </a:moveTo>
                <a:lnTo>
                  <a:pt x="7962894" y="0"/>
                </a:lnTo>
                <a:cubicBezTo>
                  <a:pt x="8026023" y="0"/>
                  <a:pt x="8077200" y="51177"/>
                  <a:pt x="8077200" y="114306"/>
                </a:cubicBezTo>
                <a:lnTo>
                  <a:pt x="8077200" y="1181094"/>
                </a:lnTo>
                <a:cubicBezTo>
                  <a:pt x="8077200" y="1244223"/>
                  <a:pt x="8026023" y="1295400"/>
                  <a:pt x="79628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52463" y="14668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6" name="Text 4"/>
          <p:cNvSpPr/>
          <p:nvPr/>
        </p:nvSpPr>
        <p:spPr>
          <a:xfrm>
            <a:off x="1009650" y="1447800"/>
            <a:ext cx="23486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 Healthcare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828800"/>
            <a:ext cx="769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technology has revolutionized human medical services with telemedicine, AI diagnostics, and integrated health platforms.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667000"/>
            <a:ext cx="8077200" cy="1295400"/>
          </a:xfrm>
          <a:custGeom>
            <a:avLst/>
            <a:gdLst/>
            <a:ahLst/>
            <a:cxnLst/>
            <a:rect l="l" t="t" r="r" b="b"/>
            <a:pathLst>
              <a:path w="8077200" h="1295400">
                <a:moveTo>
                  <a:pt x="114306" y="0"/>
                </a:moveTo>
                <a:lnTo>
                  <a:pt x="7962894" y="0"/>
                </a:lnTo>
                <a:cubicBezTo>
                  <a:pt x="8026023" y="0"/>
                  <a:pt x="8077200" y="51177"/>
                  <a:pt x="8077200" y="114306"/>
                </a:cubicBezTo>
                <a:lnTo>
                  <a:pt x="8077200" y="1181094"/>
                </a:lnTo>
                <a:cubicBezTo>
                  <a:pt x="8077200" y="1244223"/>
                  <a:pt x="8026023" y="1295400"/>
                  <a:pt x="79628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638175" y="2914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4701" y="41478"/>
                </a:moveTo>
                <a:cubicBezTo>
                  <a:pt x="111085" y="60633"/>
                  <a:pt x="104567" y="79965"/>
                  <a:pt x="90145" y="84698"/>
                </a:cubicBezTo>
                <a:cubicBezTo>
                  <a:pt x="75724" y="89431"/>
                  <a:pt x="58847" y="77733"/>
                  <a:pt x="52462" y="58579"/>
                </a:cubicBezTo>
                <a:cubicBezTo>
                  <a:pt x="46077" y="39425"/>
                  <a:pt x="52596" y="20092"/>
                  <a:pt x="67017" y="15359"/>
                </a:cubicBezTo>
                <a:cubicBezTo>
                  <a:pt x="81439" y="10626"/>
                  <a:pt x="98316" y="22324"/>
                  <a:pt x="104701" y="41478"/>
                </a:cubicBezTo>
                <a:close/>
                <a:moveTo>
                  <a:pt x="44827" y="88672"/>
                </a:moveTo>
                <a:cubicBezTo>
                  <a:pt x="53266" y="103138"/>
                  <a:pt x="51212" y="119970"/>
                  <a:pt x="40273" y="126221"/>
                </a:cubicBezTo>
                <a:cubicBezTo>
                  <a:pt x="29334" y="132472"/>
                  <a:pt x="13618" y="125819"/>
                  <a:pt x="5224" y="111353"/>
                </a:cubicBezTo>
                <a:cubicBezTo>
                  <a:pt x="-3170" y="96887"/>
                  <a:pt x="-1161" y="80055"/>
                  <a:pt x="9778" y="73804"/>
                </a:cubicBezTo>
                <a:cubicBezTo>
                  <a:pt x="20717" y="67553"/>
                  <a:pt x="36433" y="74206"/>
                  <a:pt x="44827" y="88672"/>
                </a:cubicBezTo>
                <a:close/>
                <a:moveTo>
                  <a:pt x="30897" y="179130"/>
                </a:moveTo>
                <a:cubicBezTo>
                  <a:pt x="54293" y="116041"/>
                  <a:pt x="95860" y="100013"/>
                  <a:pt x="114300" y="100013"/>
                </a:cubicBezTo>
                <a:cubicBezTo>
                  <a:pt x="132740" y="100013"/>
                  <a:pt x="174308" y="116041"/>
                  <a:pt x="197703" y="179130"/>
                </a:cubicBezTo>
                <a:cubicBezTo>
                  <a:pt x="199311" y="183460"/>
                  <a:pt x="200025" y="188104"/>
                  <a:pt x="200025" y="192747"/>
                </a:cubicBezTo>
                <a:lnTo>
                  <a:pt x="200025" y="193462"/>
                </a:lnTo>
                <a:cubicBezTo>
                  <a:pt x="200025" y="204981"/>
                  <a:pt x="190693" y="214313"/>
                  <a:pt x="179174" y="214313"/>
                </a:cubicBezTo>
                <a:cubicBezTo>
                  <a:pt x="174040" y="214313"/>
                  <a:pt x="168950" y="213687"/>
                  <a:pt x="163994" y="212437"/>
                </a:cubicBezTo>
                <a:lnTo>
                  <a:pt x="124703" y="202615"/>
                </a:lnTo>
                <a:cubicBezTo>
                  <a:pt x="117872" y="200918"/>
                  <a:pt x="110728" y="200918"/>
                  <a:pt x="103897" y="202615"/>
                </a:cubicBezTo>
                <a:lnTo>
                  <a:pt x="64606" y="212437"/>
                </a:lnTo>
                <a:cubicBezTo>
                  <a:pt x="59650" y="213687"/>
                  <a:pt x="54560" y="214313"/>
                  <a:pt x="49426" y="214313"/>
                </a:cubicBezTo>
                <a:cubicBezTo>
                  <a:pt x="37907" y="214313"/>
                  <a:pt x="28575" y="204981"/>
                  <a:pt x="28575" y="193462"/>
                </a:cubicBezTo>
                <a:lnTo>
                  <a:pt x="28575" y="192747"/>
                </a:lnTo>
                <a:cubicBezTo>
                  <a:pt x="28575" y="188104"/>
                  <a:pt x="29289" y="183460"/>
                  <a:pt x="30897" y="179130"/>
                </a:cubicBezTo>
                <a:close/>
                <a:moveTo>
                  <a:pt x="188327" y="126221"/>
                </a:moveTo>
                <a:cubicBezTo>
                  <a:pt x="177388" y="119970"/>
                  <a:pt x="175334" y="103138"/>
                  <a:pt x="183773" y="88672"/>
                </a:cubicBezTo>
                <a:cubicBezTo>
                  <a:pt x="192212" y="74206"/>
                  <a:pt x="207883" y="67553"/>
                  <a:pt x="218822" y="73804"/>
                </a:cubicBezTo>
                <a:cubicBezTo>
                  <a:pt x="229761" y="80055"/>
                  <a:pt x="231815" y="96887"/>
                  <a:pt x="223376" y="111353"/>
                </a:cubicBezTo>
                <a:cubicBezTo>
                  <a:pt x="214938" y="125819"/>
                  <a:pt x="199266" y="132472"/>
                  <a:pt x="188327" y="126221"/>
                </a:cubicBezTo>
                <a:close/>
                <a:moveTo>
                  <a:pt x="138455" y="84698"/>
                </a:moveTo>
                <a:cubicBezTo>
                  <a:pt x="124033" y="79965"/>
                  <a:pt x="117515" y="60633"/>
                  <a:pt x="123899" y="41478"/>
                </a:cubicBezTo>
                <a:cubicBezTo>
                  <a:pt x="130284" y="22324"/>
                  <a:pt x="147161" y="10626"/>
                  <a:pt x="161583" y="15359"/>
                </a:cubicBezTo>
                <a:cubicBezTo>
                  <a:pt x="176004" y="20092"/>
                  <a:pt x="182523" y="39425"/>
                  <a:pt x="176138" y="58579"/>
                </a:cubicBezTo>
                <a:cubicBezTo>
                  <a:pt x="169753" y="77733"/>
                  <a:pt x="152876" y="89431"/>
                  <a:pt x="138455" y="84698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" y="2895600"/>
            <a:ext cx="18831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Veterinary Care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276600"/>
            <a:ext cx="769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Similar advancements are now gradually being adopted in animal healthcare, creating new opportunities for innovation.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4114800"/>
            <a:ext cx="8077200" cy="1028700"/>
          </a:xfrm>
          <a:custGeom>
            <a:avLst/>
            <a:gdLst/>
            <a:ahLst/>
            <a:cxnLst/>
            <a:rect l="l" t="t" r="r" b="b"/>
            <a:pathLst>
              <a:path w="8077200" h="1028700">
                <a:moveTo>
                  <a:pt x="114299" y="0"/>
                </a:moveTo>
                <a:lnTo>
                  <a:pt x="7962901" y="0"/>
                </a:lnTo>
                <a:cubicBezTo>
                  <a:pt x="8026027" y="0"/>
                  <a:pt x="8077200" y="51173"/>
                  <a:pt x="8077200" y="114299"/>
                </a:cubicBezTo>
                <a:lnTo>
                  <a:pt x="8077200" y="914401"/>
                </a:lnTo>
                <a:cubicBezTo>
                  <a:pt x="8077200" y="977527"/>
                  <a:pt x="8026027" y="1028700"/>
                  <a:pt x="79629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" y="4343400"/>
            <a:ext cx="770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Growing Trend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4686300"/>
            <a:ext cx="769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 owners increasingly seek digital solutions for their animals' health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02673" y="2914650"/>
            <a:ext cx="3048000" cy="3151330"/>
          </a:xfrm>
          <a:custGeom>
            <a:avLst/>
            <a:gdLst/>
            <a:ahLst/>
            <a:cxnLst/>
            <a:rect l="l" t="t" r="r" b="b"/>
            <a:pathLst>
              <a:path w="3048000" h="3151330">
                <a:moveTo>
                  <a:pt x="114300" y="0"/>
                </a:moveTo>
                <a:lnTo>
                  <a:pt x="2933700" y="0"/>
                </a:lnTo>
                <a:cubicBezTo>
                  <a:pt x="2996784" y="0"/>
                  <a:pt x="3048000" y="30697"/>
                  <a:pt x="3048000" y="68507"/>
                </a:cubicBezTo>
                <a:lnTo>
                  <a:pt x="3048000" y="3082823"/>
                </a:lnTo>
                <a:cubicBezTo>
                  <a:pt x="3048000" y="3120633"/>
                  <a:pt x="2996784" y="3151330"/>
                  <a:pt x="2933700" y="3151330"/>
                </a:cubicBezTo>
                <a:lnTo>
                  <a:pt x="114300" y="3151330"/>
                </a:lnTo>
                <a:cubicBezTo>
                  <a:pt x="51216" y="3151330"/>
                  <a:pt x="0" y="3120633"/>
                  <a:pt x="0" y="3082823"/>
                </a:cubicBezTo>
                <a:lnTo>
                  <a:pt x="0" y="68507"/>
                </a:lnTo>
                <a:cubicBezTo>
                  <a:pt x="0" y="30697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447E6"/>
              </a:gs>
            </a:gsLst>
            <a:lin ang="27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8955584" y="304800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Drivers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55584" y="3606800"/>
            <a:ext cx="264616" cy="254000"/>
          </a:xfrm>
          <a:custGeom>
            <a:avLst/>
            <a:gdLst/>
            <a:ahLst/>
            <a:cxnLst/>
            <a:rect l="l" t="t" r="r" b="b"/>
            <a:pathLst>
              <a:path w="264616" h="254000">
                <a:moveTo>
                  <a:pt x="11026" y="31750"/>
                </a:moveTo>
                <a:cubicBezTo>
                  <a:pt x="11026" y="14238"/>
                  <a:pt x="30803" y="0"/>
                  <a:pt x="55128" y="0"/>
                </a:cubicBezTo>
                <a:lnTo>
                  <a:pt x="209488" y="0"/>
                </a:lnTo>
                <a:cubicBezTo>
                  <a:pt x="233813" y="0"/>
                  <a:pt x="253591" y="14238"/>
                  <a:pt x="253591" y="31750"/>
                </a:cubicBezTo>
                <a:lnTo>
                  <a:pt x="253591" y="222250"/>
                </a:lnTo>
                <a:cubicBezTo>
                  <a:pt x="253591" y="239762"/>
                  <a:pt x="233813" y="254000"/>
                  <a:pt x="209488" y="254000"/>
                </a:cubicBezTo>
                <a:lnTo>
                  <a:pt x="55128" y="254000"/>
                </a:lnTo>
                <a:cubicBezTo>
                  <a:pt x="30803" y="254000"/>
                  <a:pt x="11026" y="239762"/>
                  <a:pt x="11026" y="222250"/>
                </a:cubicBezTo>
                <a:lnTo>
                  <a:pt x="11026" y="31750"/>
                </a:lnTo>
                <a:close/>
                <a:moveTo>
                  <a:pt x="55128" y="31750"/>
                </a:moveTo>
                <a:lnTo>
                  <a:pt x="55128" y="182563"/>
                </a:lnTo>
                <a:lnTo>
                  <a:pt x="209488" y="182563"/>
                </a:lnTo>
                <a:lnTo>
                  <a:pt x="209488" y="31750"/>
                </a:lnTo>
                <a:lnTo>
                  <a:pt x="55128" y="31750"/>
                </a:lnTo>
                <a:close/>
                <a:moveTo>
                  <a:pt x="132308" y="234156"/>
                </a:moveTo>
                <a:cubicBezTo>
                  <a:pt x="144505" y="234156"/>
                  <a:pt x="154360" y="227062"/>
                  <a:pt x="154360" y="218281"/>
                </a:cubicBezTo>
                <a:cubicBezTo>
                  <a:pt x="154360" y="209500"/>
                  <a:pt x="144505" y="202406"/>
                  <a:pt x="132308" y="202406"/>
                </a:cubicBezTo>
                <a:cubicBezTo>
                  <a:pt x="120111" y="202406"/>
                  <a:pt x="110257" y="209500"/>
                  <a:pt x="110257" y="218281"/>
                </a:cubicBezTo>
                <a:cubicBezTo>
                  <a:pt x="110257" y="227062"/>
                  <a:pt x="120111" y="234156"/>
                  <a:pt x="132308" y="234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382125" y="35052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Mobile Access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55634" y="37719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Smartphone-based healthcare solutions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91600" y="4514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365159" y="4343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65159" y="4610100"/>
            <a:ext cx="2276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for disease detection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91600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365159" y="51435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Availability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82125" y="5372100"/>
            <a:ext cx="2121991" cy="575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Round-the-clock veterinary support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0" y="647700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pic>
        <p:nvPicPr>
          <p:cNvPr id="27" name="Image 0" descr="https://kimi-img.moonshot.cn/pub/slides/26-02-28-01:27:32-d6gt81223rdckubjdg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895350"/>
            <a:ext cx="3419475" cy="1943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Existing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M. S. Hossain et al. (2020) - Web-Based Veterinary Care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5543550" cy="1676400"/>
          </a:xfrm>
          <a:custGeom>
            <a:avLst/>
            <a:gdLst/>
            <a:ahLst/>
            <a:cxnLst/>
            <a:rect l="l" t="t" r="r" b="b"/>
            <a:pathLst>
              <a:path w="5543550" h="1676400">
                <a:moveTo>
                  <a:pt x="0" y="0"/>
                </a:moveTo>
                <a:lnTo>
                  <a:pt x="5429253" y="0"/>
                </a:lnTo>
                <a:cubicBezTo>
                  <a:pt x="5492378" y="0"/>
                  <a:pt x="5543550" y="51172"/>
                  <a:pt x="5543550" y="114297"/>
                </a:cubicBezTo>
                <a:lnTo>
                  <a:pt x="5543550" y="1562103"/>
                </a:lnTo>
                <a:cubicBezTo>
                  <a:pt x="5543550" y="1625228"/>
                  <a:pt x="5492378" y="1676400"/>
                  <a:pt x="5429253" y="1676400"/>
                </a:cubicBez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" y="17526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 Management Focus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275" y="217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" y="21336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record keeping for patient history and medical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275" y="247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" y="24384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Appointment scheduling to reduce clinic workload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275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" y="27432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Administrative efficiency improvements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4603089"/>
            <a:ext cx="563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veterinary management systems focus on clinic operations and administrative tasks.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3429000"/>
            <a:ext cx="5562600" cy="2695949"/>
          </a:xfrm>
          <a:custGeom>
            <a:avLst/>
            <a:gdLst/>
            <a:ahLst/>
            <a:cxnLst/>
            <a:rect l="l" t="t" r="r" b="b"/>
            <a:pathLst>
              <a:path w="5562600" h="2695949">
                <a:moveTo>
                  <a:pt x="0" y="0"/>
                </a:moveTo>
                <a:lnTo>
                  <a:pt x="5447900" y="0"/>
                </a:lnTo>
                <a:cubicBezTo>
                  <a:pt x="5511205" y="0"/>
                  <a:pt x="5562600" y="58456"/>
                  <a:pt x="5562600" y="130457"/>
                </a:cubicBezTo>
                <a:lnTo>
                  <a:pt x="5562600" y="2565492"/>
                </a:lnTo>
                <a:cubicBezTo>
                  <a:pt x="5562600" y="2637494"/>
                  <a:pt x="5511205" y="2695949"/>
                  <a:pt x="5447900" y="2695949"/>
                </a:cubicBezTo>
                <a:lnTo>
                  <a:pt x="0" y="2695949"/>
                </a:lnTo>
                <a:lnTo>
                  <a:pt x="0" y="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381000" y="3429000"/>
            <a:ext cx="38100" cy="2695949"/>
          </a:xfrm>
          <a:custGeom>
            <a:avLst/>
            <a:gdLst/>
            <a:ahLst/>
            <a:cxnLst/>
            <a:rect l="l" t="t" r="r" b="b"/>
            <a:pathLst>
              <a:path w="38100" h="2695949">
                <a:moveTo>
                  <a:pt x="0" y="0"/>
                </a:moveTo>
                <a:lnTo>
                  <a:pt x="38100" y="0"/>
                </a:lnTo>
                <a:lnTo>
                  <a:pt x="38100" y="2695949"/>
                </a:lnTo>
                <a:lnTo>
                  <a:pt x="0" y="2695949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7" name="Text 15"/>
          <p:cNvSpPr/>
          <p:nvPr/>
        </p:nvSpPr>
        <p:spPr>
          <a:xfrm>
            <a:off x="595313" y="3606668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Missing Piece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625" y="39934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19" name="Shape 17"/>
          <p:cNvSpPr/>
          <p:nvPr/>
        </p:nvSpPr>
        <p:spPr>
          <a:xfrm>
            <a:off x="971550" y="418398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0" name="Text 18"/>
          <p:cNvSpPr/>
          <p:nvPr/>
        </p:nvSpPr>
        <p:spPr>
          <a:xfrm>
            <a:off x="280988" y="4717389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AI Features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1000" y="5060289"/>
            <a:ext cx="1647825" cy="70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Lacks ML or AI-powered diagnostic capabilities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05100" y="39934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4171289"/>
            <a:ext cx="257175" cy="254000"/>
          </a:xfrm>
          <a:custGeom>
            <a:avLst/>
            <a:gdLst/>
            <a:ahLst/>
            <a:cxnLst/>
            <a:rect l="l" t="t" r="r" b="b"/>
            <a:pathLst>
              <a:path w="257175" h="254000">
                <a:moveTo>
                  <a:pt x="14288" y="23812"/>
                </a:moveTo>
                <a:cubicBezTo>
                  <a:pt x="14288" y="10666"/>
                  <a:pt x="23887" y="0"/>
                  <a:pt x="35719" y="0"/>
                </a:cubicBezTo>
                <a:lnTo>
                  <a:pt x="57150" y="0"/>
                </a:lnTo>
                <a:cubicBezTo>
                  <a:pt x="65053" y="0"/>
                  <a:pt x="71438" y="7094"/>
                  <a:pt x="71438" y="15875"/>
                </a:cubicBezTo>
                <a:cubicBezTo>
                  <a:pt x="71438" y="24656"/>
                  <a:pt x="65053" y="31750"/>
                  <a:pt x="57150" y="31750"/>
                </a:cubicBezTo>
                <a:lnTo>
                  <a:pt x="42863" y="31750"/>
                </a:lnTo>
                <a:lnTo>
                  <a:pt x="42863" y="95250"/>
                </a:lnTo>
                <a:cubicBezTo>
                  <a:pt x="42863" y="121543"/>
                  <a:pt x="62061" y="142875"/>
                  <a:pt x="85725" y="142875"/>
                </a:cubicBezTo>
                <a:cubicBezTo>
                  <a:pt x="109389" y="142875"/>
                  <a:pt x="128588" y="121543"/>
                  <a:pt x="128588" y="95250"/>
                </a:cubicBezTo>
                <a:lnTo>
                  <a:pt x="128588" y="31750"/>
                </a:lnTo>
                <a:lnTo>
                  <a:pt x="114300" y="31750"/>
                </a:lnTo>
                <a:cubicBezTo>
                  <a:pt x="106397" y="31750"/>
                  <a:pt x="100013" y="24656"/>
                  <a:pt x="100013" y="15875"/>
                </a:cubicBezTo>
                <a:cubicBezTo>
                  <a:pt x="100013" y="7094"/>
                  <a:pt x="106397" y="0"/>
                  <a:pt x="114300" y="0"/>
                </a:cubicBezTo>
                <a:lnTo>
                  <a:pt x="135731" y="0"/>
                </a:lnTo>
                <a:cubicBezTo>
                  <a:pt x="147563" y="0"/>
                  <a:pt x="157163" y="10666"/>
                  <a:pt x="157163" y="23812"/>
                </a:cubicBezTo>
                <a:lnTo>
                  <a:pt x="157163" y="95250"/>
                </a:lnTo>
                <a:cubicBezTo>
                  <a:pt x="157163" y="133648"/>
                  <a:pt x="132606" y="165695"/>
                  <a:pt x="100013" y="173038"/>
                </a:cubicBezTo>
                <a:lnTo>
                  <a:pt x="100013" y="182563"/>
                </a:lnTo>
                <a:cubicBezTo>
                  <a:pt x="100013" y="213271"/>
                  <a:pt x="122381" y="238125"/>
                  <a:pt x="150019" y="238125"/>
                </a:cubicBezTo>
                <a:cubicBezTo>
                  <a:pt x="177656" y="238125"/>
                  <a:pt x="200025" y="213271"/>
                  <a:pt x="200025" y="182563"/>
                </a:cubicBezTo>
                <a:lnTo>
                  <a:pt x="200025" y="140146"/>
                </a:lnTo>
                <a:cubicBezTo>
                  <a:pt x="183371" y="133598"/>
                  <a:pt x="171450" y="115987"/>
                  <a:pt x="171450" y="95250"/>
                </a:cubicBezTo>
                <a:cubicBezTo>
                  <a:pt x="171450" y="68957"/>
                  <a:pt x="190649" y="47625"/>
                  <a:pt x="214313" y="47625"/>
                </a:cubicBezTo>
                <a:cubicBezTo>
                  <a:pt x="237976" y="47625"/>
                  <a:pt x="257175" y="68957"/>
                  <a:pt x="257175" y="95250"/>
                </a:cubicBezTo>
                <a:cubicBezTo>
                  <a:pt x="257175" y="115987"/>
                  <a:pt x="245254" y="133648"/>
                  <a:pt x="228600" y="140146"/>
                </a:cubicBezTo>
                <a:lnTo>
                  <a:pt x="228600" y="182563"/>
                </a:lnTo>
                <a:cubicBezTo>
                  <a:pt x="228600" y="230783"/>
                  <a:pt x="193417" y="269875"/>
                  <a:pt x="150019" y="269875"/>
                </a:cubicBezTo>
                <a:cubicBezTo>
                  <a:pt x="106620" y="269875"/>
                  <a:pt x="71438" y="230783"/>
                  <a:pt x="71438" y="182563"/>
                </a:cubicBezTo>
                <a:lnTo>
                  <a:pt x="71438" y="173038"/>
                </a:lnTo>
                <a:cubicBezTo>
                  <a:pt x="38844" y="165695"/>
                  <a:pt x="14288" y="133648"/>
                  <a:pt x="14288" y="95250"/>
                </a:cubicBezTo>
                <a:lnTo>
                  <a:pt x="14288" y="23812"/>
                </a:lnTo>
                <a:close/>
                <a:moveTo>
                  <a:pt x="214313" y="111125"/>
                </a:moveTo>
                <a:cubicBezTo>
                  <a:pt x="222198" y="111125"/>
                  <a:pt x="228600" y="104012"/>
                  <a:pt x="228600" y="95250"/>
                </a:cubicBezTo>
                <a:cubicBezTo>
                  <a:pt x="228600" y="86488"/>
                  <a:pt x="222198" y="79375"/>
                  <a:pt x="214313" y="79375"/>
                </a:cubicBezTo>
                <a:cubicBezTo>
                  <a:pt x="206427" y="79375"/>
                  <a:pt x="200025" y="86488"/>
                  <a:pt x="200025" y="95250"/>
                </a:cubicBezTo>
                <a:cubicBezTo>
                  <a:pt x="200025" y="104012"/>
                  <a:pt x="206427" y="111125"/>
                  <a:pt x="214313" y="11112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4" name="Text 22"/>
          <p:cNvSpPr/>
          <p:nvPr/>
        </p:nvSpPr>
        <p:spPr>
          <a:xfrm>
            <a:off x="2090738" y="4717389"/>
            <a:ext cx="1963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Disease Prediction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90738" y="5060289"/>
            <a:ext cx="1647825" cy="51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automated diagnostic support for pet owners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6890" y="39934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27" name="Shape 25"/>
          <p:cNvSpPr/>
          <p:nvPr/>
        </p:nvSpPr>
        <p:spPr>
          <a:xfrm>
            <a:off x="4683103" y="418398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57150" y="28575"/>
                </a:moveTo>
                <a:cubicBezTo>
                  <a:pt x="57150" y="12814"/>
                  <a:pt x="69964" y="0"/>
                  <a:pt x="85725" y="0"/>
                </a:cubicBezTo>
                <a:lnTo>
                  <a:pt x="171450" y="0"/>
                </a:lnTo>
                <a:cubicBezTo>
                  <a:pt x="187211" y="0"/>
                  <a:pt x="200025" y="12814"/>
                  <a:pt x="200025" y="28575"/>
                </a:cubicBezTo>
                <a:lnTo>
                  <a:pt x="200025" y="57150"/>
                </a:lnTo>
                <a:lnTo>
                  <a:pt x="228600" y="57150"/>
                </a:lnTo>
                <a:cubicBezTo>
                  <a:pt x="244361" y="57150"/>
                  <a:pt x="257175" y="69964"/>
                  <a:pt x="257175" y="85725"/>
                </a:cubicBezTo>
                <a:lnTo>
                  <a:pt x="257175" y="200025"/>
                </a:lnTo>
                <a:cubicBezTo>
                  <a:pt x="257175" y="215786"/>
                  <a:pt x="244361" y="228600"/>
                  <a:pt x="228600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85725"/>
                </a:lnTo>
                <a:cubicBezTo>
                  <a:pt x="0" y="69964"/>
                  <a:pt x="12814" y="57150"/>
                  <a:pt x="28575" y="57150"/>
                </a:cubicBezTo>
                <a:lnTo>
                  <a:pt x="57150" y="57150"/>
                </a:lnTo>
                <a:lnTo>
                  <a:pt x="57150" y="28575"/>
                </a:lnTo>
                <a:close/>
                <a:moveTo>
                  <a:pt x="121444" y="157163"/>
                </a:moveTo>
                <a:cubicBezTo>
                  <a:pt x="113541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150019" y="207169"/>
                </a:lnTo>
                <a:lnTo>
                  <a:pt x="150019" y="171450"/>
                </a:lnTo>
                <a:cubicBezTo>
                  <a:pt x="150019" y="163547"/>
                  <a:pt x="143634" y="157163"/>
                  <a:pt x="135731" y="157163"/>
                </a:cubicBezTo>
                <a:lnTo>
                  <a:pt x="121444" y="157163"/>
                </a:lnTo>
                <a:close/>
                <a:moveTo>
                  <a:pt x="57150" y="164306"/>
                </a:moveTo>
                <a:lnTo>
                  <a:pt x="57150" y="150019"/>
                </a:lnTo>
                <a:cubicBezTo>
                  <a:pt x="57150" y="146090"/>
                  <a:pt x="53935" y="142875"/>
                  <a:pt x="50006" y="142875"/>
                </a:cubicBezTo>
                <a:lnTo>
                  <a:pt x="35719" y="142875"/>
                </a:lnTo>
                <a:cubicBezTo>
                  <a:pt x="31790" y="142875"/>
                  <a:pt x="28575" y="146090"/>
                  <a:pt x="28575" y="150019"/>
                </a:cubicBezTo>
                <a:lnTo>
                  <a:pt x="28575" y="164306"/>
                </a:lnTo>
                <a:cubicBezTo>
                  <a:pt x="28575" y="168235"/>
                  <a:pt x="31790" y="171450"/>
                  <a:pt x="35719" y="171450"/>
                </a:cubicBezTo>
                <a:lnTo>
                  <a:pt x="50006" y="171450"/>
                </a:lnTo>
                <a:cubicBezTo>
                  <a:pt x="53935" y="171450"/>
                  <a:pt x="57150" y="168235"/>
                  <a:pt x="57150" y="164306"/>
                </a:cubicBezTo>
                <a:close/>
                <a:moveTo>
                  <a:pt x="50006" y="114300"/>
                </a:moveTo>
                <a:cubicBezTo>
                  <a:pt x="53935" y="114300"/>
                  <a:pt x="57150" y="111085"/>
                  <a:pt x="57150" y="107156"/>
                </a:cubicBezTo>
                <a:lnTo>
                  <a:pt x="57150" y="92869"/>
                </a:lnTo>
                <a:cubicBezTo>
                  <a:pt x="57150" y="8894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8940"/>
                  <a:pt x="28575" y="92869"/>
                </a:cubicBezTo>
                <a:lnTo>
                  <a:pt x="28575" y="107156"/>
                </a:lnTo>
                <a:cubicBezTo>
                  <a:pt x="28575" y="111085"/>
                  <a:pt x="31790" y="114300"/>
                  <a:pt x="35719" y="114300"/>
                </a:cubicBezTo>
                <a:lnTo>
                  <a:pt x="50006" y="114300"/>
                </a:lnTo>
                <a:close/>
                <a:moveTo>
                  <a:pt x="228600" y="164306"/>
                </a:moveTo>
                <a:lnTo>
                  <a:pt x="228600" y="150019"/>
                </a:lnTo>
                <a:cubicBezTo>
                  <a:pt x="228600" y="146090"/>
                  <a:pt x="225385" y="142875"/>
                  <a:pt x="221456" y="142875"/>
                </a:cubicBezTo>
                <a:lnTo>
                  <a:pt x="207169" y="142875"/>
                </a:lnTo>
                <a:cubicBezTo>
                  <a:pt x="203240" y="142875"/>
                  <a:pt x="200025" y="146090"/>
                  <a:pt x="200025" y="150019"/>
                </a:cubicBezTo>
                <a:lnTo>
                  <a:pt x="200025" y="164306"/>
                </a:lnTo>
                <a:cubicBezTo>
                  <a:pt x="200025" y="168235"/>
                  <a:pt x="203240" y="171450"/>
                  <a:pt x="207169" y="171450"/>
                </a:cubicBezTo>
                <a:lnTo>
                  <a:pt x="221456" y="171450"/>
                </a:lnTo>
                <a:cubicBezTo>
                  <a:pt x="225385" y="171450"/>
                  <a:pt x="228600" y="168235"/>
                  <a:pt x="228600" y="164306"/>
                </a:cubicBezTo>
                <a:close/>
                <a:moveTo>
                  <a:pt x="221456" y="114300"/>
                </a:moveTo>
                <a:cubicBezTo>
                  <a:pt x="225385" y="114300"/>
                  <a:pt x="228600" y="111085"/>
                  <a:pt x="228600" y="107156"/>
                </a:cubicBezTo>
                <a:lnTo>
                  <a:pt x="228600" y="92869"/>
                </a:lnTo>
                <a:cubicBezTo>
                  <a:pt x="228600" y="8894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8940"/>
                  <a:pt x="200025" y="92869"/>
                </a:cubicBezTo>
                <a:lnTo>
                  <a:pt x="200025" y="107156"/>
                </a:lnTo>
                <a:cubicBezTo>
                  <a:pt x="200025" y="111085"/>
                  <a:pt x="203240" y="114300"/>
                  <a:pt x="207169" y="114300"/>
                </a:cubicBezTo>
                <a:lnTo>
                  <a:pt x="221456" y="114300"/>
                </a:lnTo>
                <a:close/>
                <a:moveTo>
                  <a:pt x="117872" y="46434"/>
                </a:moveTo>
                <a:lnTo>
                  <a:pt x="117872" y="60722"/>
                </a:lnTo>
                <a:lnTo>
                  <a:pt x="103584" y="60722"/>
                </a:lnTo>
                <a:cubicBezTo>
                  <a:pt x="99655" y="60722"/>
                  <a:pt x="96441" y="63937"/>
                  <a:pt x="96441" y="67866"/>
                </a:cubicBezTo>
                <a:lnTo>
                  <a:pt x="96441" y="75009"/>
                </a:lnTo>
                <a:cubicBezTo>
                  <a:pt x="96441" y="78938"/>
                  <a:pt x="99655" y="82153"/>
                  <a:pt x="103584" y="82153"/>
                </a:cubicBezTo>
                <a:lnTo>
                  <a:pt x="117872" y="82153"/>
                </a:lnTo>
                <a:lnTo>
                  <a:pt x="117872" y="96441"/>
                </a:lnTo>
                <a:cubicBezTo>
                  <a:pt x="117872" y="100370"/>
                  <a:pt x="121087" y="103584"/>
                  <a:pt x="125016" y="103584"/>
                </a:cubicBezTo>
                <a:lnTo>
                  <a:pt x="132159" y="103584"/>
                </a:lnTo>
                <a:cubicBezTo>
                  <a:pt x="136088" y="103584"/>
                  <a:pt x="139303" y="100370"/>
                  <a:pt x="139303" y="96441"/>
                </a:cubicBezTo>
                <a:lnTo>
                  <a:pt x="139303" y="82153"/>
                </a:lnTo>
                <a:lnTo>
                  <a:pt x="153591" y="82153"/>
                </a:lnTo>
                <a:cubicBezTo>
                  <a:pt x="157520" y="82153"/>
                  <a:pt x="160734" y="78938"/>
                  <a:pt x="160734" y="75009"/>
                </a:cubicBezTo>
                <a:lnTo>
                  <a:pt x="160734" y="67866"/>
                </a:lnTo>
                <a:cubicBezTo>
                  <a:pt x="160734" y="63937"/>
                  <a:pt x="157520" y="60722"/>
                  <a:pt x="153591" y="60722"/>
                </a:cubicBezTo>
                <a:lnTo>
                  <a:pt x="139303" y="60722"/>
                </a:lnTo>
                <a:lnTo>
                  <a:pt x="139303" y="46434"/>
                </a:lnTo>
                <a:cubicBezTo>
                  <a:pt x="139303" y="42505"/>
                  <a:pt x="136088" y="39291"/>
                  <a:pt x="132159" y="39291"/>
                </a:cubicBezTo>
                <a:lnTo>
                  <a:pt x="125016" y="39291"/>
                </a:lnTo>
                <a:cubicBezTo>
                  <a:pt x="121087" y="39291"/>
                  <a:pt x="117872" y="42505"/>
                  <a:pt x="117872" y="46434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8" name="Text 26"/>
          <p:cNvSpPr/>
          <p:nvPr/>
        </p:nvSpPr>
        <p:spPr>
          <a:xfrm>
            <a:off x="4117126" y="4717389"/>
            <a:ext cx="1389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Clinic-Centered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54144" y="5060289"/>
            <a:ext cx="1889456" cy="93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Designed primarily for veterinary staff and clinic operations, not direct pet owner engagement.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2425" y="649605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pic>
        <p:nvPicPr>
          <p:cNvPr id="31" name="Image 0" descr="https://kimi-img.moonshot.cn/pub/slides/26-02-28-01:39:30-d6gtdkkrhkldm2vrgos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524000"/>
            <a:ext cx="6041929" cy="28765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Veterinary E-Commerce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J. Smith &amp; A. Doe (2022) - Trends in Veterinary E-Commerce Platforms</a:t>
            </a:r>
            <a:endParaRPr lang="en-US" sz="1600" dirty="0"/>
          </a:p>
        </p:txBody>
      </p:sp>
      <p:pic>
        <p:nvPicPr>
          <p:cNvPr id="5" name="Image 0" descr="https://kimi-web-img.moonshot.cn/img/cdn.dribbble.com/e4f528c1e137a4d02a1e7781fec8341fa54bde16.jpg"/>
          <p:cNvPicPr>
            <a:picLocks noChangeAspect="1"/>
          </p:cNvPicPr>
          <p:nvPr/>
        </p:nvPicPr>
        <p:blipFill>
          <a:blip r:embed="rId3"/>
          <a:srcRect t="18000" b="18000"/>
          <a:stretch/>
        </p:blipFill>
        <p:spPr>
          <a:xfrm>
            <a:off x="381000" y="1524000"/>
            <a:ext cx="3810000" cy="1828800"/>
          </a:xfrm>
          <a:prstGeom prst="roundRect">
            <a:avLst>
              <a:gd name="adj" fmla="val 625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81000" y="3505200"/>
            <a:ext cx="3810000" cy="533400"/>
          </a:xfrm>
          <a:custGeom>
            <a:avLst/>
            <a:gdLst/>
            <a:ahLst/>
            <a:cxnLst/>
            <a:rect l="l" t="t" r="r" b="b"/>
            <a:pathLst>
              <a:path w="3810000" h="533400">
                <a:moveTo>
                  <a:pt x="76202" y="0"/>
                </a:moveTo>
                <a:lnTo>
                  <a:pt x="3733798" y="0"/>
                </a:lnTo>
                <a:cubicBezTo>
                  <a:pt x="3775883" y="0"/>
                  <a:pt x="3810000" y="34117"/>
                  <a:pt x="3810000" y="76202"/>
                </a:cubicBezTo>
                <a:lnTo>
                  <a:pt x="3810000" y="457198"/>
                </a:lnTo>
                <a:cubicBezTo>
                  <a:pt x="3810000" y="499283"/>
                  <a:pt x="3775883" y="533400"/>
                  <a:pt x="37337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505200"/>
            <a:ext cx="3886200" cy="533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Rapid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7663" y="4191000"/>
            <a:ext cx="3876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Online marketplaces have improved product accessibility significantly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95701" y="1524000"/>
            <a:ext cx="741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Accessibility Without Intelligence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95701" y="1943100"/>
            <a:ext cx="2333625" cy="1085850"/>
          </a:xfrm>
          <a:custGeom>
            <a:avLst/>
            <a:gdLst/>
            <a:ahLst/>
            <a:cxnLst/>
            <a:rect l="l" t="t" r="r" b="b"/>
            <a:pathLst>
              <a:path w="2333625" h="1085850">
                <a:moveTo>
                  <a:pt x="114297" y="0"/>
                </a:moveTo>
                <a:lnTo>
                  <a:pt x="2219328" y="0"/>
                </a:lnTo>
                <a:cubicBezTo>
                  <a:pt x="2282453" y="0"/>
                  <a:pt x="2333625" y="51172"/>
                  <a:pt x="2333625" y="114297"/>
                </a:cubicBezTo>
                <a:lnTo>
                  <a:pt x="2333625" y="971553"/>
                </a:lnTo>
                <a:cubicBezTo>
                  <a:pt x="2333625" y="1034678"/>
                  <a:pt x="2282453" y="1085850"/>
                  <a:pt x="221932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1" name="Shape 8"/>
          <p:cNvSpPr/>
          <p:nvPr/>
        </p:nvSpPr>
        <p:spPr>
          <a:xfrm>
            <a:off x="5487888" y="20955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10170" y="89297"/>
                </a:moveTo>
                <a:cubicBezTo>
                  <a:pt x="107993" y="89297"/>
                  <a:pt x="106152" y="87734"/>
                  <a:pt x="105649" y="85613"/>
                </a:cubicBezTo>
                <a:cubicBezTo>
                  <a:pt x="99957" y="62117"/>
                  <a:pt x="78804" y="44648"/>
                  <a:pt x="53578" y="44648"/>
                </a:cubicBezTo>
                <a:cubicBezTo>
                  <a:pt x="23999" y="44648"/>
                  <a:pt x="0" y="68647"/>
                  <a:pt x="0" y="98227"/>
                </a:cubicBezTo>
                <a:cubicBezTo>
                  <a:pt x="0" y="114467"/>
                  <a:pt x="7200" y="128978"/>
                  <a:pt x="18585" y="138801"/>
                </a:cubicBezTo>
                <a:cubicBezTo>
                  <a:pt x="20985" y="140866"/>
                  <a:pt x="20985" y="144828"/>
                  <a:pt x="18585" y="146893"/>
                </a:cubicBezTo>
                <a:cubicBezTo>
                  <a:pt x="7200" y="156716"/>
                  <a:pt x="0" y="171283"/>
                  <a:pt x="0" y="187468"/>
                </a:cubicBezTo>
                <a:cubicBezTo>
                  <a:pt x="0" y="217047"/>
                  <a:pt x="23999" y="241046"/>
                  <a:pt x="53578" y="241046"/>
                </a:cubicBezTo>
                <a:cubicBezTo>
                  <a:pt x="78804" y="241046"/>
                  <a:pt x="99957" y="223577"/>
                  <a:pt x="105649" y="200081"/>
                </a:cubicBezTo>
                <a:cubicBezTo>
                  <a:pt x="106152" y="197960"/>
                  <a:pt x="107993" y="196397"/>
                  <a:pt x="110170" y="196397"/>
                </a:cubicBezTo>
                <a:lnTo>
                  <a:pt x="246962" y="196397"/>
                </a:lnTo>
                <a:cubicBezTo>
                  <a:pt x="249138" y="196397"/>
                  <a:pt x="250980" y="197960"/>
                  <a:pt x="251482" y="200081"/>
                </a:cubicBezTo>
                <a:cubicBezTo>
                  <a:pt x="257175" y="223577"/>
                  <a:pt x="278327" y="241046"/>
                  <a:pt x="303554" y="241046"/>
                </a:cubicBezTo>
                <a:cubicBezTo>
                  <a:pt x="333133" y="241046"/>
                  <a:pt x="357132" y="217047"/>
                  <a:pt x="357132" y="187468"/>
                </a:cubicBezTo>
                <a:cubicBezTo>
                  <a:pt x="357132" y="171227"/>
                  <a:pt x="349932" y="156716"/>
                  <a:pt x="338547" y="146893"/>
                </a:cubicBezTo>
                <a:cubicBezTo>
                  <a:pt x="336147" y="144828"/>
                  <a:pt x="336147" y="140866"/>
                  <a:pt x="338547" y="138801"/>
                </a:cubicBezTo>
                <a:cubicBezTo>
                  <a:pt x="349932" y="128978"/>
                  <a:pt x="357132" y="114412"/>
                  <a:pt x="357132" y="98227"/>
                </a:cubicBezTo>
                <a:cubicBezTo>
                  <a:pt x="357132" y="68647"/>
                  <a:pt x="333133" y="44648"/>
                  <a:pt x="303554" y="44648"/>
                </a:cubicBezTo>
                <a:cubicBezTo>
                  <a:pt x="278327" y="44648"/>
                  <a:pt x="257175" y="62117"/>
                  <a:pt x="251482" y="85613"/>
                </a:cubicBezTo>
                <a:cubicBezTo>
                  <a:pt x="250980" y="87734"/>
                  <a:pt x="249138" y="89297"/>
                  <a:pt x="246962" y="89297"/>
                </a:cubicBezTo>
                <a:lnTo>
                  <a:pt x="110170" y="89297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2" name="Text 9"/>
          <p:cNvSpPr/>
          <p:nvPr/>
        </p:nvSpPr>
        <p:spPr>
          <a:xfrm>
            <a:off x="4610001" y="245745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 Food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14763" y="26860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Specialized diets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984901" y="1943100"/>
            <a:ext cx="2333625" cy="1085850"/>
          </a:xfrm>
          <a:custGeom>
            <a:avLst/>
            <a:gdLst/>
            <a:ahLst/>
            <a:cxnLst/>
            <a:rect l="l" t="t" r="r" b="b"/>
            <a:pathLst>
              <a:path w="2333625" h="1085850">
                <a:moveTo>
                  <a:pt x="114297" y="0"/>
                </a:moveTo>
                <a:lnTo>
                  <a:pt x="2219328" y="0"/>
                </a:lnTo>
                <a:cubicBezTo>
                  <a:pt x="2282453" y="0"/>
                  <a:pt x="2333625" y="51172"/>
                  <a:pt x="2333625" y="114297"/>
                </a:cubicBezTo>
                <a:lnTo>
                  <a:pt x="2333625" y="971553"/>
                </a:lnTo>
                <a:cubicBezTo>
                  <a:pt x="2333625" y="1034678"/>
                  <a:pt x="2282453" y="1085850"/>
                  <a:pt x="221932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5" name="Shape 12"/>
          <p:cNvSpPr/>
          <p:nvPr/>
        </p:nvSpPr>
        <p:spPr>
          <a:xfrm>
            <a:off x="8012807" y="20955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62508"/>
                </a:moveTo>
                <a:cubicBezTo>
                  <a:pt x="35719" y="47718"/>
                  <a:pt x="47718" y="35719"/>
                  <a:pt x="62508" y="35719"/>
                </a:cubicBezTo>
                <a:cubicBezTo>
                  <a:pt x="77298" y="35719"/>
                  <a:pt x="89297" y="47718"/>
                  <a:pt x="89297" y="62508"/>
                </a:cubicBezTo>
                <a:lnTo>
                  <a:pt x="89297" y="125016"/>
                </a:lnTo>
                <a:lnTo>
                  <a:pt x="35719" y="125016"/>
                </a:lnTo>
                <a:lnTo>
                  <a:pt x="35719" y="62508"/>
                </a:lnTo>
                <a:close/>
                <a:moveTo>
                  <a:pt x="98227" y="205383"/>
                </a:moveTo>
                <a:cubicBezTo>
                  <a:pt x="98227" y="178203"/>
                  <a:pt x="108328" y="153367"/>
                  <a:pt x="125016" y="134503"/>
                </a:cubicBezTo>
                <a:lnTo>
                  <a:pt x="125016" y="62508"/>
                </a:lnTo>
                <a:cubicBezTo>
                  <a:pt x="125016" y="27961"/>
                  <a:pt x="97055" y="0"/>
                  <a:pt x="62508" y="0"/>
                </a:cubicBezTo>
                <a:cubicBezTo>
                  <a:pt x="27961" y="0"/>
                  <a:pt x="0" y="27961"/>
                  <a:pt x="0" y="62508"/>
                </a:cubicBezTo>
                <a:lnTo>
                  <a:pt x="0" y="223242"/>
                </a:lnTo>
                <a:cubicBezTo>
                  <a:pt x="0" y="257789"/>
                  <a:pt x="27961" y="285750"/>
                  <a:pt x="62508" y="285750"/>
                </a:cubicBezTo>
                <a:cubicBezTo>
                  <a:pt x="83325" y="285750"/>
                  <a:pt x="101743" y="275592"/>
                  <a:pt x="113128" y="259910"/>
                </a:cubicBezTo>
                <a:cubicBezTo>
                  <a:pt x="103640" y="243948"/>
                  <a:pt x="98227" y="225307"/>
                  <a:pt x="98227" y="205383"/>
                </a:cubicBezTo>
                <a:close/>
                <a:moveTo>
                  <a:pt x="134336" y="242999"/>
                </a:moveTo>
                <a:cubicBezTo>
                  <a:pt x="136903" y="247855"/>
                  <a:pt x="143433" y="248413"/>
                  <a:pt x="147340" y="244506"/>
                </a:cubicBezTo>
                <a:lnTo>
                  <a:pt x="244506" y="147340"/>
                </a:lnTo>
                <a:cubicBezTo>
                  <a:pt x="248413" y="143433"/>
                  <a:pt x="247855" y="136903"/>
                  <a:pt x="242999" y="134336"/>
                </a:cubicBezTo>
                <a:cubicBezTo>
                  <a:pt x="231781" y="128364"/>
                  <a:pt x="219001" y="125016"/>
                  <a:pt x="205383" y="125016"/>
                </a:cubicBezTo>
                <a:cubicBezTo>
                  <a:pt x="161013" y="125016"/>
                  <a:pt x="125016" y="161013"/>
                  <a:pt x="125016" y="205383"/>
                </a:cubicBezTo>
                <a:cubicBezTo>
                  <a:pt x="125016" y="218945"/>
                  <a:pt x="128364" y="231781"/>
                  <a:pt x="134336" y="242999"/>
                </a:cubicBezTo>
                <a:close/>
                <a:moveTo>
                  <a:pt x="166260" y="263426"/>
                </a:moveTo>
                <a:cubicBezTo>
                  <a:pt x="162353" y="267333"/>
                  <a:pt x="162911" y="273862"/>
                  <a:pt x="167767" y="276430"/>
                </a:cubicBezTo>
                <a:cubicBezTo>
                  <a:pt x="178984" y="282401"/>
                  <a:pt x="191765" y="285750"/>
                  <a:pt x="205383" y="285750"/>
                </a:cubicBezTo>
                <a:cubicBezTo>
                  <a:pt x="249752" y="285750"/>
                  <a:pt x="285750" y="249752"/>
                  <a:pt x="285750" y="205383"/>
                </a:cubicBezTo>
                <a:cubicBezTo>
                  <a:pt x="285750" y="191821"/>
                  <a:pt x="282401" y="178984"/>
                  <a:pt x="276430" y="167767"/>
                </a:cubicBezTo>
                <a:cubicBezTo>
                  <a:pt x="273862" y="162911"/>
                  <a:pt x="267333" y="162353"/>
                  <a:pt x="263426" y="166260"/>
                </a:cubicBezTo>
                <a:lnTo>
                  <a:pt x="166260" y="263426"/>
                </a:ln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099201" y="245745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Medicines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03963" y="26860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Prescription &amp; OTC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474101" y="1943100"/>
            <a:ext cx="2333625" cy="1085850"/>
          </a:xfrm>
          <a:custGeom>
            <a:avLst/>
            <a:gdLst/>
            <a:ahLst/>
            <a:cxnLst/>
            <a:rect l="l" t="t" r="r" b="b"/>
            <a:pathLst>
              <a:path w="2333625" h="1085850">
                <a:moveTo>
                  <a:pt x="114297" y="0"/>
                </a:moveTo>
                <a:lnTo>
                  <a:pt x="2219328" y="0"/>
                </a:lnTo>
                <a:cubicBezTo>
                  <a:pt x="2282453" y="0"/>
                  <a:pt x="2333625" y="51172"/>
                  <a:pt x="2333625" y="114297"/>
                </a:cubicBezTo>
                <a:lnTo>
                  <a:pt x="2333625" y="971553"/>
                </a:lnTo>
                <a:cubicBezTo>
                  <a:pt x="2333625" y="1034678"/>
                  <a:pt x="2282453" y="1085850"/>
                  <a:pt x="221932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AF5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66289" y="20955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705" y="62508"/>
                </a:moveTo>
                <a:cubicBezTo>
                  <a:pt x="203374" y="62508"/>
                  <a:pt x="223354" y="42528"/>
                  <a:pt x="223354" y="17859"/>
                </a:cubicBezTo>
                <a:lnTo>
                  <a:pt x="253212" y="17859"/>
                </a:lnTo>
                <a:cubicBezTo>
                  <a:pt x="262700" y="17859"/>
                  <a:pt x="271797" y="21599"/>
                  <a:pt x="278495" y="28296"/>
                </a:cubicBezTo>
                <a:lnTo>
                  <a:pt x="344686" y="94543"/>
                </a:lnTo>
                <a:cubicBezTo>
                  <a:pt x="351662" y="101519"/>
                  <a:pt x="351662" y="112849"/>
                  <a:pt x="344686" y="119825"/>
                </a:cubicBezTo>
                <a:lnTo>
                  <a:pt x="316390" y="148121"/>
                </a:lnTo>
                <a:cubicBezTo>
                  <a:pt x="309414" y="155098"/>
                  <a:pt x="298084" y="155098"/>
                  <a:pt x="291108" y="148121"/>
                </a:cubicBezTo>
                <a:lnTo>
                  <a:pt x="268002" y="125016"/>
                </a:lnTo>
                <a:lnTo>
                  <a:pt x="268002" y="250031"/>
                </a:lnTo>
                <a:cubicBezTo>
                  <a:pt x="268002" y="269732"/>
                  <a:pt x="251985" y="285750"/>
                  <a:pt x="232283" y="285750"/>
                </a:cubicBezTo>
                <a:lnTo>
                  <a:pt x="125127" y="285750"/>
                </a:lnTo>
                <a:cubicBezTo>
                  <a:pt x="105426" y="285750"/>
                  <a:pt x="89408" y="269732"/>
                  <a:pt x="89408" y="250031"/>
                </a:cubicBezTo>
                <a:lnTo>
                  <a:pt x="89408" y="125016"/>
                </a:lnTo>
                <a:lnTo>
                  <a:pt x="66303" y="148121"/>
                </a:lnTo>
                <a:cubicBezTo>
                  <a:pt x="59327" y="155098"/>
                  <a:pt x="47997" y="155098"/>
                  <a:pt x="41021" y="148121"/>
                </a:cubicBezTo>
                <a:lnTo>
                  <a:pt x="12781" y="119769"/>
                </a:lnTo>
                <a:cubicBezTo>
                  <a:pt x="5804" y="112793"/>
                  <a:pt x="5804" y="101464"/>
                  <a:pt x="12781" y="94487"/>
                </a:cubicBezTo>
                <a:lnTo>
                  <a:pt x="78972" y="28296"/>
                </a:lnTo>
                <a:cubicBezTo>
                  <a:pt x="85669" y="21599"/>
                  <a:pt x="94766" y="17859"/>
                  <a:pt x="104254" y="17859"/>
                </a:cubicBezTo>
                <a:lnTo>
                  <a:pt x="134113" y="17859"/>
                </a:lnTo>
                <a:cubicBezTo>
                  <a:pt x="134113" y="42528"/>
                  <a:pt x="154093" y="62508"/>
                  <a:pt x="178761" y="62508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20" name="Text 17"/>
          <p:cNvSpPr/>
          <p:nvPr/>
        </p:nvSpPr>
        <p:spPr>
          <a:xfrm>
            <a:off x="9588401" y="245745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Accessories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593163" y="26860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Toys &amp; grooming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98876" y="3260725"/>
            <a:ext cx="7312025" cy="1416050"/>
          </a:xfrm>
          <a:custGeom>
            <a:avLst/>
            <a:gdLst/>
            <a:ahLst/>
            <a:cxnLst/>
            <a:rect l="l" t="t" r="r" b="b"/>
            <a:pathLst>
              <a:path w="7312025" h="1416050">
                <a:moveTo>
                  <a:pt x="114304" y="0"/>
                </a:moveTo>
                <a:lnTo>
                  <a:pt x="7197721" y="0"/>
                </a:lnTo>
                <a:cubicBezTo>
                  <a:pt x="7260850" y="0"/>
                  <a:pt x="7312025" y="51175"/>
                  <a:pt x="7312025" y="114304"/>
                </a:cubicBezTo>
                <a:lnTo>
                  <a:pt x="7312025" y="1301746"/>
                </a:lnTo>
                <a:cubicBezTo>
                  <a:pt x="7312025" y="1364875"/>
                  <a:pt x="7260850" y="1416050"/>
                  <a:pt x="7197721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solidFill>
            <a:srgbClr val="FEF2F2"/>
          </a:solidFill>
          <a:ln w="8467">
            <a:solidFill>
              <a:srgbClr val="FFC9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0651" y="3492501"/>
            <a:ext cx="692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What's Missing?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749701" y="38735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5" name="Text 22"/>
          <p:cNvSpPr/>
          <p:nvPr/>
        </p:nvSpPr>
        <p:spPr>
          <a:xfrm>
            <a:off x="4997351" y="3835401"/>
            <a:ext cx="2546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Symptom analysis capabilities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48551" y="38735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7" name="Text 24"/>
          <p:cNvSpPr/>
          <p:nvPr/>
        </p:nvSpPr>
        <p:spPr>
          <a:xfrm>
            <a:off x="8496201" y="3835401"/>
            <a:ext cx="2454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Disease detection features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749701" y="42545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9" name="Text 26"/>
          <p:cNvSpPr/>
          <p:nvPr/>
        </p:nvSpPr>
        <p:spPr>
          <a:xfrm>
            <a:off x="4997351" y="4216401"/>
            <a:ext cx="2546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Medical guidance integration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248551" y="42545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1" name="Text 28"/>
          <p:cNvSpPr/>
          <p:nvPr/>
        </p:nvSpPr>
        <p:spPr>
          <a:xfrm>
            <a:off x="8496201" y="4216401"/>
            <a:ext cx="2226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 intelligence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495701" y="4827438"/>
            <a:ext cx="7336631" cy="1063266"/>
          </a:xfrm>
          <a:custGeom>
            <a:avLst/>
            <a:gdLst/>
            <a:ahLst/>
            <a:cxnLst/>
            <a:rect l="l" t="t" r="r" b="b"/>
            <a:pathLst>
              <a:path w="7336631" h="1063266">
                <a:moveTo>
                  <a:pt x="114688" y="0"/>
                </a:moveTo>
                <a:lnTo>
                  <a:pt x="7221943" y="0"/>
                </a:lnTo>
                <a:cubicBezTo>
                  <a:pt x="7285283" y="0"/>
                  <a:pt x="7336631" y="38426"/>
                  <a:pt x="7336631" y="85827"/>
                </a:cubicBezTo>
                <a:lnTo>
                  <a:pt x="7336631" y="977439"/>
                </a:lnTo>
                <a:cubicBezTo>
                  <a:pt x="7336631" y="1024840"/>
                  <a:pt x="7285283" y="1063266"/>
                  <a:pt x="7221943" y="1063266"/>
                </a:cubicBezTo>
                <a:lnTo>
                  <a:pt x="114688" y="1063266"/>
                </a:lnTo>
                <a:cubicBezTo>
                  <a:pt x="51348" y="1063266"/>
                  <a:pt x="0" y="1024840"/>
                  <a:pt x="0" y="977439"/>
                </a:cubicBezTo>
                <a:lnTo>
                  <a:pt x="0" y="85827"/>
                </a:lnTo>
                <a:cubicBezTo>
                  <a:pt x="0" y="38426"/>
                  <a:pt x="51348" y="0"/>
                  <a:pt x="114688" y="0"/>
                </a:cubicBezTo>
                <a:close/>
              </a:path>
            </a:pathLst>
          </a:custGeom>
          <a:solidFill>
            <a:srgbClr val="FEF2F2"/>
          </a:solidFill>
          <a:ln w="8467">
            <a:solidFill>
              <a:srgbClr val="FFC9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19538" y="5242116"/>
            <a:ext cx="69627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These platforms lack healthcare intelligence features such as symptom analysis, disease detection, and medical guidance.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52425" y="649605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730651" y="491703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FF1E02"/>
          </a:solidFill>
          <a:ln/>
        </p:spPr>
      </p:sp>
      <p:sp>
        <p:nvSpPr>
          <p:cNvPr id="36" name="Text 33"/>
          <p:cNvSpPr/>
          <p:nvPr/>
        </p:nvSpPr>
        <p:spPr>
          <a:xfrm>
            <a:off x="5000530" y="4851071"/>
            <a:ext cx="1828795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rgbClr val="FF1E0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Critical Gap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 in Animal Disease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R. Kumar &amp; S. Singh (2021) - ML Techniques Review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3813186" cy="1333500"/>
          </a:xfrm>
          <a:custGeom>
            <a:avLst/>
            <a:gdLst/>
            <a:ahLst/>
            <a:cxnLst/>
            <a:rect l="l" t="t" r="r" b="b"/>
            <a:pathLst>
              <a:path w="3813186" h="1333500">
                <a:moveTo>
                  <a:pt x="105917" y="0"/>
                </a:moveTo>
                <a:lnTo>
                  <a:pt x="3707270" y="0"/>
                </a:lnTo>
                <a:cubicBezTo>
                  <a:pt x="3765727" y="0"/>
                  <a:pt x="3813186" y="51214"/>
                  <a:pt x="3813186" y="114294"/>
                </a:cubicBezTo>
                <a:lnTo>
                  <a:pt x="3813186" y="1219206"/>
                </a:lnTo>
                <a:cubicBezTo>
                  <a:pt x="3813186" y="1282286"/>
                  <a:pt x="3765727" y="1333500"/>
                  <a:pt x="3707270" y="1333500"/>
                </a:cubicBezTo>
                <a:lnTo>
                  <a:pt x="105917" y="1333500"/>
                </a:lnTo>
                <a:cubicBezTo>
                  <a:pt x="47460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47460" y="0"/>
                  <a:pt x="105917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7" name="Shape 5"/>
          <p:cNvSpPr/>
          <p:nvPr/>
        </p:nvSpPr>
        <p:spPr>
          <a:xfrm>
            <a:off x="704850" y="1847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828800"/>
            <a:ext cx="2587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Classification Algorithms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286000"/>
            <a:ext cx="35306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Successfully predict diseases using symptom-based data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8963" y="1524000"/>
            <a:ext cx="3781437" cy="1333500"/>
          </a:xfrm>
          <a:custGeom>
            <a:avLst/>
            <a:gdLst/>
            <a:ahLst/>
            <a:cxnLst/>
            <a:rect l="l" t="t" r="r" b="b"/>
            <a:pathLst>
              <a:path w="3781437" h="1333500">
                <a:moveTo>
                  <a:pt x="105035" y="0"/>
                </a:moveTo>
                <a:lnTo>
                  <a:pt x="3676403" y="0"/>
                </a:lnTo>
                <a:cubicBezTo>
                  <a:pt x="3734373" y="0"/>
                  <a:pt x="3781437" y="51214"/>
                  <a:pt x="3781437" y="114294"/>
                </a:cubicBezTo>
                <a:lnTo>
                  <a:pt x="3781437" y="1219206"/>
                </a:lnTo>
                <a:cubicBezTo>
                  <a:pt x="3781437" y="1282286"/>
                  <a:pt x="3734373" y="1333500"/>
                  <a:pt x="3676403" y="1333500"/>
                </a:cubicBezTo>
                <a:lnTo>
                  <a:pt x="105035" y="1333500"/>
                </a:lnTo>
                <a:cubicBezTo>
                  <a:pt x="4706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47064" y="0"/>
                  <a:pt x="105035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1" name="Shape 9"/>
          <p:cNvSpPr/>
          <p:nvPr/>
        </p:nvSpPr>
        <p:spPr>
          <a:xfrm>
            <a:off x="4514850" y="1733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38680" y="1816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55563"/>
                </a:moveTo>
                <a:cubicBezTo>
                  <a:pt x="96589" y="55563"/>
                  <a:pt x="91281" y="60871"/>
                  <a:pt x="91281" y="67469"/>
                </a:cubicBezTo>
                <a:lnTo>
                  <a:pt x="91281" y="91281"/>
                </a:lnTo>
                <a:lnTo>
                  <a:pt x="67469" y="91281"/>
                </a:lnTo>
                <a:cubicBezTo>
                  <a:pt x="60871" y="91281"/>
                  <a:pt x="55563" y="96589"/>
                  <a:pt x="55563" y="103188"/>
                </a:cubicBezTo>
                <a:cubicBezTo>
                  <a:pt x="55563" y="109786"/>
                  <a:pt x="60871" y="115094"/>
                  <a:pt x="67469" y="115094"/>
                </a:cubicBezTo>
                <a:lnTo>
                  <a:pt x="91281" y="115094"/>
                </a:lnTo>
                <a:lnTo>
                  <a:pt x="91281" y="138906"/>
                </a:lnTo>
                <a:cubicBezTo>
                  <a:pt x="91281" y="145504"/>
                  <a:pt x="96589" y="150813"/>
                  <a:pt x="103188" y="150813"/>
                </a:cubicBezTo>
                <a:cubicBezTo>
                  <a:pt x="109786" y="150813"/>
                  <a:pt x="115094" y="145504"/>
                  <a:pt x="115094" y="138906"/>
                </a:cubicBezTo>
                <a:lnTo>
                  <a:pt x="115094" y="115094"/>
                </a:lnTo>
                <a:lnTo>
                  <a:pt x="138906" y="115094"/>
                </a:lnTo>
                <a:cubicBezTo>
                  <a:pt x="145504" y="115094"/>
                  <a:pt x="150813" y="109786"/>
                  <a:pt x="150813" y="103188"/>
                </a:cubicBezTo>
                <a:cubicBezTo>
                  <a:pt x="150813" y="96589"/>
                  <a:pt x="145504" y="91281"/>
                  <a:pt x="138906" y="91281"/>
                </a:cubicBezTo>
                <a:lnTo>
                  <a:pt x="115094" y="91281"/>
                </a:lnTo>
                <a:lnTo>
                  <a:pt x="115094" y="67469"/>
                </a:lnTo>
                <a:cubicBezTo>
                  <a:pt x="115094" y="60871"/>
                  <a:pt x="109786" y="55563"/>
                  <a:pt x="103188" y="55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33963" y="1828800"/>
            <a:ext cx="26764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Stage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4850" y="2286000"/>
            <a:ext cx="3749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models can identify diseases before severe symptoms appear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387853"/>
            <a:ext cx="7540656" cy="1212876"/>
          </a:xfrm>
          <a:custGeom>
            <a:avLst/>
            <a:gdLst/>
            <a:ahLst/>
            <a:cxnLst/>
            <a:rect l="l" t="t" r="r" b="b"/>
            <a:pathLst>
              <a:path w="7540656" h="1212876">
                <a:moveTo>
                  <a:pt x="102865" y="0"/>
                </a:moveTo>
                <a:lnTo>
                  <a:pt x="7437791" y="0"/>
                </a:lnTo>
                <a:cubicBezTo>
                  <a:pt x="7494602" y="0"/>
                  <a:pt x="7540656" y="32473"/>
                  <a:pt x="7540656" y="72530"/>
                </a:cubicBezTo>
                <a:lnTo>
                  <a:pt x="7540656" y="1140346"/>
                </a:lnTo>
                <a:cubicBezTo>
                  <a:pt x="7540656" y="1180403"/>
                  <a:pt x="7494602" y="1212876"/>
                  <a:pt x="7437791" y="1212876"/>
                </a:cubicBezTo>
                <a:lnTo>
                  <a:pt x="102865" y="1212876"/>
                </a:lnTo>
                <a:cubicBezTo>
                  <a:pt x="46054" y="1212876"/>
                  <a:pt x="0" y="1180403"/>
                  <a:pt x="0" y="1140346"/>
                </a:cubicBezTo>
                <a:lnTo>
                  <a:pt x="0" y="72530"/>
                </a:lnTo>
                <a:cubicBezTo>
                  <a:pt x="0" y="32500"/>
                  <a:pt x="46092" y="0"/>
                  <a:pt x="102865" y="0"/>
                </a:cubicBezTo>
                <a:close/>
              </a:path>
            </a:pathLst>
          </a:custGeom>
          <a:solidFill>
            <a:srgbClr val="FEF2F2"/>
          </a:solidFill>
          <a:ln w="8467">
            <a:solidFill>
              <a:srgbClr val="FF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350" y="4568788"/>
            <a:ext cx="44339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5014924"/>
            <a:ext cx="7138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These systems remained mostly experimental and were not integrated into real-world consumer platforms.</a:t>
            </a:r>
            <a:endParaRPr lang="en-US" sz="1600" dirty="0"/>
          </a:p>
        </p:txBody>
      </p:sp>
      <p:pic>
        <p:nvPicPr>
          <p:cNvPr id="18" name="Image 0" descr="https://kimi-web-img.moonshot.cn/img/www.pashudhanpraharee.com/d9cda205aeb2424122b868611739cdc8c383ada6.png"/>
          <p:cNvPicPr>
            <a:picLocks noChangeAspect="1"/>
          </p:cNvPicPr>
          <p:nvPr/>
        </p:nvPicPr>
        <p:blipFill>
          <a:blip r:embed="rId3"/>
          <a:srcRect t="15441" b="11029"/>
          <a:stretch/>
        </p:blipFill>
        <p:spPr>
          <a:xfrm>
            <a:off x="7921656" y="990600"/>
            <a:ext cx="3889344" cy="2590800"/>
          </a:xfrm>
          <a:prstGeom prst="roundRect">
            <a:avLst>
              <a:gd name="adj" fmla="val 6250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8264538" y="3841843"/>
            <a:ext cx="3546462" cy="2256214"/>
          </a:xfrm>
          <a:custGeom>
            <a:avLst/>
            <a:gdLst/>
            <a:ahLst/>
            <a:cxnLst/>
            <a:rect l="l" t="t" r="r" b="b"/>
            <a:pathLst>
              <a:path w="3546462" h="2256214">
                <a:moveTo>
                  <a:pt x="98512" y="0"/>
                </a:moveTo>
                <a:lnTo>
                  <a:pt x="3447951" y="0"/>
                </a:lnTo>
                <a:cubicBezTo>
                  <a:pt x="3502357" y="0"/>
                  <a:pt x="3546462" y="112237"/>
                  <a:pt x="3546462" y="250688"/>
                </a:cubicBezTo>
                <a:lnTo>
                  <a:pt x="3546462" y="2005526"/>
                </a:lnTo>
                <a:cubicBezTo>
                  <a:pt x="3546462" y="2143977"/>
                  <a:pt x="3502357" y="2256214"/>
                  <a:pt x="3447951" y="2256214"/>
                </a:cubicBezTo>
                <a:lnTo>
                  <a:pt x="98512" y="2256214"/>
                </a:lnTo>
                <a:cubicBezTo>
                  <a:pt x="44105" y="2256214"/>
                  <a:pt x="0" y="2143977"/>
                  <a:pt x="0" y="2005526"/>
                </a:cubicBezTo>
                <a:lnTo>
                  <a:pt x="0" y="250688"/>
                </a:lnTo>
                <a:cubicBezTo>
                  <a:pt x="0" y="112329"/>
                  <a:pt x="44142" y="0"/>
                  <a:pt x="98512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20" name="Text 17"/>
          <p:cNvSpPr/>
          <p:nvPr/>
        </p:nvSpPr>
        <p:spPr>
          <a:xfrm>
            <a:off x="8350270" y="5257829"/>
            <a:ext cx="3460730" cy="685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894B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 Research needs to bridge the gap to practical deployment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52425" y="649605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287593" y="2968576"/>
            <a:ext cx="3808407" cy="1222424"/>
          </a:xfrm>
          <a:custGeom>
            <a:avLst/>
            <a:gdLst/>
            <a:ahLst/>
            <a:cxnLst/>
            <a:rect l="l" t="t" r="r" b="b"/>
            <a:pathLst>
              <a:path w="3808407" h="1222424">
                <a:moveTo>
                  <a:pt x="105784" y="0"/>
                </a:moveTo>
                <a:lnTo>
                  <a:pt x="3702623" y="0"/>
                </a:lnTo>
                <a:cubicBezTo>
                  <a:pt x="3761007" y="0"/>
                  <a:pt x="3808407" y="46948"/>
                  <a:pt x="3808407" y="104774"/>
                </a:cubicBezTo>
                <a:lnTo>
                  <a:pt x="3808407" y="1117650"/>
                </a:lnTo>
                <a:cubicBezTo>
                  <a:pt x="3808407" y="1175476"/>
                  <a:pt x="3761007" y="1222424"/>
                  <a:pt x="3702623" y="1222424"/>
                </a:cubicBezTo>
                <a:lnTo>
                  <a:pt x="105784" y="1222424"/>
                </a:lnTo>
                <a:cubicBezTo>
                  <a:pt x="47400" y="1222424"/>
                  <a:pt x="0" y="1175476"/>
                  <a:pt x="0" y="1117650"/>
                </a:cubicBezTo>
                <a:lnTo>
                  <a:pt x="0" y="104774"/>
                </a:lnTo>
                <a:cubicBezTo>
                  <a:pt x="0" y="46948"/>
                  <a:pt x="47400" y="0"/>
                  <a:pt x="105784" y="0"/>
                </a:cubicBezTo>
                <a:close/>
              </a:path>
            </a:pathLst>
          </a:custGeom>
          <a:solidFill>
            <a:srgbClr val="FFF2CC"/>
          </a:solidFill>
          <a:ln/>
        </p:spPr>
      </p:sp>
      <p:sp>
        <p:nvSpPr>
          <p:cNvPr id="23" name="Shape 20"/>
          <p:cNvSpPr/>
          <p:nvPr/>
        </p:nvSpPr>
        <p:spPr>
          <a:xfrm>
            <a:off x="2422527" y="3124200"/>
            <a:ext cx="520698" cy="457200"/>
          </a:xfrm>
          <a:custGeom>
            <a:avLst/>
            <a:gdLst/>
            <a:ahLst/>
            <a:cxnLst/>
            <a:rect l="l" t="t" r="r" b="b"/>
            <a:pathLst>
              <a:path w="520698" h="457200">
                <a:moveTo>
                  <a:pt x="260349" y="0"/>
                </a:moveTo>
                <a:lnTo>
                  <a:pt x="260349" y="0"/>
                </a:lnTo>
                <a:cubicBezTo>
                  <a:pt x="404039" y="0"/>
                  <a:pt x="520698" y="102432"/>
                  <a:pt x="520698" y="228600"/>
                </a:cubicBezTo>
                <a:lnTo>
                  <a:pt x="520698" y="228600"/>
                </a:lnTo>
                <a:cubicBezTo>
                  <a:pt x="520698" y="354768"/>
                  <a:pt x="404039" y="457200"/>
                  <a:pt x="260349" y="457200"/>
                </a:cubicBezTo>
                <a:lnTo>
                  <a:pt x="260349" y="457200"/>
                </a:lnTo>
                <a:cubicBezTo>
                  <a:pt x="116658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16658" y="0"/>
                  <a:pt x="260349" y="0"/>
                </a:cubicBezTo>
                <a:close/>
              </a:path>
            </a:pathLst>
          </a:custGeom>
          <a:solidFill>
            <a:srgbClr val="FFC81F"/>
          </a:solidFill>
          <a:ln/>
        </p:spPr>
      </p:sp>
      <p:pic>
        <p:nvPicPr>
          <p:cNvPr id="24" name="Image 1" descr="https://kimi-img.moonshot.cn/pub/slides/26-02-28-18:07:13-d6hbskeuvalvct9fvn2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363" y="3225800"/>
            <a:ext cx="298655" cy="254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995612" y="3238500"/>
            <a:ext cx="214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Environment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2471738" y="3752850"/>
            <a:ext cx="29908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Models tested in controlled settings with limited datasets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467729" y="3962400"/>
            <a:ext cx="395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User Access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8455017" y="4340188"/>
            <a:ext cx="3165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 owners cannot directly interact with these AI systems through consumer-friendly platforms.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71500" y="45687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FF1E02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Deep Learning for Image Diagnosis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T. K. Dash &amp; S. Mishra (2023) - CNNs for Automated Skin Disease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11458575" cy="1485900"/>
          </a:xfrm>
          <a:custGeom>
            <a:avLst/>
            <a:gdLst/>
            <a:ahLst/>
            <a:cxnLst/>
            <a:rect l="l" t="t" r="r" b="b"/>
            <a:pathLst>
              <a:path w="11458575" h="1485900">
                <a:moveTo>
                  <a:pt x="162143" y="0"/>
                </a:moveTo>
                <a:lnTo>
                  <a:pt x="11296432" y="0"/>
                </a:lnTo>
                <a:cubicBezTo>
                  <a:pt x="11385921" y="0"/>
                  <a:pt x="11458575" y="51214"/>
                  <a:pt x="11458575" y="114295"/>
                </a:cubicBezTo>
                <a:lnTo>
                  <a:pt x="11458575" y="1371605"/>
                </a:lnTo>
                <a:cubicBezTo>
                  <a:pt x="11458575" y="1434686"/>
                  <a:pt x="11385921" y="1485900"/>
                  <a:pt x="11296432" y="1485900"/>
                </a:cubicBezTo>
                <a:lnTo>
                  <a:pt x="162143" y="1485900"/>
                </a:lnTo>
                <a:cubicBezTo>
                  <a:pt x="7265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72654" y="0"/>
                  <a:pt x="162143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447E6"/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609600" y="1752600"/>
            <a:ext cx="771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CNNs for Skin Disease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21336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Image-Based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400300"/>
            <a:ext cx="3260745" cy="68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pet images to detect skin diseases automatically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95800" y="21336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Proven Effectiveness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5800" y="2400300"/>
            <a:ext cx="3800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techniques are highly effective for image-based veterinary diagnosis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238500"/>
            <a:ext cx="5352948" cy="1257311"/>
          </a:xfrm>
          <a:custGeom>
            <a:avLst/>
            <a:gdLst/>
            <a:ahLst/>
            <a:cxnLst/>
            <a:rect l="l" t="t" r="r" b="b"/>
            <a:pathLst>
              <a:path w="5352948" h="1257311">
                <a:moveTo>
                  <a:pt x="236146" y="0"/>
                </a:moveTo>
                <a:lnTo>
                  <a:pt x="5116801" y="0"/>
                </a:lnTo>
                <a:cubicBezTo>
                  <a:pt x="5247134" y="0"/>
                  <a:pt x="5352948" y="41730"/>
                  <a:pt x="5352948" y="93129"/>
                </a:cubicBezTo>
                <a:lnTo>
                  <a:pt x="5352948" y="1164182"/>
                </a:lnTo>
                <a:cubicBezTo>
                  <a:pt x="5352948" y="1215581"/>
                  <a:pt x="5247134" y="1257311"/>
                  <a:pt x="5116801" y="1257311"/>
                </a:cubicBezTo>
                <a:lnTo>
                  <a:pt x="236146" y="1257311"/>
                </a:lnTo>
                <a:cubicBezTo>
                  <a:pt x="105814" y="1257311"/>
                  <a:pt x="0" y="1215581"/>
                  <a:pt x="0" y="1164182"/>
                </a:cubicBezTo>
                <a:lnTo>
                  <a:pt x="0" y="93129"/>
                </a:lnTo>
                <a:cubicBezTo>
                  <a:pt x="0" y="41730"/>
                  <a:pt x="105814" y="0"/>
                  <a:pt x="236146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4671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5042" y="4800"/>
                </a:moveTo>
                <a:cubicBezTo>
                  <a:pt x="148177" y="-1563"/>
                  <a:pt x="137573" y="-1563"/>
                  <a:pt x="130764" y="4800"/>
                </a:cubicBezTo>
                <a:lnTo>
                  <a:pt x="5748" y="120886"/>
                </a:lnTo>
                <a:cubicBezTo>
                  <a:pt x="391" y="125909"/>
                  <a:pt x="-1395" y="133666"/>
                  <a:pt x="1284" y="140475"/>
                </a:cubicBezTo>
                <a:cubicBezTo>
                  <a:pt x="3963" y="147284"/>
                  <a:pt x="10492" y="151805"/>
                  <a:pt x="17859" y="151805"/>
                </a:cubicBezTo>
                <a:lnTo>
                  <a:pt x="26789" y="151805"/>
                </a:lnTo>
                <a:lnTo>
                  <a:pt x="26789" y="250031"/>
                </a:lnTo>
                <a:cubicBezTo>
                  <a:pt x="26789" y="269732"/>
                  <a:pt x="42807" y="285750"/>
                  <a:pt x="62508" y="285750"/>
                </a:cubicBezTo>
                <a:lnTo>
                  <a:pt x="223242" y="285750"/>
                </a:lnTo>
                <a:cubicBezTo>
                  <a:pt x="242943" y="285750"/>
                  <a:pt x="258961" y="269732"/>
                  <a:pt x="258961" y="250031"/>
                </a:cubicBezTo>
                <a:lnTo>
                  <a:pt x="258961" y="151805"/>
                </a:lnTo>
                <a:lnTo>
                  <a:pt x="267891" y="151805"/>
                </a:lnTo>
                <a:cubicBezTo>
                  <a:pt x="275258" y="151805"/>
                  <a:pt x="281843" y="147284"/>
                  <a:pt x="284522" y="140475"/>
                </a:cubicBezTo>
                <a:cubicBezTo>
                  <a:pt x="287201" y="133666"/>
                  <a:pt x="285415" y="125853"/>
                  <a:pt x="280057" y="120886"/>
                </a:cubicBezTo>
                <a:lnTo>
                  <a:pt x="155042" y="4800"/>
                </a:lnTo>
                <a:close/>
                <a:moveTo>
                  <a:pt x="133945" y="178594"/>
                </a:moveTo>
                <a:lnTo>
                  <a:pt x="151805" y="178594"/>
                </a:lnTo>
                <a:cubicBezTo>
                  <a:pt x="166594" y="178594"/>
                  <a:pt x="178594" y="190593"/>
                  <a:pt x="178594" y="205383"/>
                </a:cubicBezTo>
                <a:lnTo>
                  <a:pt x="178594" y="258961"/>
                </a:lnTo>
                <a:lnTo>
                  <a:pt x="107156" y="258961"/>
                </a:lnTo>
                <a:lnTo>
                  <a:pt x="107156" y="205383"/>
                </a:lnTo>
                <a:cubicBezTo>
                  <a:pt x="107156" y="190593"/>
                  <a:pt x="119156" y="178594"/>
                  <a:pt x="133945" y="17859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" y="35242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Domestic Animals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300" y="3867150"/>
            <a:ext cx="5067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Focused on common household pets, making the research directly applicable to PetDoc's target users.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04209" y="2152650"/>
            <a:ext cx="17589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5800" y="2438400"/>
            <a:ext cx="21145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Achieved impressive results proving CNN effectiveness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4622806"/>
            <a:ext cx="5368822" cy="987446"/>
          </a:xfrm>
          <a:custGeom>
            <a:avLst/>
            <a:gdLst/>
            <a:ahLst/>
            <a:cxnLst/>
            <a:rect l="l" t="t" r="r" b="b"/>
            <a:pathLst>
              <a:path w="5368822" h="987446">
                <a:moveTo>
                  <a:pt x="236847" y="0"/>
                </a:moveTo>
                <a:lnTo>
                  <a:pt x="5131975" y="0"/>
                </a:lnTo>
                <a:cubicBezTo>
                  <a:pt x="5262695" y="0"/>
                  <a:pt x="5368822" y="32773"/>
                  <a:pt x="5368822" y="73140"/>
                </a:cubicBezTo>
                <a:lnTo>
                  <a:pt x="5368822" y="914305"/>
                </a:lnTo>
                <a:cubicBezTo>
                  <a:pt x="5368822" y="954673"/>
                  <a:pt x="5262695" y="987446"/>
                  <a:pt x="5131975" y="987446"/>
                </a:cubicBezTo>
                <a:lnTo>
                  <a:pt x="236847" y="987446"/>
                </a:lnTo>
                <a:cubicBezTo>
                  <a:pt x="106127" y="987446"/>
                  <a:pt x="0" y="954673"/>
                  <a:pt x="0" y="914305"/>
                </a:cubicBezTo>
                <a:lnTo>
                  <a:pt x="0" y="73140"/>
                </a:lnTo>
                <a:cubicBezTo>
                  <a:pt x="0" y="32773"/>
                  <a:pt x="106127" y="0"/>
                  <a:pt x="236847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68943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2882" y="-13897"/>
                </a:moveTo>
                <a:cubicBezTo>
                  <a:pt x="17636" y="-19143"/>
                  <a:pt x="9153" y="-19143"/>
                  <a:pt x="3963" y="-13897"/>
                </a:cubicBezTo>
                <a:cubicBezTo>
                  <a:pt x="-1228" y="-8651"/>
                  <a:pt x="-1284" y="-167"/>
                  <a:pt x="3907" y="5079"/>
                </a:cubicBezTo>
                <a:lnTo>
                  <a:pt x="298586" y="299758"/>
                </a:lnTo>
                <a:cubicBezTo>
                  <a:pt x="303833" y="305005"/>
                  <a:pt x="312316" y="305005"/>
                  <a:pt x="317506" y="299758"/>
                </a:cubicBezTo>
                <a:cubicBezTo>
                  <a:pt x="322697" y="294512"/>
                  <a:pt x="322752" y="286029"/>
                  <a:pt x="317506" y="280839"/>
                </a:cubicBezTo>
                <a:lnTo>
                  <a:pt x="249417" y="212750"/>
                </a:lnTo>
                <a:cubicBezTo>
                  <a:pt x="251761" y="210852"/>
                  <a:pt x="254050" y="208787"/>
                  <a:pt x="256170" y="206666"/>
                </a:cubicBezTo>
                <a:lnTo>
                  <a:pt x="295852" y="166985"/>
                </a:lnTo>
                <a:cubicBezTo>
                  <a:pt x="312204" y="150633"/>
                  <a:pt x="321413" y="128420"/>
                  <a:pt x="321413" y="105259"/>
                </a:cubicBezTo>
                <a:cubicBezTo>
                  <a:pt x="321413" y="57038"/>
                  <a:pt x="282346" y="17915"/>
                  <a:pt x="234069" y="17915"/>
                </a:cubicBezTo>
                <a:cubicBezTo>
                  <a:pt x="213252" y="17915"/>
                  <a:pt x="193272" y="25338"/>
                  <a:pt x="177533" y="38677"/>
                </a:cubicBezTo>
                <a:cubicBezTo>
                  <a:pt x="188863" y="44314"/>
                  <a:pt x="199132" y="51792"/>
                  <a:pt x="207950" y="60722"/>
                </a:cubicBezTo>
                <a:cubicBezTo>
                  <a:pt x="215819" y="56090"/>
                  <a:pt x="224805" y="53634"/>
                  <a:pt x="234069" y="53634"/>
                </a:cubicBezTo>
                <a:cubicBezTo>
                  <a:pt x="262589" y="53634"/>
                  <a:pt x="285694" y="76740"/>
                  <a:pt x="285694" y="105259"/>
                </a:cubicBezTo>
                <a:cubicBezTo>
                  <a:pt x="285694" y="118932"/>
                  <a:pt x="280281" y="132048"/>
                  <a:pt x="270570" y="141759"/>
                </a:cubicBezTo>
                <a:lnTo>
                  <a:pt x="230888" y="181440"/>
                </a:lnTo>
                <a:cubicBezTo>
                  <a:pt x="228712" y="183617"/>
                  <a:pt x="226368" y="185570"/>
                  <a:pt x="223856" y="187300"/>
                </a:cubicBezTo>
                <a:lnTo>
                  <a:pt x="197346" y="160790"/>
                </a:lnTo>
                <a:cubicBezTo>
                  <a:pt x="206555" y="160288"/>
                  <a:pt x="213922" y="152753"/>
                  <a:pt x="214201" y="143433"/>
                </a:cubicBezTo>
                <a:cubicBezTo>
                  <a:pt x="214201" y="142708"/>
                  <a:pt x="214201" y="141982"/>
                  <a:pt x="214201" y="141256"/>
                </a:cubicBezTo>
                <a:cubicBezTo>
                  <a:pt x="214201" y="93092"/>
                  <a:pt x="175189" y="53690"/>
                  <a:pt x="126857" y="53690"/>
                </a:cubicBezTo>
                <a:cubicBezTo>
                  <a:pt x="116142" y="53690"/>
                  <a:pt x="105705" y="55643"/>
                  <a:pt x="95883" y="59382"/>
                </a:cubicBezTo>
                <a:lnTo>
                  <a:pt x="22882" y="-13897"/>
                </a:lnTo>
                <a:close/>
                <a:moveTo>
                  <a:pt x="126076" y="89297"/>
                </a:moveTo>
                <a:cubicBezTo>
                  <a:pt x="126411" y="89297"/>
                  <a:pt x="126690" y="89297"/>
                  <a:pt x="127025" y="89297"/>
                </a:cubicBezTo>
                <a:cubicBezTo>
                  <a:pt x="135452" y="89297"/>
                  <a:pt x="143489" y="91362"/>
                  <a:pt x="150521" y="94990"/>
                </a:cubicBezTo>
                <a:cubicBezTo>
                  <a:pt x="151526" y="95659"/>
                  <a:pt x="152530" y="96273"/>
                  <a:pt x="153591" y="96720"/>
                </a:cubicBezTo>
                <a:cubicBezTo>
                  <a:pt x="168548" y="105817"/>
                  <a:pt x="178594" y="122337"/>
                  <a:pt x="178594" y="141145"/>
                </a:cubicBezTo>
                <a:cubicBezTo>
                  <a:pt x="178594" y="141368"/>
                  <a:pt x="178594" y="141591"/>
                  <a:pt x="178594" y="141815"/>
                </a:cubicBezTo>
                <a:lnTo>
                  <a:pt x="126076" y="89297"/>
                </a:lnTo>
                <a:close/>
                <a:moveTo>
                  <a:pt x="193216" y="232172"/>
                </a:moveTo>
                <a:lnTo>
                  <a:pt x="107156" y="146112"/>
                </a:lnTo>
                <a:cubicBezTo>
                  <a:pt x="107826" y="193328"/>
                  <a:pt x="146000" y="231446"/>
                  <a:pt x="193160" y="232116"/>
                </a:cubicBezTo>
                <a:close/>
                <a:moveTo>
                  <a:pt x="77967" y="116923"/>
                </a:moveTo>
                <a:lnTo>
                  <a:pt x="52685" y="91641"/>
                </a:lnTo>
                <a:lnTo>
                  <a:pt x="25561" y="118765"/>
                </a:lnTo>
                <a:cubicBezTo>
                  <a:pt x="9209" y="135117"/>
                  <a:pt x="0" y="157330"/>
                  <a:pt x="0" y="180491"/>
                </a:cubicBezTo>
                <a:cubicBezTo>
                  <a:pt x="0" y="228712"/>
                  <a:pt x="39067" y="267835"/>
                  <a:pt x="87344" y="267835"/>
                </a:cubicBezTo>
                <a:cubicBezTo>
                  <a:pt x="108105" y="267835"/>
                  <a:pt x="128141" y="260412"/>
                  <a:pt x="143880" y="247073"/>
                </a:cubicBezTo>
                <a:cubicBezTo>
                  <a:pt x="132550" y="241436"/>
                  <a:pt x="122225" y="233958"/>
                  <a:pt x="113407" y="225028"/>
                </a:cubicBezTo>
                <a:cubicBezTo>
                  <a:pt x="105594" y="229605"/>
                  <a:pt x="96608" y="232060"/>
                  <a:pt x="87344" y="232060"/>
                </a:cubicBezTo>
                <a:cubicBezTo>
                  <a:pt x="58824" y="232060"/>
                  <a:pt x="35719" y="208955"/>
                  <a:pt x="35719" y="180435"/>
                </a:cubicBezTo>
                <a:cubicBezTo>
                  <a:pt x="35719" y="166762"/>
                  <a:pt x="41132" y="153646"/>
                  <a:pt x="50843" y="143935"/>
                </a:cubicBezTo>
                <a:lnTo>
                  <a:pt x="77967" y="116811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" y="468943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Gap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1000" y="5000651"/>
            <a:ext cx="53132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focused mainly on model performance without addressing deployment in user-friendly online systems.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680050"/>
            <a:ext cx="8074025" cy="714376"/>
          </a:xfrm>
          <a:custGeom>
            <a:avLst/>
            <a:gdLst/>
            <a:ahLst/>
            <a:cxnLst/>
            <a:rect l="l" t="t" r="r" b="b"/>
            <a:pathLst>
              <a:path w="8074025" h="714376">
                <a:moveTo>
                  <a:pt x="114299" y="0"/>
                </a:moveTo>
                <a:lnTo>
                  <a:pt x="7959726" y="0"/>
                </a:lnTo>
                <a:cubicBezTo>
                  <a:pt x="8022852" y="0"/>
                  <a:pt x="8074025" y="50061"/>
                  <a:pt x="8074025" y="111814"/>
                </a:cubicBezTo>
                <a:lnTo>
                  <a:pt x="8074025" y="602562"/>
                </a:lnTo>
                <a:cubicBezTo>
                  <a:pt x="8074025" y="664315"/>
                  <a:pt x="8022852" y="714376"/>
                  <a:pt x="7959726" y="714376"/>
                </a:cubicBezTo>
                <a:lnTo>
                  <a:pt x="114299" y="714376"/>
                </a:lnTo>
                <a:cubicBezTo>
                  <a:pt x="51216" y="714376"/>
                  <a:pt x="0" y="664273"/>
                  <a:pt x="0" y="602562"/>
                </a:cubicBezTo>
                <a:lnTo>
                  <a:pt x="0" y="111814"/>
                </a:lnTo>
                <a:cubicBezTo>
                  <a:pt x="0" y="50061"/>
                  <a:pt x="51173" y="0"/>
                  <a:pt x="114299" y="0"/>
                </a:cubicBezTo>
                <a:close/>
              </a:path>
            </a:pathLst>
          </a:custGeom>
          <a:solidFill>
            <a:srgbClr val="FFF7ED"/>
          </a:solidFill>
          <a:ln w="8467">
            <a:solidFill>
              <a:srgbClr val="FFD6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600" y="58086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3" name="Text 21"/>
          <p:cNvSpPr/>
          <p:nvPr/>
        </p:nvSpPr>
        <p:spPr>
          <a:xfrm>
            <a:off x="931069" y="5808638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A35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 Link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6625" y="6064228"/>
            <a:ext cx="71103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connection to consumer platforms where pet owners can easily access these tools.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425" y="649605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pic>
        <p:nvPicPr>
          <p:cNvPr id="26" name="Image 0" descr="https://kimi-img.moonshot.cn/pub/slides/26-02-28-18:45:07-d6hcectkjflnopvgfj5g.png"/>
          <p:cNvPicPr>
            <a:picLocks noChangeAspect="1"/>
          </p:cNvPicPr>
          <p:nvPr/>
        </p:nvPicPr>
        <p:blipFill>
          <a:blip r:embed="rId3"/>
          <a:srcRect t="18954" b="15686"/>
          <a:stretch/>
        </p:blipFill>
        <p:spPr>
          <a:xfrm>
            <a:off x="5891448" y="3159100"/>
            <a:ext cx="6130504" cy="245115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The Research Gap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5431" y="1222375"/>
            <a:ext cx="11728444" cy="4089349"/>
          </a:xfrm>
          <a:custGeom>
            <a:avLst/>
            <a:gdLst/>
            <a:ahLst/>
            <a:cxnLst/>
            <a:rect l="l" t="t" r="r" b="b"/>
            <a:pathLst>
              <a:path w="11728444" h="4089349">
                <a:moveTo>
                  <a:pt x="117307" y="0"/>
                </a:moveTo>
                <a:lnTo>
                  <a:pt x="11611137" y="0"/>
                </a:lnTo>
                <a:cubicBezTo>
                  <a:pt x="11675924" y="0"/>
                  <a:pt x="11728444" y="92825"/>
                  <a:pt x="11728444" y="207330"/>
                </a:cubicBezTo>
                <a:lnTo>
                  <a:pt x="11728444" y="3882019"/>
                </a:lnTo>
                <a:cubicBezTo>
                  <a:pt x="11728444" y="3996524"/>
                  <a:pt x="11675924" y="4089349"/>
                  <a:pt x="11611137" y="4089349"/>
                </a:cubicBezTo>
                <a:lnTo>
                  <a:pt x="117307" y="4089349"/>
                </a:lnTo>
                <a:cubicBezTo>
                  <a:pt x="52520" y="4089349"/>
                  <a:pt x="0" y="3996524"/>
                  <a:pt x="0" y="3882019"/>
                </a:cubicBezTo>
                <a:lnTo>
                  <a:pt x="0" y="207330"/>
                </a:lnTo>
                <a:cubicBezTo>
                  <a:pt x="0" y="92825"/>
                  <a:pt x="52520" y="0"/>
                  <a:pt x="117307" y="0"/>
                </a:cubicBezTo>
                <a:close/>
              </a:path>
            </a:pathLst>
          </a:custGeom>
          <a:solidFill>
            <a:srgbClr val="FEF2F2"/>
          </a:solidFill>
          <a:ln w="8467">
            <a:solidFill>
              <a:srgbClr val="FF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5950" y="1454153"/>
            <a:ext cx="1105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Fragmented Solutions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5950" y="1873253"/>
            <a:ext cx="1103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veterinary platforms focus on only one aspect of care rather than providing a complete integrated solution.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2254253"/>
            <a:ext cx="3787775" cy="1355711"/>
          </a:xfrm>
          <a:custGeom>
            <a:avLst/>
            <a:gdLst/>
            <a:ahLst/>
            <a:cxnLst/>
            <a:rect l="l" t="t" r="r" b="b"/>
            <a:pathLst>
              <a:path w="3787775" h="1355711">
                <a:moveTo>
                  <a:pt x="81236" y="0"/>
                </a:moveTo>
                <a:lnTo>
                  <a:pt x="3706539" y="0"/>
                </a:lnTo>
                <a:cubicBezTo>
                  <a:pt x="3751405" y="0"/>
                  <a:pt x="3787775" y="46688"/>
                  <a:pt x="3787775" y="104281"/>
                </a:cubicBezTo>
                <a:lnTo>
                  <a:pt x="3787775" y="1251430"/>
                </a:lnTo>
                <a:cubicBezTo>
                  <a:pt x="3787775" y="1309023"/>
                  <a:pt x="3751405" y="1355711"/>
                  <a:pt x="3706539" y="1355711"/>
                </a:cubicBezTo>
                <a:lnTo>
                  <a:pt x="81236" y="1355711"/>
                </a:lnTo>
                <a:cubicBezTo>
                  <a:pt x="36371" y="1355711"/>
                  <a:pt x="0" y="1309023"/>
                  <a:pt x="0" y="1251430"/>
                </a:cubicBezTo>
                <a:lnTo>
                  <a:pt x="0" y="104281"/>
                </a:lnTo>
                <a:cubicBezTo>
                  <a:pt x="0" y="46727"/>
                  <a:pt x="36401" y="0"/>
                  <a:pt x="812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350" y="2406653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350" y="2711453"/>
            <a:ext cx="3314700" cy="71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Systems like Hossain et al.'s focus only on administrative tasks and appointment scheduling.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0084" y="2254253"/>
            <a:ext cx="3552825" cy="1355711"/>
          </a:xfrm>
          <a:custGeom>
            <a:avLst/>
            <a:gdLst/>
            <a:ahLst/>
            <a:cxnLst/>
            <a:rect l="l" t="t" r="r" b="b"/>
            <a:pathLst>
              <a:path w="3552825" h="1355711">
                <a:moveTo>
                  <a:pt x="76197" y="0"/>
                </a:moveTo>
                <a:lnTo>
                  <a:pt x="3476628" y="0"/>
                </a:lnTo>
                <a:cubicBezTo>
                  <a:pt x="3518710" y="0"/>
                  <a:pt x="3552825" y="46688"/>
                  <a:pt x="3552825" y="104281"/>
                </a:cubicBezTo>
                <a:lnTo>
                  <a:pt x="3552825" y="1251430"/>
                </a:lnTo>
                <a:cubicBezTo>
                  <a:pt x="3552825" y="1309023"/>
                  <a:pt x="3518710" y="1355711"/>
                  <a:pt x="3476628" y="1355711"/>
                </a:cubicBezTo>
                <a:lnTo>
                  <a:pt x="76197" y="1355711"/>
                </a:lnTo>
                <a:cubicBezTo>
                  <a:pt x="34115" y="1355711"/>
                  <a:pt x="0" y="1309023"/>
                  <a:pt x="0" y="1251430"/>
                </a:cubicBezTo>
                <a:lnTo>
                  <a:pt x="0" y="104281"/>
                </a:lnTo>
                <a:cubicBezTo>
                  <a:pt x="0" y="46727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72484" y="2406653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E-Commerce 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72484" y="2711453"/>
            <a:ext cx="3092458" cy="71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Platforms like Smith &amp; Doe studied are just online shops without healthcare intelligence.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24217" y="2254253"/>
            <a:ext cx="3552825" cy="1355711"/>
          </a:xfrm>
          <a:custGeom>
            <a:avLst/>
            <a:gdLst/>
            <a:ahLst/>
            <a:cxnLst/>
            <a:rect l="l" t="t" r="r" b="b"/>
            <a:pathLst>
              <a:path w="3552825" h="1355711">
                <a:moveTo>
                  <a:pt x="76197" y="0"/>
                </a:moveTo>
                <a:lnTo>
                  <a:pt x="3476628" y="0"/>
                </a:lnTo>
                <a:cubicBezTo>
                  <a:pt x="3518710" y="0"/>
                  <a:pt x="3552825" y="46688"/>
                  <a:pt x="3552825" y="104281"/>
                </a:cubicBezTo>
                <a:lnTo>
                  <a:pt x="3552825" y="1251430"/>
                </a:lnTo>
                <a:cubicBezTo>
                  <a:pt x="3552825" y="1309023"/>
                  <a:pt x="3518710" y="1355711"/>
                  <a:pt x="3476628" y="1355711"/>
                </a:cubicBezTo>
                <a:lnTo>
                  <a:pt x="76197" y="1355711"/>
                </a:lnTo>
                <a:cubicBezTo>
                  <a:pt x="34115" y="1355711"/>
                  <a:pt x="0" y="1309023"/>
                  <a:pt x="0" y="1251430"/>
                </a:cubicBezTo>
                <a:lnTo>
                  <a:pt x="0" y="104281"/>
                </a:lnTo>
                <a:cubicBezTo>
                  <a:pt x="0" y="46727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76617" y="2406653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200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Standalone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6617" y="2711453"/>
            <a:ext cx="3171830" cy="71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Kumar &amp; Singh, Dash &amp; Mishra developed experimental models without user integration.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20084" y="3708402"/>
            <a:ext cx="3552825" cy="1066800"/>
          </a:xfrm>
          <a:custGeom>
            <a:avLst/>
            <a:gdLst/>
            <a:ahLst/>
            <a:cxnLst/>
            <a:rect l="l" t="t" r="r" b="b"/>
            <a:pathLst>
              <a:path w="3552825" h="1066800">
                <a:moveTo>
                  <a:pt x="109596" y="0"/>
                </a:moveTo>
                <a:lnTo>
                  <a:pt x="3443229" y="0"/>
                </a:lnTo>
                <a:cubicBezTo>
                  <a:pt x="3503757" y="0"/>
                  <a:pt x="3552825" y="51172"/>
                  <a:pt x="3552825" y="114297"/>
                </a:cubicBezTo>
                <a:lnTo>
                  <a:pt x="3552825" y="952503"/>
                </a:lnTo>
                <a:cubicBezTo>
                  <a:pt x="3552825" y="1015628"/>
                  <a:pt x="3503757" y="1066800"/>
                  <a:pt x="3443229" y="1066800"/>
                </a:cubicBezTo>
                <a:lnTo>
                  <a:pt x="109596" y="1066800"/>
                </a:lnTo>
                <a:cubicBezTo>
                  <a:pt x="49068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49068" y="0"/>
                  <a:pt x="109596" y="0"/>
                </a:cubicBezTo>
                <a:close/>
              </a:path>
            </a:pathLst>
          </a:custGeom>
          <a:solidFill>
            <a:srgbClr val="F4AF80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5981" y="3898902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5358"/>
                </a:moveTo>
                <a:cubicBezTo>
                  <a:pt x="105663" y="5358"/>
                  <a:pt x="69652" y="41369"/>
                  <a:pt x="69652" y="85725"/>
                </a:cubicBezTo>
                <a:cubicBezTo>
                  <a:pt x="69652" y="130081"/>
                  <a:pt x="105663" y="166092"/>
                  <a:pt x="150019" y="166092"/>
                </a:cubicBezTo>
                <a:cubicBezTo>
                  <a:pt x="194375" y="166092"/>
                  <a:pt x="230386" y="130081"/>
                  <a:pt x="230386" y="85725"/>
                </a:cubicBezTo>
                <a:cubicBezTo>
                  <a:pt x="230386" y="41369"/>
                  <a:pt x="194375" y="5358"/>
                  <a:pt x="150019" y="5358"/>
                </a:cubicBezTo>
                <a:close/>
                <a:moveTo>
                  <a:pt x="190202" y="214848"/>
                </a:moveTo>
                <a:cubicBezTo>
                  <a:pt x="186586" y="214513"/>
                  <a:pt x="182835" y="214313"/>
                  <a:pt x="179085" y="214313"/>
                </a:cubicBezTo>
                <a:lnTo>
                  <a:pt x="120886" y="214313"/>
                </a:lnTo>
                <a:cubicBezTo>
                  <a:pt x="117135" y="214313"/>
                  <a:pt x="113452" y="214513"/>
                  <a:pt x="109768" y="214848"/>
                </a:cubicBezTo>
                <a:lnTo>
                  <a:pt x="109768" y="260055"/>
                </a:lnTo>
                <a:cubicBezTo>
                  <a:pt x="120819" y="265145"/>
                  <a:pt x="128521" y="276329"/>
                  <a:pt x="128521" y="289255"/>
                </a:cubicBezTo>
                <a:cubicBezTo>
                  <a:pt x="128521" y="307003"/>
                  <a:pt x="114121" y="321402"/>
                  <a:pt x="96374" y="321402"/>
                </a:cubicBezTo>
                <a:cubicBezTo>
                  <a:pt x="78626" y="321402"/>
                  <a:pt x="64227" y="307003"/>
                  <a:pt x="64227" y="289255"/>
                </a:cubicBezTo>
                <a:cubicBezTo>
                  <a:pt x="64227" y="276262"/>
                  <a:pt x="71929" y="265078"/>
                  <a:pt x="82979" y="260055"/>
                </a:cubicBezTo>
                <a:lnTo>
                  <a:pt x="82979" y="220943"/>
                </a:lnTo>
                <a:cubicBezTo>
                  <a:pt x="40853" y="236413"/>
                  <a:pt x="10716" y="276999"/>
                  <a:pt x="10716" y="324549"/>
                </a:cubicBezTo>
                <a:cubicBezTo>
                  <a:pt x="10716" y="334662"/>
                  <a:pt x="18953" y="342900"/>
                  <a:pt x="29066" y="342900"/>
                </a:cubicBezTo>
                <a:lnTo>
                  <a:pt x="270904" y="342900"/>
                </a:lnTo>
                <a:cubicBezTo>
                  <a:pt x="281017" y="342900"/>
                  <a:pt x="289255" y="334662"/>
                  <a:pt x="289255" y="324549"/>
                </a:cubicBezTo>
                <a:cubicBezTo>
                  <a:pt x="289255" y="276999"/>
                  <a:pt x="259117" y="236480"/>
                  <a:pt x="216924" y="221010"/>
                </a:cubicBezTo>
                <a:lnTo>
                  <a:pt x="216924" y="246058"/>
                </a:lnTo>
                <a:cubicBezTo>
                  <a:pt x="232529" y="251549"/>
                  <a:pt x="243713" y="266484"/>
                  <a:pt x="243713" y="283964"/>
                </a:cubicBezTo>
                <a:lnTo>
                  <a:pt x="243713" y="305395"/>
                </a:lnTo>
                <a:cubicBezTo>
                  <a:pt x="243713" y="312762"/>
                  <a:pt x="237686" y="318790"/>
                  <a:pt x="230319" y="318790"/>
                </a:cubicBezTo>
                <a:cubicBezTo>
                  <a:pt x="222952" y="318790"/>
                  <a:pt x="216924" y="312762"/>
                  <a:pt x="216924" y="305395"/>
                </a:cubicBezTo>
                <a:lnTo>
                  <a:pt x="216924" y="283964"/>
                </a:lnTo>
                <a:cubicBezTo>
                  <a:pt x="216924" y="276597"/>
                  <a:pt x="210897" y="270570"/>
                  <a:pt x="203530" y="270570"/>
                </a:cubicBezTo>
                <a:cubicBezTo>
                  <a:pt x="196163" y="270570"/>
                  <a:pt x="190135" y="276597"/>
                  <a:pt x="190135" y="283964"/>
                </a:cubicBezTo>
                <a:lnTo>
                  <a:pt x="190135" y="305395"/>
                </a:lnTo>
                <a:cubicBezTo>
                  <a:pt x="190135" y="312762"/>
                  <a:pt x="184108" y="318790"/>
                  <a:pt x="176741" y="318790"/>
                </a:cubicBezTo>
                <a:cubicBezTo>
                  <a:pt x="169374" y="318790"/>
                  <a:pt x="163346" y="312762"/>
                  <a:pt x="163346" y="305395"/>
                </a:cubicBezTo>
                <a:lnTo>
                  <a:pt x="163346" y="283964"/>
                </a:lnTo>
                <a:cubicBezTo>
                  <a:pt x="163346" y="266484"/>
                  <a:pt x="174531" y="251616"/>
                  <a:pt x="190135" y="246058"/>
                </a:cubicBezTo>
                <a:lnTo>
                  <a:pt x="190135" y="214848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4394200" y="435610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Medical Guidance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24217" y="3708402"/>
            <a:ext cx="3552825" cy="1066800"/>
          </a:xfrm>
          <a:custGeom>
            <a:avLst/>
            <a:gdLst/>
            <a:ahLst/>
            <a:cxnLst/>
            <a:rect l="l" t="t" r="r" b="b"/>
            <a:pathLst>
              <a:path w="3552825" h="1066800">
                <a:moveTo>
                  <a:pt x="109596" y="0"/>
                </a:moveTo>
                <a:lnTo>
                  <a:pt x="3443229" y="0"/>
                </a:lnTo>
                <a:cubicBezTo>
                  <a:pt x="3503757" y="0"/>
                  <a:pt x="3552825" y="51172"/>
                  <a:pt x="3552825" y="114297"/>
                </a:cubicBezTo>
                <a:lnTo>
                  <a:pt x="3552825" y="952503"/>
                </a:lnTo>
                <a:cubicBezTo>
                  <a:pt x="3552825" y="1015628"/>
                  <a:pt x="3503757" y="1066800"/>
                  <a:pt x="3443229" y="1066800"/>
                </a:cubicBezTo>
                <a:lnTo>
                  <a:pt x="109596" y="1066800"/>
                </a:lnTo>
                <a:cubicBezTo>
                  <a:pt x="49068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49068" y="0"/>
                  <a:pt x="109596" y="0"/>
                </a:cubicBezTo>
                <a:close/>
              </a:path>
            </a:pathLst>
          </a:custGeom>
          <a:solidFill>
            <a:srgbClr val="F4AF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828213" y="3898902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0716" y="42863"/>
                </a:moveTo>
                <a:cubicBezTo>
                  <a:pt x="10716" y="19221"/>
                  <a:pt x="29937" y="0"/>
                  <a:pt x="53578" y="0"/>
                </a:cubicBezTo>
                <a:lnTo>
                  <a:pt x="203597" y="0"/>
                </a:lnTo>
                <a:cubicBezTo>
                  <a:pt x="227238" y="0"/>
                  <a:pt x="246459" y="19221"/>
                  <a:pt x="246459" y="42863"/>
                </a:cubicBezTo>
                <a:lnTo>
                  <a:pt x="246459" y="300038"/>
                </a:lnTo>
                <a:cubicBezTo>
                  <a:pt x="246459" y="323679"/>
                  <a:pt x="227238" y="342900"/>
                  <a:pt x="203597" y="342900"/>
                </a:cubicBezTo>
                <a:lnTo>
                  <a:pt x="53578" y="342900"/>
                </a:lnTo>
                <a:cubicBezTo>
                  <a:pt x="29937" y="342900"/>
                  <a:pt x="10716" y="323679"/>
                  <a:pt x="10716" y="300038"/>
                </a:cubicBezTo>
                <a:lnTo>
                  <a:pt x="10716" y="42863"/>
                </a:lnTo>
                <a:close/>
                <a:moveTo>
                  <a:pt x="53578" y="42863"/>
                </a:moveTo>
                <a:lnTo>
                  <a:pt x="53578" y="246459"/>
                </a:lnTo>
                <a:lnTo>
                  <a:pt x="203597" y="246459"/>
                </a:lnTo>
                <a:lnTo>
                  <a:pt x="203597" y="42863"/>
                </a:lnTo>
                <a:lnTo>
                  <a:pt x="53578" y="42863"/>
                </a:lnTo>
                <a:close/>
                <a:moveTo>
                  <a:pt x="128588" y="316111"/>
                </a:moveTo>
                <a:cubicBezTo>
                  <a:pt x="140442" y="316111"/>
                  <a:pt x="150019" y="306534"/>
                  <a:pt x="150019" y="294680"/>
                </a:cubicBezTo>
                <a:cubicBezTo>
                  <a:pt x="150019" y="282826"/>
                  <a:pt x="140442" y="273248"/>
                  <a:pt x="128588" y="273248"/>
                </a:cubicBezTo>
                <a:cubicBezTo>
                  <a:pt x="116733" y="273248"/>
                  <a:pt x="107156" y="282826"/>
                  <a:pt x="107156" y="294680"/>
                </a:cubicBezTo>
                <a:cubicBezTo>
                  <a:pt x="107156" y="306534"/>
                  <a:pt x="116733" y="316111"/>
                  <a:pt x="128588" y="316111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255000" y="435610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Platform Access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12551" y="5591155"/>
            <a:ext cx="6848759" cy="495300"/>
          </a:xfrm>
          <a:custGeom>
            <a:avLst/>
            <a:gdLst/>
            <a:ahLst/>
            <a:cxnLst/>
            <a:rect l="l" t="t" r="r" b="b"/>
            <a:pathLst>
              <a:path w="6848759" h="495300">
                <a:moveTo>
                  <a:pt x="284908" y="0"/>
                </a:moveTo>
                <a:lnTo>
                  <a:pt x="6563851" y="0"/>
                </a:lnTo>
                <a:cubicBezTo>
                  <a:pt x="6721096" y="0"/>
                  <a:pt x="6848759" y="110968"/>
                  <a:pt x="6848759" y="247650"/>
                </a:cubicBezTo>
                <a:lnTo>
                  <a:pt x="6848759" y="247650"/>
                </a:lnTo>
                <a:cubicBezTo>
                  <a:pt x="6848759" y="384332"/>
                  <a:pt x="6721096" y="495300"/>
                  <a:pt x="6563851" y="495300"/>
                </a:cubicBezTo>
                <a:lnTo>
                  <a:pt x="284908" y="495300"/>
                </a:lnTo>
                <a:cubicBezTo>
                  <a:pt x="127663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27663" y="0"/>
                  <a:pt x="284908" y="0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3" name="Text 21"/>
          <p:cNvSpPr/>
          <p:nvPr/>
        </p:nvSpPr>
        <p:spPr>
          <a:xfrm>
            <a:off x="2481168" y="5591155"/>
            <a:ext cx="7296340" cy="4953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Clear Gap: No unified system combining all these essential features!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425" y="649605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</a:t>
            </a:r>
            <a:r>
              <a:rPr lang="en-US" sz="16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Islamz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MD Tamim Hasan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3708402"/>
            <a:ext cx="3787775" cy="1066800"/>
          </a:xfrm>
          <a:custGeom>
            <a:avLst/>
            <a:gdLst/>
            <a:ahLst/>
            <a:cxnLst/>
            <a:rect l="l" t="t" r="r" b="b"/>
            <a:pathLst>
              <a:path w="3787775" h="1066800">
                <a:moveTo>
                  <a:pt x="116843" y="0"/>
                </a:moveTo>
                <a:lnTo>
                  <a:pt x="3670932" y="0"/>
                </a:lnTo>
                <a:cubicBezTo>
                  <a:pt x="3735462" y="0"/>
                  <a:pt x="3787775" y="51172"/>
                  <a:pt x="3787775" y="114297"/>
                </a:cubicBezTo>
                <a:lnTo>
                  <a:pt x="3787775" y="952503"/>
                </a:lnTo>
                <a:cubicBezTo>
                  <a:pt x="3787775" y="1015628"/>
                  <a:pt x="3735462" y="1066800"/>
                  <a:pt x="3670932" y="1066800"/>
                </a:cubicBezTo>
                <a:lnTo>
                  <a:pt x="116843" y="1066800"/>
                </a:lnTo>
                <a:cubicBezTo>
                  <a:pt x="52313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2313" y="0"/>
                  <a:pt x="116843" y="0"/>
                </a:cubicBezTo>
                <a:close/>
              </a:path>
            </a:pathLst>
          </a:custGeom>
          <a:solidFill>
            <a:srgbClr val="F4AF80"/>
          </a:solidFill>
          <a:ln/>
        </p:spPr>
      </p:sp>
      <p:sp>
        <p:nvSpPr>
          <p:cNvPr id="26" name="Shape 24"/>
          <p:cNvSpPr/>
          <p:nvPr/>
        </p:nvSpPr>
        <p:spPr>
          <a:xfrm>
            <a:off x="2020888" y="3898902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533400" y="435610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AI Features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381239"/>
            <a:ext cx="11430000" cy="492107"/>
          </a:xfrm>
          <a:prstGeom prst="rect">
            <a:avLst/>
          </a:prstGeom>
          <a:solidFill>
            <a:srgbClr val="C214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SOLUTION REQUIREMENTS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What's Missing?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Unified Approach is Needed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52" y="1512993"/>
            <a:ext cx="1085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Current systems lack integration of these essential components for comprehensive pet healthcare: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981200"/>
            <a:ext cx="5600700" cy="1790700"/>
          </a:xfrm>
          <a:custGeom>
            <a:avLst/>
            <a:gdLst/>
            <a:ahLst/>
            <a:cxnLst/>
            <a:rect l="l" t="t" r="r" b="b"/>
            <a:pathLst>
              <a:path w="5600700" h="1790700">
                <a:moveTo>
                  <a:pt x="114300" y="0"/>
                </a:moveTo>
                <a:lnTo>
                  <a:pt x="5486400" y="0"/>
                </a:lnTo>
                <a:cubicBezTo>
                  <a:pt x="5549526" y="0"/>
                  <a:pt x="5600700" y="51174"/>
                  <a:pt x="5600700" y="114300"/>
                </a:cubicBezTo>
                <a:lnTo>
                  <a:pt x="5600700" y="1676400"/>
                </a:lnTo>
                <a:cubicBezTo>
                  <a:pt x="5600700" y="1739526"/>
                  <a:pt x="5549526" y="1790700"/>
                  <a:pt x="5486400" y="1790700"/>
                </a:cubicBezTo>
                <a:lnTo>
                  <a:pt x="114300" y="1790700"/>
                </a:lnTo>
                <a:cubicBezTo>
                  <a:pt x="51174" y="1790700"/>
                  <a:pt x="0" y="1739526"/>
                  <a:pt x="0" y="1676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447E6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09600" y="2209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362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2343150"/>
            <a:ext cx="23125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Disease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8956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DBEAF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and symptom-based machine learning models for preliminary disease identification and guidance.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0300" y="1981200"/>
            <a:ext cx="5600700" cy="1790700"/>
          </a:xfrm>
          <a:custGeom>
            <a:avLst/>
            <a:gdLst/>
            <a:ahLst/>
            <a:cxnLst/>
            <a:rect l="l" t="t" r="r" b="b"/>
            <a:pathLst>
              <a:path w="5600700" h="1790700">
                <a:moveTo>
                  <a:pt x="114300" y="0"/>
                </a:moveTo>
                <a:lnTo>
                  <a:pt x="5486400" y="0"/>
                </a:lnTo>
                <a:cubicBezTo>
                  <a:pt x="5549526" y="0"/>
                  <a:pt x="5600700" y="51174"/>
                  <a:pt x="5600700" y="114300"/>
                </a:cubicBezTo>
                <a:lnTo>
                  <a:pt x="5600700" y="1676400"/>
                </a:lnTo>
                <a:cubicBezTo>
                  <a:pt x="5600700" y="1739526"/>
                  <a:pt x="5549526" y="1790700"/>
                  <a:pt x="5486400" y="1790700"/>
                </a:cubicBezTo>
                <a:lnTo>
                  <a:pt x="114300" y="1790700"/>
                </a:lnTo>
                <a:cubicBezTo>
                  <a:pt x="51174" y="1790700"/>
                  <a:pt x="0" y="1739526"/>
                  <a:pt x="0" y="1676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8236"/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6438900" y="2209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62725" y="2362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124700" y="2343150"/>
            <a:ext cx="21124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Online Purchasing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8900" y="28956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DCFCE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Seamless e-commerce functionality for veterinary products with direct medicine recommendations based on diagnosis.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4000500"/>
            <a:ext cx="5600700" cy="1790700"/>
          </a:xfrm>
          <a:custGeom>
            <a:avLst/>
            <a:gdLst/>
            <a:ahLst/>
            <a:cxnLst/>
            <a:rect l="l" t="t" r="r" b="b"/>
            <a:pathLst>
              <a:path w="5600700" h="1790700">
                <a:moveTo>
                  <a:pt x="114300" y="0"/>
                </a:moveTo>
                <a:lnTo>
                  <a:pt x="5486400" y="0"/>
                </a:lnTo>
                <a:cubicBezTo>
                  <a:pt x="5549526" y="0"/>
                  <a:pt x="5600700" y="51174"/>
                  <a:pt x="5600700" y="114300"/>
                </a:cubicBezTo>
                <a:lnTo>
                  <a:pt x="5600700" y="1676400"/>
                </a:lnTo>
                <a:cubicBezTo>
                  <a:pt x="5600700" y="1739526"/>
                  <a:pt x="5549526" y="1790700"/>
                  <a:pt x="5486400" y="1790700"/>
                </a:cubicBezTo>
                <a:lnTo>
                  <a:pt x="114300" y="1790700"/>
                </a:lnTo>
                <a:cubicBezTo>
                  <a:pt x="51174" y="1790700"/>
                  <a:pt x="0" y="1739526"/>
                  <a:pt x="0" y="1676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8200DB"/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609600" y="422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76288" y="4381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28575"/>
                </a:moveTo>
                <a:cubicBezTo>
                  <a:pt x="64740" y="28575"/>
                  <a:pt x="35406" y="54159"/>
                  <a:pt x="29602" y="87823"/>
                </a:cubicBezTo>
                <a:cubicBezTo>
                  <a:pt x="33754" y="86484"/>
                  <a:pt x="38219" y="85725"/>
                  <a:pt x="42863" y="85725"/>
                </a:cubicBezTo>
                <a:lnTo>
                  <a:pt x="50006" y="85725"/>
                </a:lnTo>
                <a:cubicBezTo>
                  <a:pt x="61838" y="85725"/>
                  <a:pt x="71438" y="95324"/>
                  <a:pt x="71438" y="107156"/>
                </a:cubicBezTo>
                <a:lnTo>
                  <a:pt x="71438" y="150019"/>
                </a:lnTo>
                <a:cubicBezTo>
                  <a:pt x="71438" y="161851"/>
                  <a:pt x="61838" y="171450"/>
                  <a:pt x="50006" y="171450"/>
                </a:cubicBezTo>
                <a:lnTo>
                  <a:pt x="42863" y="171450"/>
                </a:lnTo>
                <a:cubicBezTo>
                  <a:pt x="19199" y="171450"/>
                  <a:pt x="0" y="152251"/>
                  <a:pt x="0" y="128588"/>
                </a:cubicBezTo>
                <a:lnTo>
                  <a:pt x="0" y="100013"/>
                </a:lnTo>
                <a:cubicBezTo>
                  <a:pt x="0" y="44782"/>
                  <a:pt x="44782" y="0"/>
                  <a:pt x="100013" y="0"/>
                </a:cubicBezTo>
                <a:cubicBezTo>
                  <a:pt x="155243" y="0"/>
                  <a:pt x="200025" y="44782"/>
                  <a:pt x="200025" y="100013"/>
                </a:cubicBezTo>
                <a:lnTo>
                  <a:pt x="200025" y="175067"/>
                </a:lnTo>
                <a:cubicBezTo>
                  <a:pt x="200025" y="204668"/>
                  <a:pt x="176004" y="228645"/>
                  <a:pt x="146402" y="228645"/>
                </a:cubicBezTo>
                <a:lnTo>
                  <a:pt x="107156" y="228600"/>
                </a:lnTo>
                <a:lnTo>
                  <a:pt x="92869" y="228600"/>
                </a:lnTo>
                <a:cubicBezTo>
                  <a:pt x="81037" y="228600"/>
                  <a:pt x="71437" y="219001"/>
                  <a:pt x="71437" y="207169"/>
                </a:cubicBezTo>
                <a:cubicBezTo>
                  <a:pt x="71437" y="195337"/>
                  <a:pt x="81037" y="185738"/>
                  <a:pt x="92869" y="185738"/>
                </a:cubicBezTo>
                <a:lnTo>
                  <a:pt x="107156" y="185738"/>
                </a:lnTo>
                <a:cubicBezTo>
                  <a:pt x="118988" y="185738"/>
                  <a:pt x="128588" y="195337"/>
                  <a:pt x="128588" y="207169"/>
                </a:cubicBezTo>
                <a:lnTo>
                  <a:pt x="128588" y="207169"/>
                </a:lnTo>
                <a:lnTo>
                  <a:pt x="146447" y="207169"/>
                </a:lnTo>
                <a:cubicBezTo>
                  <a:pt x="164217" y="207169"/>
                  <a:pt x="178594" y="192792"/>
                  <a:pt x="178594" y="175022"/>
                </a:cubicBezTo>
                <a:lnTo>
                  <a:pt x="178594" y="165690"/>
                </a:lnTo>
                <a:cubicBezTo>
                  <a:pt x="172298" y="169352"/>
                  <a:pt x="164976" y="171405"/>
                  <a:pt x="157163" y="171405"/>
                </a:cubicBezTo>
                <a:lnTo>
                  <a:pt x="150019" y="171405"/>
                </a:lnTo>
                <a:cubicBezTo>
                  <a:pt x="138187" y="171405"/>
                  <a:pt x="128588" y="161806"/>
                  <a:pt x="128588" y="149974"/>
                </a:cubicBezTo>
                <a:lnTo>
                  <a:pt x="128588" y="107112"/>
                </a:lnTo>
                <a:cubicBezTo>
                  <a:pt x="128588" y="95280"/>
                  <a:pt x="138187" y="85680"/>
                  <a:pt x="150019" y="85680"/>
                </a:cubicBezTo>
                <a:lnTo>
                  <a:pt x="157163" y="85680"/>
                </a:lnTo>
                <a:cubicBezTo>
                  <a:pt x="161806" y="85680"/>
                  <a:pt x="166226" y="86395"/>
                  <a:pt x="170423" y="87779"/>
                </a:cubicBezTo>
                <a:cubicBezTo>
                  <a:pt x="164619" y="54159"/>
                  <a:pt x="135329" y="28530"/>
                  <a:pt x="100013" y="285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4362450"/>
            <a:ext cx="1993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Consultation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9149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3E8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Round-the-clock online veterinary support for expert advice and emergency guidance.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4000500"/>
            <a:ext cx="5600700" cy="1790700"/>
          </a:xfrm>
          <a:custGeom>
            <a:avLst/>
            <a:gdLst/>
            <a:ahLst/>
            <a:cxnLst/>
            <a:rect l="l" t="t" r="r" b="b"/>
            <a:pathLst>
              <a:path w="5600700" h="1790700">
                <a:moveTo>
                  <a:pt x="114300" y="0"/>
                </a:moveTo>
                <a:lnTo>
                  <a:pt x="5486400" y="0"/>
                </a:lnTo>
                <a:cubicBezTo>
                  <a:pt x="5549526" y="0"/>
                  <a:pt x="5600700" y="51174"/>
                  <a:pt x="5600700" y="114300"/>
                </a:cubicBezTo>
                <a:lnTo>
                  <a:pt x="5600700" y="1676400"/>
                </a:lnTo>
                <a:cubicBezTo>
                  <a:pt x="5600700" y="1739526"/>
                  <a:pt x="5549526" y="1790700"/>
                  <a:pt x="5486400" y="1790700"/>
                </a:cubicBezTo>
                <a:lnTo>
                  <a:pt x="114300" y="1790700"/>
                </a:lnTo>
                <a:cubicBezTo>
                  <a:pt x="51174" y="1790700"/>
                  <a:pt x="0" y="1739526"/>
                  <a:pt x="0" y="1676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CA3500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438900" y="4229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77013" y="4381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124700" y="4362450"/>
            <a:ext cx="2184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Integration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8900" y="49149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ED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 product links from diagnosis to recommended medicines and care products.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002393" y="5924554"/>
            <a:ext cx="7934216" cy="457200"/>
          </a:xfrm>
          <a:custGeom>
            <a:avLst/>
            <a:gdLst/>
            <a:ahLst/>
            <a:cxnLst/>
            <a:rect l="l" t="t" r="r" b="b"/>
            <a:pathLst>
              <a:path w="7934216" h="457200">
                <a:moveTo>
                  <a:pt x="364094" y="0"/>
                </a:moveTo>
                <a:lnTo>
                  <a:pt x="7570122" y="0"/>
                </a:lnTo>
                <a:cubicBezTo>
                  <a:pt x="7771071" y="0"/>
                  <a:pt x="7934216" y="102432"/>
                  <a:pt x="7934216" y="228600"/>
                </a:cubicBezTo>
                <a:lnTo>
                  <a:pt x="7934216" y="228600"/>
                </a:lnTo>
                <a:cubicBezTo>
                  <a:pt x="7934216" y="354768"/>
                  <a:pt x="7771071" y="457200"/>
                  <a:pt x="7570122" y="457200"/>
                </a:cubicBezTo>
                <a:lnTo>
                  <a:pt x="364094" y="457200"/>
                </a:lnTo>
                <a:cubicBezTo>
                  <a:pt x="163145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63145" y="0"/>
                  <a:pt x="364094" y="0"/>
                </a:cubicBezTo>
                <a:close/>
              </a:path>
            </a:pathLst>
          </a:custGeom>
          <a:solidFill>
            <a:srgbClr val="1E2939"/>
          </a:solidFill>
          <a:ln/>
        </p:spPr>
      </p:sp>
      <p:sp>
        <p:nvSpPr>
          <p:cNvPr id="28" name="Text 26"/>
          <p:cNvSpPr/>
          <p:nvPr/>
        </p:nvSpPr>
        <p:spPr>
          <a:xfrm>
            <a:off x="2711487" y="5924554"/>
            <a:ext cx="6597593" cy="4572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these features must work together in ONE unified platform!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2425" y="6496050"/>
            <a:ext cx="11487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01" y="373701"/>
            <a:ext cx="1150999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55D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701" y="635292"/>
            <a:ext cx="11584736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1F293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PetDoc: Bridging the Gap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3701" y="1195844"/>
            <a:ext cx="8156028" cy="1270584"/>
          </a:xfrm>
          <a:custGeom>
            <a:avLst/>
            <a:gdLst/>
            <a:ahLst/>
            <a:cxnLst/>
            <a:rect l="l" t="t" r="r" b="b"/>
            <a:pathLst>
              <a:path w="8156028" h="1270584">
                <a:moveTo>
                  <a:pt x="112116" y="0"/>
                </a:moveTo>
                <a:lnTo>
                  <a:pt x="8043911" y="0"/>
                </a:lnTo>
                <a:cubicBezTo>
                  <a:pt x="8105790" y="0"/>
                  <a:pt x="8156028" y="50238"/>
                  <a:pt x="8156028" y="112116"/>
                </a:cubicBezTo>
                <a:lnTo>
                  <a:pt x="8156028" y="1158468"/>
                </a:lnTo>
                <a:cubicBezTo>
                  <a:pt x="8156028" y="1220388"/>
                  <a:pt x="8105831" y="1270584"/>
                  <a:pt x="8043911" y="1270584"/>
                </a:cubicBezTo>
                <a:lnTo>
                  <a:pt x="112116" y="1270584"/>
                </a:lnTo>
                <a:cubicBezTo>
                  <a:pt x="50238" y="1270584"/>
                  <a:pt x="0" y="1220346"/>
                  <a:pt x="0" y="1158468"/>
                </a:cubicBezTo>
                <a:lnTo>
                  <a:pt x="0" y="112116"/>
                </a:lnTo>
                <a:cubicBezTo>
                  <a:pt x="0" y="50238"/>
                  <a:pt x="50238" y="0"/>
                  <a:pt x="112116" y="0"/>
                </a:cubicBezTo>
                <a:close/>
              </a:path>
            </a:pathLst>
          </a:custGeom>
          <a:gradFill flip="none" rotWithShape="1">
            <a:gsLst>
              <a:gs pos="0">
                <a:srgbClr val="155DFC"/>
              </a:gs>
              <a:gs pos="100000">
                <a:srgbClr val="193CB8"/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597922" y="1420064"/>
            <a:ext cx="7801011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Unified Platform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7922" y="1793766"/>
            <a:ext cx="7782326" cy="448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DBEAF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PetDoc integrates e-commerce functionality with machine learning-based disease detection in a single user-friendly web platform.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3701" y="2690648"/>
            <a:ext cx="2615908" cy="1065048"/>
          </a:xfrm>
          <a:custGeom>
            <a:avLst/>
            <a:gdLst/>
            <a:ahLst/>
            <a:cxnLst/>
            <a:rect l="l" t="t" r="r" b="b"/>
            <a:pathLst>
              <a:path w="2615908" h="1065048">
                <a:moveTo>
                  <a:pt x="112107" y="0"/>
                </a:moveTo>
                <a:lnTo>
                  <a:pt x="2503801" y="0"/>
                </a:lnTo>
                <a:cubicBezTo>
                  <a:pt x="2565716" y="0"/>
                  <a:pt x="2615908" y="50192"/>
                  <a:pt x="2615908" y="112107"/>
                </a:cubicBezTo>
                <a:lnTo>
                  <a:pt x="2615908" y="952941"/>
                </a:lnTo>
                <a:cubicBezTo>
                  <a:pt x="2615908" y="1014856"/>
                  <a:pt x="2565716" y="1065048"/>
                  <a:pt x="2503801" y="1065048"/>
                </a:cubicBezTo>
                <a:lnTo>
                  <a:pt x="112107" y="1065048"/>
                </a:lnTo>
                <a:cubicBezTo>
                  <a:pt x="50192" y="1065048"/>
                  <a:pt x="0" y="1014856"/>
                  <a:pt x="0" y="952941"/>
                </a:cubicBezTo>
                <a:lnTo>
                  <a:pt x="0" y="112107"/>
                </a:lnTo>
                <a:cubicBezTo>
                  <a:pt x="0" y="50192"/>
                  <a:pt x="50192" y="0"/>
                  <a:pt x="112107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8" name="Shape 6"/>
          <p:cNvSpPr/>
          <p:nvPr/>
        </p:nvSpPr>
        <p:spPr>
          <a:xfrm>
            <a:off x="1562733" y="2840129"/>
            <a:ext cx="245241" cy="280276"/>
          </a:xfrm>
          <a:custGeom>
            <a:avLst/>
            <a:gdLst/>
            <a:ahLst/>
            <a:cxnLst/>
            <a:rect l="l" t="t" r="r" b="b"/>
            <a:pathLst>
              <a:path w="245241" h="280276">
                <a:moveTo>
                  <a:pt x="87586" y="43793"/>
                </a:moveTo>
                <a:cubicBezTo>
                  <a:pt x="87586" y="24469"/>
                  <a:pt x="103297" y="8759"/>
                  <a:pt x="122621" y="8759"/>
                </a:cubicBezTo>
                <a:cubicBezTo>
                  <a:pt x="141944" y="8759"/>
                  <a:pt x="157655" y="24469"/>
                  <a:pt x="157655" y="43793"/>
                </a:cubicBezTo>
                <a:lnTo>
                  <a:pt x="157655" y="70069"/>
                </a:lnTo>
                <a:lnTo>
                  <a:pt x="87586" y="70069"/>
                </a:lnTo>
                <a:lnTo>
                  <a:pt x="87586" y="43793"/>
                </a:lnTo>
                <a:close/>
                <a:moveTo>
                  <a:pt x="61310" y="70069"/>
                </a:moveTo>
                <a:lnTo>
                  <a:pt x="26276" y="70069"/>
                </a:lnTo>
                <a:cubicBezTo>
                  <a:pt x="11769" y="70069"/>
                  <a:pt x="0" y="81838"/>
                  <a:pt x="0" y="96345"/>
                </a:cubicBezTo>
                <a:lnTo>
                  <a:pt x="0" y="210207"/>
                </a:lnTo>
                <a:cubicBezTo>
                  <a:pt x="0" y="239220"/>
                  <a:pt x="23539" y="262759"/>
                  <a:pt x="52552" y="262759"/>
                </a:cubicBezTo>
                <a:lnTo>
                  <a:pt x="192690" y="262759"/>
                </a:lnTo>
                <a:cubicBezTo>
                  <a:pt x="221703" y="262759"/>
                  <a:pt x="245241" y="239220"/>
                  <a:pt x="245241" y="210207"/>
                </a:cubicBezTo>
                <a:lnTo>
                  <a:pt x="245241" y="96345"/>
                </a:lnTo>
                <a:cubicBezTo>
                  <a:pt x="245241" y="81838"/>
                  <a:pt x="233472" y="70069"/>
                  <a:pt x="218966" y="70069"/>
                </a:cubicBezTo>
                <a:lnTo>
                  <a:pt x="183931" y="70069"/>
                </a:lnTo>
                <a:lnTo>
                  <a:pt x="183931" y="43793"/>
                </a:lnTo>
                <a:cubicBezTo>
                  <a:pt x="183931" y="9908"/>
                  <a:pt x="156506" y="-17517"/>
                  <a:pt x="122621" y="-17517"/>
                </a:cubicBezTo>
                <a:cubicBezTo>
                  <a:pt x="88736" y="-17517"/>
                  <a:pt x="61310" y="9908"/>
                  <a:pt x="61310" y="43793"/>
                </a:cubicBezTo>
                <a:lnTo>
                  <a:pt x="61310" y="70069"/>
                </a:lnTo>
                <a:close/>
                <a:moveTo>
                  <a:pt x="74448" y="96345"/>
                </a:moveTo>
                <a:cubicBezTo>
                  <a:pt x="81699" y="96345"/>
                  <a:pt x="87586" y="102232"/>
                  <a:pt x="87586" y="109483"/>
                </a:cubicBezTo>
                <a:cubicBezTo>
                  <a:pt x="87586" y="116734"/>
                  <a:pt x="81699" y="122621"/>
                  <a:pt x="74448" y="122621"/>
                </a:cubicBezTo>
                <a:cubicBezTo>
                  <a:pt x="67197" y="122621"/>
                  <a:pt x="61310" y="116734"/>
                  <a:pt x="61310" y="109483"/>
                </a:cubicBezTo>
                <a:cubicBezTo>
                  <a:pt x="61310" y="102232"/>
                  <a:pt x="67197" y="96345"/>
                  <a:pt x="74448" y="96345"/>
                </a:cubicBezTo>
                <a:close/>
                <a:moveTo>
                  <a:pt x="157655" y="109483"/>
                </a:moveTo>
                <a:cubicBezTo>
                  <a:pt x="157655" y="102232"/>
                  <a:pt x="163542" y="96345"/>
                  <a:pt x="170793" y="96345"/>
                </a:cubicBezTo>
                <a:cubicBezTo>
                  <a:pt x="178044" y="96345"/>
                  <a:pt x="183931" y="102232"/>
                  <a:pt x="183931" y="109483"/>
                </a:cubicBezTo>
                <a:cubicBezTo>
                  <a:pt x="183931" y="116734"/>
                  <a:pt x="178044" y="122621"/>
                  <a:pt x="170793" y="122621"/>
                </a:cubicBezTo>
                <a:cubicBezTo>
                  <a:pt x="163542" y="122621"/>
                  <a:pt x="157655" y="116734"/>
                  <a:pt x="157655" y="109483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9" name="Text 7"/>
          <p:cNvSpPr/>
          <p:nvPr/>
        </p:nvSpPr>
        <p:spPr>
          <a:xfrm>
            <a:off x="485811" y="3195145"/>
            <a:ext cx="2391687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154" y="3456736"/>
            <a:ext cx="237300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recommendations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41815" y="2690648"/>
            <a:ext cx="2615908" cy="1065048"/>
          </a:xfrm>
          <a:custGeom>
            <a:avLst/>
            <a:gdLst/>
            <a:ahLst/>
            <a:cxnLst/>
            <a:rect l="l" t="t" r="r" b="b"/>
            <a:pathLst>
              <a:path w="2615908" h="1065048">
                <a:moveTo>
                  <a:pt x="112107" y="0"/>
                </a:moveTo>
                <a:lnTo>
                  <a:pt x="2503801" y="0"/>
                </a:lnTo>
                <a:cubicBezTo>
                  <a:pt x="2565716" y="0"/>
                  <a:pt x="2615908" y="50192"/>
                  <a:pt x="2615908" y="112107"/>
                </a:cubicBezTo>
                <a:lnTo>
                  <a:pt x="2615908" y="952941"/>
                </a:lnTo>
                <a:cubicBezTo>
                  <a:pt x="2615908" y="1014856"/>
                  <a:pt x="2565716" y="1065048"/>
                  <a:pt x="2503801" y="1065048"/>
                </a:cubicBezTo>
                <a:lnTo>
                  <a:pt x="112107" y="1065048"/>
                </a:lnTo>
                <a:cubicBezTo>
                  <a:pt x="50192" y="1065048"/>
                  <a:pt x="0" y="1014856"/>
                  <a:pt x="0" y="952941"/>
                </a:cubicBezTo>
                <a:lnTo>
                  <a:pt x="0" y="112107"/>
                </a:lnTo>
                <a:cubicBezTo>
                  <a:pt x="0" y="50192"/>
                  <a:pt x="50192" y="0"/>
                  <a:pt x="112107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5811" y="2840129"/>
            <a:ext cx="315310" cy="280276"/>
          </a:xfrm>
          <a:custGeom>
            <a:avLst/>
            <a:gdLst/>
            <a:ahLst/>
            <a:cxnLst/>
            <a:rect l="l" t="t" r="r" b="b"/>
            <a:pathLst>
              <a:path w="315310" h="280276">
                <a:moveTo>
                  <a:pt x="17517" y="26276"/>
                </a:moveTo>
                <a:cubicBezTo>
                  <a:pt x="17517" y="11769"/>
                  <a:pt x="29287" y="0"/>
                  <a:pt x="43793" y="0"/>
                </a:cubicBezTo>
                <a:lnTo>
                  <a:pt x="70069" y="0"/>
                </a:lnTo>
                <a:cubicBezTo>
                  <a:pt x="79758" y="0"/>
                  <a:pt x="87586" y="7828"/>
                  <a:pt x="87586" y="17517"/>
                </a:cubicBezTo>
                <a:cubicBezTo>
                  <a:pt x="87586" y="27206"/>
                  <a:pt x="79758" y="35034"/>
                  <a:pt x="70069" y="35034"/>
                </a:cubicBezTo>
                <a:lnTo>
                  <a:pt x="52552" y="35034"/>
                </a:lnTo>
                <a:lnTo>
                  <a:pt x="52552" y="105103"/>
                </a:lnTo>
                <a:cubicBezTo>
                  <a:pt x="52552" y="134116"/>
                  <a:pt x="76091" y="157655"/>
                  <a:pt x="105103" y="157655"/>
                </a:cubicBezTo>
                <a:cubicBezTo>
                  <a:pt x="134116" y="157655"/>
                  <a:pt x="157655" y="134116"/>
                  <a:pt x="157655" y="105103"/>
                </a:cubicBezTo>
                <a:lnTo>
                  <a:pt x="157655" y="35034"/>
                </a:lnTo>
                <a:lnTo>
                  <a:pt x="140138" y="35034"/>
                </a:lnTo>
                <a:cubicBezTo>
                  <a:pt x="130449" y="35034"/>
                  <a:pt x="122621" y="27206"/>
                  <a:pt x="122621" y="17517"/>
                </a:cubicBezTo>
                <a:cubicBezTo>
                  <a:pt x="122621" y="7828"/>
                  <a:pt x="130449" y="0"/>
                  <a:pt x="140138" y="0"/>
                </a:cubicBezTo>
                <a:lnTo>
                  <a:pt x="166414" y="0"/>
                </a:lnTo>
                <a:cubicBezTo>
                  <a:pt x="180920" y="0"/>
                  <a:pt x="192690" y="11769"/>
                  <a:pt x="192690" y="26276"/>
                </a:cubicBezTo>
                <a:lnTo>
                  <a:pt x="192690" y="105103"/>
                </a:lnTo>
                <a:cubicBezTo>
                  <a:pt x="192690" y="147473"/>
                  <a:pt x="162582" y="182836"/>
                  <a:pt x="122621" y="190938"/>
                </a:cubicBezTo>
                <a:lnTo>
                  <a:pt x="122621" y="201448"/>
                </a:lnTo>
                <a:cubicBezTo>
                  <a:pt x="122621" y="235333"/>
                  <a:pt x="150046" y="262759"/>
                  <a:pt x="183931" y="262759"/>
                </a:cubicBezTo>
                <a:cubicBezTo>
                  <a:pt x="217816" y="262759"/>
                  <a:pt x="245241" y="235333"/>
                  <a:pt x="245241" y="201448"/>
                </a:cubicBezTo>
                <a:lnTo>
                  <a:pt x="245241" y="154644"/>
                </a:lnTo>
                <a:cubicBezTo>
                  <a:pt x="224823" y="147419"/>
                  <a:pt x="210207" y="127985"/>
                  <a:pt x="210207" y="105103"/>
                </a:cubicBezTo>
                <a:cubicBezTo>
                  <a:pt x="210207" y="76091"/>
                  <a:pt x="233746" y="52552"/>
                  <a:pt x="262759" y="52552"/>
                </a:cubicBezTo>
                <a:cubicBezTo>
                  <a:pt x="291772" y="52552"/>
                  <a:pt x="315310" y="76091"/>
                  <a:pt x="315310" y="105103"/>
                </a:cubicBezTo>
                <a:cubicBezTo>
                  <a:pt x="315310" y="127985"/>
                  <a:pt x="300694" y="147473"/>
                  <a:pt x="280276" y="154644"/>
                </a:cubicBezTo>
                <a:lnTo>
                  <a:pt x="280276" y="201448"/>
                </a:lnTo>
                <a:cubicBezTo>
                  <a:pt x="280276" y="254657"/>
                  <a:pt x="237140" y="297793"/>
                  <a:pt x="183931" y="297793"/>
                </a:cubicBezTo>
                <a:cubicBezTo>
                  <a:pt x="130722" y="297793"/>
                  <a:pt x="87586" y="254657"/>
                  <a:pt x="87586" y="201448"/>
                </a:cubicBezTo>
                <a:lnTo>
                  <a:pt x="87586" y="190938"/>
                </a:lnTo>
                <a:cubicBezTo>
                  <a:pt x="47625" y="182836"/>
                  <a:pt x="17517" y="147473"/>
                  <a:pt x="17517" y="105103"/>
                </a:cubicBezTo>
                <a:lnTo>
                  <a:pt x="17517" y="26276"/>
                </a:lnTo>
                <a:close/>
                <a:moveTo>
                  <a:pt x="262759" y="122621"/>
                </a:moveTo>
                <a:cubicBezTo>
                  <a:pt x="272427" y="122621"/>
                  <a:pt x="280276" y="114771"/>
                  <a:pt x="280276" y="105103"/>
                </a:cubicBezTo>
                <a:cubicBezTo>
                  <a:pt x="280276" y="95435"/>
                  <a:pt x="272427" y="87586"/>
                  <a:pt x="262759" y="87586"/>
                </a:cubicBezTo>
                <a:cubicBezTo>
                  <a:pt x="253091" y="87586"/>
                  <a:pt x="245241" y="95435"/>
                  <a:pt x="245241" y="105103"/>
                </a:cubicBezTo>
                <a:cubicBezTo>
                  <a:pt x="245241" y="114771"/>
                  <a:pt x="253091" y="122621"/>
                  <a:pt x="262759" y="122621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53925" y="3195145"/>
            <a:ext cx="2391687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Diagnosis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3268" y="3456736"/>
            <a:ext cx="237300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Symptom &amp; image-based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9928" y="2690648"/>
            <a:ext cx="2615908" cy="1065048"/>
          </a:xfrm>
          <a:custGeom>
            <a:avLst/>
            <a:gdLst/>
            <a:ahLst/>
            <a:cxnLst/>
            <a:rect l="l" t="t" r="r" b="b"/>
            <a:pathLst>
              <a:path w="2615908" h="1065048">
                <a:moveTo>
                  <a:pt x="112107" y="0"/>
                </a:moveTo>
                <a:lnTo>
                  <a:pt x="2503801" y="0"/>
                </a:lnTo>
                <a:cubicBezTo>
                  <a:pt x="2565716" y="0"/>
                  <a:pt x="2615908" y="50192"/>
                  <a:pt x="2615908" y="112107"/>
                </a:cubicBezTo>
                <a:lnTo>
                  <a:pt x="2615908" y="952941"/>
                </a:lnTo>
                <a:cubicBezTo>
                  <a:pt x="2615908" y="1014856"/>
                  <a:pt x="2565716" y="1065048"/>
                  <a:pt x="2503801" y="1065048"/>
                </a:cubicBezTo>
                <a:lnTo>
                  <a:pt x="112107" y="1065048"/>
                </a:lnTo>
                <a:cubicBezTo>
                  <a:pt x="50192" y="1065048"/>
                  <a:pt x="0" y="1014856"/>
                  <a:pt x="0" y="952941"/>
                </a:cubicBezTo>
                <a:lnTo>
                  <a:pt x="0" y="112107"/>
                </a:lnTo>
                <a:cubicBezTo>
                  <a:pt x="0" y="50192"/>
                  <a:pt x="50192" y="0"/>
                  <a:pt x="112107" y="0"/>
                </a:cubicBezTo>
                <a:close/>
              </a:path>
            </a:pathLst>
          </a:custGeom>
          <a:solidFill>
            <a:srgbClr val="FAF5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063925" y="2840129"/>
            <a:ext cx="315310" cy="280276"/>
          </a:xfrm>
          <a:custGeom>
            <a:avLst/>
            <a:gdLst/>
            <a:ahLst/>
            <a:cxnLst/>
            <a:rect l="l" t="t" r="r" b="b"/>
            <a:pathLst>
              <a:path w="315310" h="280276">
                <a:moveTo>
                  <a:pt x="210207" y="78828"/>
                </a:moveTo>
                <a:cubicBezTo>
                  <a:pt x="210207" y="132036"/>
                  <a:pt x="163129" y="175172"/>
                  <a:pt x="105103" y="175172"/>
                </a:cubicBezTo>
                <a:cubicBezTo>
                  <a:pt x="90488" y="175172"/>
                  <a:pt x="76583" y="172435"/>
                  <a:pt x="63938" y="167509"/>
                </a:cubicBezTo>
                <a:lnTo>
                  <a:pt x="19269" y="191157"/>
                </a:lnTo>
                <a:cubicBezTo>
                  <a:pt x="14178" y="193839"/>
                  <a:pt x="7938" y="192909"/>
                  <a:pt x="3832" y="188858"/>
                </a:cubicBezTo>
                <a:cubicBezTo>
                  <a:pt x="-274" y="184807"/>
                  <a:pt x="-1204" y="178512"/>
                  <a:pt x="1533" y="173421"/>
                </a:cubicBezTo>
                <a:lnTo>
                  <a:pt x="21021" y="136634"/>
                </a:lnTo>
                <a:cubicBezTo>
                  <a:pt x="7828" y="120541"/>
                  <a:pt x="0" y="100505"/>
                  <a:pt x="0" y="78828"/>
                </a:cubicBezTo>
                <a:cubicBezTo>
                  <a:pt x="0" y="25619"/>
                  <a:pt x="47078" y="-17517"/>
                  <a:pt x="105103" y="-17517"/>
                </a:cubicBezTo>
                <a:cubicBezTo>
                  <a:pt x="163129" y="-17517"/>
                  <a:pt x="210207" y="25619"/>
                  <a:pt x="210207" y="78828"/>
                </a:cubicBezTo>
                <a:close/>
                <a:moveTo>
                  <a:pt x="210207" y="280276"/>
                </a:moveTo>
                <a:cubicBezTo>
                  <a:pt x="158695" y="280276"/>
                  <a:pt x="115833" y="246281"/>
                  <a:pt x="106855" y="201448"/>
                </a:cubicBezTo>
                <a:cubicBezTo>
                  <a:pt x="172545" y="200627"/>
                  <a:pt x="229640" y="153878"/>
                  <a:pt x="235935" y="90488"/>
                </a:cubicBezTo>
                <a:cubicBezTo>
                  <a:pt x="281535" y="100998"/>
                  <a:pt x="315310" y="138824"/>
                  <a:pt x="315310" y="183931"/>
                </a:cubicBezTo>
                <a:cubicBezTo>
                  <a:pt x="315310" y="205609"/>
                  <a:pt x="307482" y="225644"/>
                  <a:pt x="294290" y="241738"/>
                </a:cubicBezTo>
                <a:lnTo>
                  <a:pt x="313778" y="278524"/>
                </a:lnTo>
                <a:cubicBezTo>
                  <a:pt x="316460" y="283615"/>
                  <a:pt x="315529" y="289856"/>
                  <a:pt x="311478" y="293961"/>
                </a:cubicBezTo>
                <a:cubicBezTo>
                  <a:pt x="307428" y="298067"/>
                  <a:pt x="301132" y="298997"/>
                  <a:pt x="296041" y="296260"/>
                </a:cubicBezTo>
                <a:lnTo>
                  <a:pt x="251372" y="272612"/>
                </a:lnTo>
                <a:cubicBezTo>
                  <a:pt x="238727" y="277539"/>
                  <a:pt x="224823" y="280276"/>
                  <a:pt x="210207" y="280276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022039" y="3195145"/>
            <a:ext cx="2391687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8200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1381" y="3456736"/>
            <a:ext cx="237300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online support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3701" y="3979917"/>
            <a:ext cx="8156028" cy="784772"/>
          </a:xfrm>
          <a:custGeom>
            <a:avLst/>
            <a:gdLst/>
            <a:ahLst/>
            <a:cxnLst/>
            <a:rect l="l" t="t" r="r" b="b"/>
            <a:pathLst>
              <a:path w="8156028" h="784772">
                <a:moveTo>
                  <a:pt x="112113" y="0"/>
                </a:moveTo>
                <a:lnTo>
                  <a:pt x="8043915" y="0"/>
                </a:lnTo>
                <a:cubicBezTo>
                  <a:pt x="8105833" y="0"/>
                  <a:pt x="8156028" y="50195"/>
                  <a:pt x="8156028" y="112113"/>
                </a:cubicBezTo>
                <a:lnTo>
                  <a:pt x="8156028" y="672660"/>
                </a:lnTo>
                <a:cubicBezTo>
                  <a:pt x="8156028" y="734578"/>
                  <a:pt x="8105833" y="784772"/>
                  <a:pt x="8043915" y="784772"/>
                </a:cubicBezTo>
                <a:lnTo>
                  <a:pt x="112113" y="784772"/>
                </a:lnTo>
                <a:cubicBezTo>
                  <a:pt x="50195" y="784772"/>
                  <a:pt x="0" y="734578"/>
                  <a:pt x="0" y="672660"/>
                </a:cubicBezTo>
                <a:lnTo>
                  <a:pt x="0" y="112113"/>
                </a:lnTo>
                <a:cubicBezTo>
                  <a:pt x="0" y="50195"/>
                  <a:pt x="50195" y="0"/>
                  <a:pt x="112113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0" name="Text 18"/>
          <p:cNvSpPr/>
          <p:nvPr/>
        </p:nvSpPr>
        <p:spPr>
          <a:xfrm>
            <a:off x="523182" y="4129398"/>
            <a:ext cx="7931807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Practical &amp; Deployable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182" y="4428359"/>
            <a:ext cx="7922464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1663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real-world solution to modern veterinary healthcare challenges, not just theoretical research.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3701" y="4839430"/>
            <a:ext cx="8156028" cy="1644869"/>
          </a:xfrm>
          <a:custGeom>
            <a:avLst/>
            <a:gdLst/>
            <a:ahLst/>
            <a:cxnLst/>
            <a:rect l="l" t="t" r="r" b="b"/>
            <a:pathLst>
              <a:path w="8156028" h="1868506">
                <a:moveTo>
                  <a:pt x="112110" y="0"/>
                </a:moveTo>
                <a:lnTo>
                  <a:pt x="8043917" y="0"/>
                </a:lnTo>
                <a:cubicBezTo>
                  <a:pt x="8105834" y="0"/>
                  <a:pt x="8156028" y="50194"/>
                  <a:pt x="8156028" y="112110"/>
                </a:cubicBezTo>
                <a:lnTo>
                  <a:pt x="8156028" y="1756395"/>
                </a:lnTo>
                <a:cubicBezTo>
                  <a:pt x="8156028" y="1818312"/>
                  <a:pt x="8105834" y="1868506"/>
                  <a:pt x="8043917" y="1868506"/>
                </a:cubicBezTo>
                <a:lnTo>
                  <a:pt x="112110" y="1868506"/>
                </a:lnTo>
                <a:cubicBezTo>
                  <a:pt x="50194" y="1868506"/>
                  <a:pt x="0" y="1818312"/>
                  <a:pt x="0" y="1756395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485811" y="4914204"/>
            <a:ext cx="779166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Makes PetDoc Different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62733" y="5325241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224221" y="0"/>
                </a:moveTo>
                <a:lnTo>
                  <a:pt x="224221" y="0"/>
                </a:lnTo>
                <a:cubicBezTo>
                  <a:pt x="347971" y="0"/>
                  <a:pt x="448441" y="100470"/>
                  <a:pt x="448441" y="224221"/>
                </a:cubicBezTo>
                <a:lnTo>
                  <a:pt x="448441" y="224221"/>
                </a:lnTo>
                <a:cubicBezTo>
                  <a:pt x="448441" y="347971"/>
                  <a:pt x="347971" y="448441"/>
                  <a:pt x="224221" y="448441"/>
                </a:cubicBezTo>
                <a:lnTo>
                  <a:pt x="224221" y="448441"/>
                </a:lnTo>
                <a:cubicBezTo>
                  <a:pt x="100470" y="448441"/>
                  <a:pt x="0" y="347971"/>
                  <a:pt x="0" y="224221"/>
                </a:cubicBezTo>
                <a:lnTo>
                  <a:pt x="0" y="224221"/>
                </a:lnTo>
                <a:cubicBezTo>
                  <a:pt x="0" y="100470"/>
                  <a:pt x="100470" y="0"/>
                  <a:pt x="224221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1681655" y="5474722"/>
            <a:ext cx="186851" cy="149480"/>
          </a:xfrm>
          <a:custGeom>
            <a:avLst/>
            <a:gdLst/>
            <a:ahLst/>
            <a:cxnLst/>
            <a:rect l="l" t="t" r="r" b="b"/>
            <a:pathLst>
              <a:path w="186851" h="149480">
                <a:moveTo>
                  <a:pt x="93425" y="4671"/>
                </a:moveTo>
                <a:cubicBezTo>
                  <a:pt x="110183" y="4671"/>
                  <a:pt x="123789" y="18277"/>
                  <a:pt x="123789" y="35034"/>
                </a:cubicBezTo>
                <a:cubicBezTo>
                  <a:pt x="123789" y="51792"/>
                  <a:pt x="110183" y="65398"/>
                  <a:pt x="93425" y="65398"/>
                </a:cubicBezTo>
                <a:cubicBezTo>
                  <a:pt x="76667" y="65398"/>
                  <a:pt x="63062" y="51792"/>
                  <a:pt x="63062" y="35034"/>
                </a:cubicBezTo>
                <a:cubicBezTo>
                  <a:pt x="63062" y="18277"/>
                  <a:pt x="76667" y="4671"/>
                  <a:pt x="93425" y="4671"/>
                </a:cubicBezTo>
                <a:close/>
                <a:moveTo>
                  <a:pt x="28028" y="25692"/>
                </a:moveTo>
                <a:cubicBezTo>
                  <a:pt x="39629" y="25692"/>
                  <a:pt x="49048" y="35111"/>
                  <a:pt x="49048" y="46713"/>
                </a:cubicBezTo>
                <a:cubicBezTo>
                  <a:pt x="49048" y="58314"/>
                  <a:pt x="39629" y="67733"/>
                  <a:pt x="28028" y="67733"/>
                </a:cubicBezTo>
                <a:cubicBezTo>
                  <a:pt x="16426" y="67733"/>
                  <a:pt x="7007" y="58314"/>
                  <a:pt x="7007" y="46713"/>
                </a:cubicBezTo>
                <a:cubicBezTo>
                  <a:pt x="7007" y="35111"/>
                  <a:pt x="16426" y="25692"/>
                  <a:pt x="28028" y="25692"/>
                </a:cubicBezTo>
                <a:close/>
                <a:moveTo>
                  <a:pt x="0" y="121453"/>
                </a:moveTo>
                <a:cubicBezTo>
                  <a:pt x="0" y="100812"/>
                  <a:pt x="16729" y="84083"/>
                  <a:pt x="37370" y="84083"/>
                </a:cubicBezTo>
                <a:cubicBezTo>
                  <a:pt x="41107" y="84083"/>
                  <a:pt x="44727" y="84637"/>
                  <a:pt x="48143" y="85659"/>
                </a:cubicBezTo>
                <a:cubicBezTo>
                  <a:pt x="38538" y="96403"/>
                  <a:pt x="32699" y="110592"/>
                  <a:pt x="32699" y="126124"/>
                </a:cubicBezTo>
                <a:lnTo>
                  <a:pt x="32699" y="130795"/>
                </a:lnTo>
                <a:cubicBezTo>
                  <a:pt x="32699" y="134124"/>
                  <a:pt x="33400" y="137277"/>
                  <a:pt x="34655" y="140138"/>
                </a:cubicBezTo>
                <a:lnTo>
                  <a:pt x="9343" y="140138"/>
                </a:lnTo>
                <a:cubicBezTo>
                  <a:pt x="4175" y="140138"/>
                  <a:pt x="0" y="135963"/>
                  <a:pt x="0" y="130795"/>
                </a:cubicBezTo>
                <a:lnTo>
                  <a:pt x="0" y="121453"/>
                </a:lnTo>
                <a:close/>
                <a:moveTo>
                  <a:pt x="152196" y="140138"/>
                </a:moveTo>
                <a:cubicBezTo>
                  <a:pt x="153451" y="137277"/>
                  <a:pt x="154152" y="134124"/>
                  <a:pt x="154152" y="130795"/>
                </a:cubicBezTo>
                <a:lnTo>
                  <a:pt x="154152" y="126124"/>
                </a:lnTo>
                <a:cubicBezTo>
                  <a:pt x="154152" y="110592"/>
                  <a:pt x="148313" y="96403"/>
                  <a:pt x="138707" y="85659"/>
                </a:cubicBezTo>
                <a:cubicBezTo>
                  <a:pt x="142123" y="84637"/>
                  <a:pt x="145743" y="84083"/>
                  <a:pt x="149480" y="84083"/>
                </a:cubicBezTo>
                <a:cubicBezTo>
                  <a:pt x="170122" y="84083"/>
                  <a:pt x="186851" y="100812"/>
                  <a:pt x="186851" y="121453"/>
                </a:cubicBezTo>
                <a:lnTo>
                  <a:pt x="186851" y="130795"/>
                </a:lnTo>
                <a:cubicBezTo>
                  <a:pt x="186851" y="135963"/>
                  <a:pt x="182676" y="140138"/>
                  <a:pt x="177508" y="140138"/>
                </a:cubicBezTo>
                <a:lnTo>
                  <a:pt x="152196" y="140138"/>
                </a:lnTo>
                <a:close/>
                <a:moveTo>
                  <a:pt x="137802" y="46713"/>
                </a:moveTo>
                <a:cubicBezTo>
                  <a:pt x="137802" y="35111"/>
                  <a:pt x="147221" y="25692"/>
                  <a:pt x="158823" y="25692"/>
                </a:cubicBezTo>
                <a:cubicBezTo>
                  <a:pt x="170425" y="25692"/>
                  <a:pt x="179844" y="35111"/>
                  <a:pt x="179844" y="46713"/>
                </a:cubicBezTo>
                <a:cubicBezTo>
                  <a:pt x="179844" y="58314"/>
                  <a:pt x="170425" y="67733"/>
                  <a:pt x="158823" y="67733"/>
                </a:cubicBezTo>
                <a:cubicBezTo>
                  <a:pt x="147221" y="67733"/>
                  <a:pt x="137802" y="58314"/>
                  <a:pt x="137802" y="46713"/>
                </a:cubicBezTo>
                <a:close/>
                <a:moveTo>
                  <a:pt x="46713" y="126124"/>
                </a:moveTo>
                <a:cubicBezTo>
                  <a:pt x="46713" y="100315"/>
                  <a:pt x="67617" y="79411"/>
                  <a:pt x="93425" y="79411"/>
                </a:cubicBezTo>
                <a:cubicBezTo>
                  <a:pt x="119234" y="79411"/>
                  <a:pt x="140138" y="100315"/>
                  <a:pt x="140138" y="126124"/>
                </a:cubicBezTo>
                <a:lnTo>
                  <a:pt x="140138" y="130795"/>
                </a:lnTo>
                <a:cubicBezTo>
                  <a:pt x="140138" y="135963"/>
                  <a:pt x="135963" y="140138"/>
                  <a:pt x="130795" y="140138"/>
                </a:cubicBezTo>
                <a:lnTo>
                  <a:pt x="56055" y="140138"/>
                </a:lnTo>
                <a:cubicBezTo>
                  <a:pt x="50888" y="140138"/>
                  <a:pt x="46713" y="135963"/>
                  <a:pt x="46713" y="130795"/>
                </a:cubicBezTo>
                <a:lnTo>
                  <a:pt x="46713" y="126124"/>
                </a:ln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784" y="5773683"/>
            <a:ext cx="253182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User-Centered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7126" y="5960533"/>
            <a:ext cx="252248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User-centered design focused on pet owners, not just clinics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27494" y="5325241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224221" y="0"/>
                </a:moveTo>
                <a:lnTo>
                  <a:pt x="224221" y="0"/>
                </a:lnTo>
                <a:cubicBezTo>
                  <a:pt x="347971" y="0"/>
                  <a:pt x="448441" y="100470"/>
                  <a:pt x="448441" y="224221"/>
                </a:cubicBezTo>
                <a:lnTo>
                  <a:pt x="448441" y="224221"/>
                </a:lnTo>
                <a:cubicBezTo>
                  <a:pt x="448441" y="347971"/>
                  <a:pt x="347971" y="448441"/>
                  <a:pt x="224221" y="448441"/>
                </a:cubicBezTo>
                <a:lnTo>
                  <a:pt x="224221" y="448441"/>
                </a:lnTo>
                <a:cubicBezTo>
                  <a:pt x="100470" y="448441"/>
                  <a:pt x="0" y="347971"/>
                  <a:pt x="0" y="224221"/>
                </a:cubicBezTo>
                <a:lnTo>
                  <a:pt x="0" y="224221"/>
                </a:lnTo>
                <a:cubicBezTo>
                  <a:pt x="0" y="100470"/>
                  <a:pt x="100470" y="0"/>
                  <a:pt x="224221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9" name="Shape 27"/>
          <p:cNvSpPr/>
          <p:nvPr/>
        </p:nvSpPr>
        <p:spPr>
          <a:xfrm>
            <a:off x="4386317" y="5422462"/>
            <a:ext cx="130795" cy="254000"/>
          </a:xfrm>
          <a:custGeom>
            <a:avLst/>
            <a:gdLst/>
            <a:ahLst/>
            <a:cxnLst/>
            <a:rect l="l" t="t" r="r" b="b"/>
            <a:pathLst>
              <a:path w="130795" h="254000">
                <a:moveTo>
                  <a:pt x="37370" y="-15875"/>
                </a:moveTo>
                <a:cubicBezTo>
                  <a:pt x="42538" y="-15875"/>
                  <a:pt x="46713" y="-8781"/>
                  <a:pt x="46713" y="0"/>
                </a:cubicBezTo>
                <a:lnTo>
                  <a:pt x="46713" y="47625"/>
                </a:lnTo>
                <a:lnTo>
                  <a:pt x="84083" y="47625"/>
                </a:lnTo>
                <a:lnTo>
                  <a:pt x="84083" y="0"/>
                </a:lnTo>
                <a:cubicBezTo>
                  <a:pt x="84083" y="-8781"/>
                  <a:pt x="88258" y="-15875"/>
                  <a:pt x="93425" y="-15875"/>
                </a:cubicBezTo>
                <a:cubicBezTo>
                  <a:pt x="98593" y="-15875"/>
                  <a:pt x="102768" y="-8781"/>
                  <a:pt x="102768" y="0"/>
                </a:cubicBezTo>
                <a:lnTo>
                  <a:pt x="102768" y="47625"/>
                </a:lnTo>
                <a:lnTo>
                  <a:pt x="121453" y="47625"/>
                </a:lnTo>
                <a:cubicBezTo>
                  <a:pt x="126620" y="47625"/>
                  <a:pt x="130795" y="54719"/>
                  <a:pt x="130795" y="63500"/>
                </a:cubicBezTo>
                <a:cubicBezTo>
                  <a:pt x="130795" y="72281"/>
                  <a:pt x="126620" y="79375"/>
                  <a:pt x="121453" y="79375"/>
                </a:cubicBezTo>
                <a:lnTo>
                  <a:pt x="121453" y="111125"/>
                </a:lnTo>
                <a:cubicBezTo>
                  <a:pt x="121453" y="158304"/>
                  <a:pt x="101250" y="197495"/>
                  <a:pt x="74740" y="205036"/>
                </a:cubicBezTo>
                <a:lnTo>
                  <a:pt x="74740" y="238125"/>
                </a:lnTo>
                <a:cubicBezTo>
                  <a:pt x="74740" y="246906"/>
                  <a:pt x="70565" y="254000"/>
                  <a:pt x="65398" y="254000"/>
                </a:cubicBezTo>
                <a:cubicBezTo>
                  <a:pt x="60230" y="254000"/>
                  <a:pt x="56055" y="246906"/>
                  <a:pt x="56055" y="238125"/>
                </a:cubicBezTo>
                <a:lnTo>
                  <a:pt x="56055" y="205036"/>
                </a:lnTo>
                <a:cubicBezTo>
                  <a:pt x="29546" y="197495"/>
                  <a:pt x="9343" y="158304"/>
                  <a:pt x="9343" y="111125"/>
                </a:cubicBezTo>
                <a:lnTo>
                  <a:pt x="9343" y="79375"/>
                </a:lnTo>
                <a:cubicBezTo>
                  <a:pt x="4175" y="79375"/>
                  <a:pt x="0" y="72281"/>
                  <a:pt x="0" y="63500"/>
                </a:cubicBezTo>
                <a:cubicBezTo>
                  <a:pt x="0" y="54719"/>
                  <a:pt x="4175" y="47625"/>
                  <a:pt x="9343" y="47625"/>
                </a:cubicBezTo>
                <a:lnTo>
                  <a:pt x="28028" y="47625"/>
                </a:lnTo>
                <a:lnTo>
                  <a:pt x="28028" y="0"/>
                </a:lnTo>
                <a:cubicBezTo>
                  <a:pt x="28028" y="-8781"/>
                  <a:pt x="32203" y="-15875"/>
                  <a:pt x="37370" y="-15875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30" name="Text 28"/>
          <p:cNvSpPr/>
          <p:nvPr/>
        </p:nvSpPr>
        <p:spPr>
          <a:xfrm>
            <a:off x="3185802" y="5773683"/>
            <a:ext cx="253182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190474" y="5960533"/>
            <a:ext cx="252248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deployment of AI models for actual use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69441" y="5325241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224221" y="0"/>
                </a:moveTo>
                <a:lnTo>
                  <a:pt x="224221" y="0"/>
                </a:lnTo>
                <a:cubicBezTo>
                  <a:pt x="347971" y="0"/>
                  <a:pt x="448441" y="100470"/>
                  <a:pt x="448441" y="224221"/>
                </a:cubicBezTo>
                <a:lnTo>
                  <a:pt x="448441" y="224221"/>
                </a:lnTo>
                <a:cubicBezTo>
                  <a:pt x="448441" y="347971"/>
                  <a:pt x="347971" y="448441"/>
                  <a:pt x="224221" y="448441"/>
                </a:cubicBezTo>
                <a:lnTo>
                  <a:pt x="224221" y="448441"/>
                </a:lnTo>
                <a:cubicBezTo>
                  <a:pt x="100470" y="448441"/>
                  <a:pt x="0" y="347971"/>
                  <a:pt x="0" y="224221"/>
                </a:cubicBezTo>
                <a:lnTo>
                  <a:pt x="0" y="224221"/>
                </a:lnTo>
                <a:cubicBezTo>
                  <a:pt x="0" y="100470"/>
                  <a:pt x="100470" y="0"/>
                  <a:pt x="224221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914445" y="5474722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74740" y="0"/>
                </a:moveTo>
                <a:cubicBezTo>
                  <a:pt x="115990" y="0"/>
                  <a:pt x="149480" y="33490"/>
                  <a:pt x="149480" y="74740"/>
                </a:cubicBezTo>
                <a:cubicBezTo>
                  <a:pt x="149480" y="115990"/>
                  <a:pt x="115990" y="149480"/>
                  <a:pt x="74740" y="149480"/>
                </a:cubicBezTo>
                <a:cubicBezTo>
                  <a:pt x="33490" y="149480"/>
                  <a:pt x="0" y="115990"/>
                  <a:pt x="0" y="74740"/>
                </a:cubicBezTo>
                <a:cubicBezTo>
                  <a:pt x="0" y="33490"/>
                  <a:pt x="33490" y="0"/>
                  <a:pt x="74740" y="0"/>
                </a:cubicBezTo>
                <a:close/>
                <a:moveTo>
                  <a:pt x="67733" y="35034"/>
                </a:moveTo>
                <a:lnTo>
                  <a:pt x="67733" y="74740"/>
                </a:lnTo>
                <a:cubicBezTo>
                  <a:pt x="67733" y="77076"/>
                  <a:pt x="68901" y="79266"/>
                  <a:pt x="70857" y="80579"/>
                </a:cubicBezTo>
                <a:lnTo>
                  <a:pt x="98885" y="99264"/>
                </a:lnTo>
                <a:cubicBezTo>
                  <a:pt x="102096" y="101425"/>
                  <a:pt x="106446" y="100549"/>
                  <a:pt x="108607" y="97308"/>
                </a:cubicBezTo>
                <a:cubicBezTo>
                  <a:pt x="110767" y="94068"/>
                  <a:pt x="109891" y="89747"/>
                  <a:pt x="106651" y="87586"/>
                </a:cubicBezTo>
                <a:lnTo>
                  <a:pt x="81747" y="71003"/>
                </a:lnTo>
                <a:lnTo>
                  <a:pt x="81747" y="35034"/>
                </a:lnTo>
                <a:cubicBezTo>
                  <a:pt x="81747" y="31151"/>
                  <a:pt x="78623" y="28028"/>
                  <a:pt x="74740" y="28028"/>
                </a:cubicBezTo>
                <a:cubicBezTo>
                  <a:pt x="70857" y="28028"/>
                  <a:pt x="67733" y="31151"/>
                  <a:pt x="67733" y="35034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34" name="Text 32"/>
          <p:cNvSpPr/>
          <p:nvPr/>
        </p:nvSpPr>
        <p:spPr>
          <a:xfrm>
            <a:off x="5757723" y="5773683"/>
            <a:ext cx="253182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Access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57723" y="5960533"/>
            <a:ext cx="252248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Accessible platform available 24/7 for all pet owners</a:t>
            </a:r>
            <a:endParaRPr lang="en-US" sz="1600" dirty="0"/>
          </a:p>
        </p:txBody>
      </p:sp>
      <p:pic>
        <p:nvPicPr>
          <p:cNvPr id="36" name="Image 0" descr="https://kimi-web-img.moonshot.cn/img/cdn.mos.cms.futurecdn.net/6259a80af198c9e349d5a30146d8023206a61c99.jpg"/>
          <p:cNvPicPr>
            <a:picLocks noChangeAspect="1"/>
          </p:cNvPicPr>
          <p:nvPr/>
        </p:nvPicPr>
        <p:blipFill>
          <a:blip r:embed="rId3"/>
          <a:srcRect l="34950" r="34950"/>
          <a:stretch/>
        </p:blipFill>
        <p:spPr>
          <a:xfrm>
            <a:off x="8827619" y="1195844"/>
            <a:ext cx="2989609" cy="5272690"/>
          </a:xfrm>
          <a:prstGeom prst="roundRect">
            <a:avLst>
              <a:gd name="adj" fmla="val 3750"/>
            </a:avLst>
          </a:prstGeom>
        </p:spPr>
      </p:pic>
      <p:sp>
        <p:nvSpPr>
          <p:cNvPr id="37" name="Text 34"/>
          <p:cNvSpPr/>
          <p:nvPr/>
        </p:nvSpPr>
        <p:spPr>
          <a:xfrm>
            <a:off x="-243177" y="6618014"/>
            <a:ext cx="11500653" cy="168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2959441" y="2438390"/>
            <a:ext cx="1693327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2D5A87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BEDB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19200"/>
            <a:ext cx="817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38300"/>
            <a:ext cx="8077200" cy="457200"/>
          </a:xfrm>
          <a:custGeom>
            <a:avLst/>
            <a:gdLst/>
            <a:ahLst/>
            <a:cxnLst/>
            <a:rect l="l" t="t" r="r" b="b"/>
            <a:pathLst>
              <a:path w="8077200" h="457200">
                <a:moveTo>
                  <a:pt x="76202" y="0"/>
                </a:moveTo>
                <a:lnTo>
                  <a:pt x="8000998" y="0"/>
                </a:lnTo>
                <a:cubicBezTo>
                  <a:pt x="8043083" y="0"/>
                  <a:pt x="8077200" y="34117"/>
                  <a:pt x="8077200" y="76202"/>
                </a:cubicBezTo>
                <a:lnTo>
                  <a:pt x="8077200" y="380998"/>
                </a:lnTo>
                <a:cubicBezTo>
                  <a:pt x="8077200" y="423083"/>
                  <a:pt x="8043083" y="457200"/>
                  <a:pt x="800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14350" y="179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" y="1752600"/>
            <a:ext cx="509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healthcare is rapidly transforming veterinary services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209800"/>
            <a:ext cx="8077200" cy="457200"/>
          </a:xfrm>
          <a:custGeom>
            <a:avLst/>
            <a:gdLst/>
            <a:ahLst/>
            <a:cxnLst/>
            <a:rect l="l" t="t" r="r" b="b"/>
            <a:pathLst>
              <a:path w="8077200" h="457200">
                <a:moveTo>
                  <a:pt x="76202" y="0"/>
                </a:moveTo>
                <a:lnTo>
                  <a:pt x="8000998" y="0"/>
                </a:lnTo>
                <a:cubicBezTo>
                  <a:pt x="8043083" y="0"/>
                  <a:pt x="8077200" y="34117"/>
                  <a:pt x="8077200" y="76202"/>
                </a:cubicBezTo>
                <a:lnTo>
                  <a:pt x="8077200" y="380998"/>
                </a:lnTo>
                <a:cubicBezTo>
                  <a:pt x="8077200" y="423083"/>
                  <a:pt x="8043083" y="457200"/>
                  <a:pt x="800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143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" y="2324100"/>
            <a:ext cx="4524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Existing solutions are fragmented and incomplete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2781300"/>
            <a:ext cx="8077200" cy="457200"/>
          </a:xfrm>
          <a:custGeom>
            <a:avLst/>
            <a:gdLst/>
            <a:ahLst/>
            <a:cxnLst/>
            <a:rect l="l" t="t" r="r" b="b"/>
            <a:pathLst>
              <a:path w="8077200" h="457200">
                <a:moveTo>
                  <a:pt x="76202" y="0"/>
                </a:moveTo>
                <a:lnTo>
                  <a:pt x="8000998" y="0"/>
                </a:lnTo>
                <a:cubicBezTo>
                  <a:pt x="8043083" y="0"/>
                  <a:pt x="8077200" y="34117"/>
                  <a:pt x="8077200" y="76202"/>
                </a:cubicBezTo>
                <a:lnTo>
                  <a:pt x="8077200" y="380998"/>
                </a:lnTo>
                <a:cubicBezTo>
                  <a:pt x="8077200" y="423083"/>
                  <a:pt x="8043083" y="457200"/>
                  <a:pt x="800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4350" y="2933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2895600"/>
            <a:ext cx="4772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AI/ML techniques are proven effective but not deployed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3352800"/>
            <a:ext cx="8077200" cy="457200"/>
          </a:xfrm>
          <a:custGeom>
            <a:avLst/>
            <a:gdLst/>
            <a:ahLst/>
            <a:cxnLst/>
            <a:rect l="l" t="t" r="r" b="b"/>
            <a:pathLst>
              <a:path w="8077200" h="457200">
                <a:moveTo>
                  <a:pt x="76202" y="0"/>
                </a:moveTo>
                <a:lnTo>
                  <a:pt x="8000998" y="0"/>
                </a:lnTo>
                <a:cubicBezTo>
                  <a:pt x="8043083" y="0"/>
                  <a:pt x="8077200" y="34117"/>
                  <a:pt x="8077200" y="76202"/>
                </a:cubicBezTo>
                <a:lnTo>
                  <a:pt x="8077200" y="380998"/>
                </a:lnTo>
                <a:cubicBezTo>
                  <a:pt x="8077200" y="423083"/>
                  <a:pt x="8043083" y="457200"/>
                  <a:pt x="800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4350" y="3505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3467100"/>
            <a:ext cx="4286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Clear research gap exists for unified platforms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1000" y="4038600"/>
            <a:ext cx="817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PetDoc's Contribution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457700"/>
            <a:ext cx="8077200" cy="457200"/>
          </a:xfrm>
          <a:custGeom>
            <a:avLst/>
            <a:gdLst/>
            <a:ahLst/>
            <a:cxnLst/>
            <a:rect l="l" t="t" r="r" b="b"/>
            <a:pathLst>
              <a:path w="8077200" h="457200">
                <a:moveTo>
                  <a:pt x="76202" y="0"/>
                </a:moveTo>
                <a:lnTo>
                  <a:pt x="8000998" y="0"/>
                </a:lnTo>
                <a:cubicBezTo>
                  <a:pt x="8043083" y="0"/>
                  <a:pt x="8077200" y="34117"/>
                  <a:pt x="8077200" y="76202"/>
                </a:cubicBezTo>
                <a:lnTo>
                  <a:pt x="8077200" y="380998"/>
                </a:lnTo>
                <a:cubicBezTo>
                  <a:pt x="8077200" y="423083"/>
                  <a:pt x="8043083" y="457200"/>
                  <a:pt x="800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4825" y="4610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4572000"/>
            <a:ext cx="5091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Bridges the gap between research and real-world application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029200"/>
            <a:ext cx="8077200" cy="457200"/>
          </a:xfrm>
          <a:custGeom>
            <a:avLst/>
            <a:gdLst/>
            <a:ahLst/>
            <a:cxnLst/>
            <a:rect l="l" t="t" r="r" b="b"/>
            <a:pathLst>
              <a:path w="8077200" h="457200">
                <a:moveTo>
                  <a:pt x="76202" y="0"/>
                </a:moveTo>
                <a:lnTo>
                  <a:pt x="8000998" y="0"/>
                </a:lnTo>
                <a:cubicBezTo>
                  <a:pt x="8043083" y="0"/>
                  <a:pt x="8077200" y="34117"/>
                  <a:pt x="8077200" y="76202"/>
                </a:cubicBezTo>
                <a:lnTo>
                  <a:pt x="8077200" y="380998"/>
                </a:lnTo>
                <a:cubicBezTo>
                  <a:pt x="8077200" y="423083"/>
                  <a:pt x="8043083" y="457200"/>
                  <a:pt x="800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4825" y="5181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" y="5143500"/>
            <a:ext cx="4286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Integrates all essential features in one platform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5600700"/>
            <a:ext cx="8077200" cy="457200"/>
          </a:xfrm>
          <a:custGeom>
            <a:avLst/>
            <a:gdLst/>
            <a:ahLst/>
            <a:cxnLst/>
            <a:rect l="l" t="t" r="r" b="b"/>
            <a:pathLst>
              <a:path w="8077200" h="457200">
                <a:moveTo>
                  <a:pt x="76202" y="0"/>
                </a:moveTo>
                <a:lnTo>
                  <a:pt x="8000998" y="0"/>
                </a:lnTo>
                <a:cubicBezTo>
                  <a:pt x="8043083" y="0"/>
                  <a:pt x="8077200" y="34117"/>
                  <a:pt x="8077200" y="76202"/>
                </a:cubicBezTo>
                <a:lnTo>
                  <a:pt x="8077200" y="380998"/>
                </a:lnTo>
                <a:cubicBezTo>
                  <a:pt x="8077200" y="423083"/>
                  <a:pt x="8043083" y="457200"/>
                  <a:pt x="800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4825" y="5753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" y="5715000"/>
            <a:ext cx="4524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User-centered approach for pet owner accessibility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6172200"/>
            <a:ext cx="8077200" cy="457200"/>
          </a:xfrm>
          <a:custGeom>
            <a:avLst/>
            <a:gdLst/>
            <a:ahLst/>
            <a:cxnLst/>
            <a:rect l="l" t="t" r="r" b="b"/>
            <a:pathLst>
              <a:path w="8077200" h="457200">
                <a:moveTo>
                  <a:pt x="76202" y="0"/>
                </a:moveTo>
                <a:lnTo>
                  <a:pt x="8000998" y="0"/>
                </a:lnTo>
                <a:cubicBezTo>
                  <a:pt x="8043083" y="0"/>
                  <a:pt x="8077200" y="34117"/>
                  <a:pt x="8077200" y="76202"/>
                </a:cubicBezTo>
                <a:lnTo>
                  <a:pt x="8077200" y="380998"/>
                </a:lnTo>
                <a:cubicBezTo>
                  <a:pt x="8077200" y="423083"/>
                  <a:pt x="8043083" y="457200"/>
                  <a:pt x="800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04825" y="6324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" y="6286500"/>
            <a:ext cx="41476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Practical solution to modern veterinary challenges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63000" y="2171700"/>
            <a:ext cx="3048000" cy="2667000"/>
          </a:xfrm>
          <a:custGeom>
            <a:avLst/>
            <a:gdLst/>
            <a:ahLst/>
            <a:cxnLst/>
            <a:rect l="l" t="t" r="r" b="b"/>
            <a:pathLst>
              <a:path w="3048000" h="2667000">
                <a:moveTo>
                  <a:pt x="114308" y="0"/>
                </a:moveTo>
                <a:lnTo>
                  <a:pt x="2933692" y="0"/>
                </a:lnTo>
                <a:cubicBezTo>
                  <a:pt x="2996823" y="0"/>
                  <a:pt x="3048000" y="51177"/>
                  <a:pt x="3048000" y="114308"/>
                </a:cubicBezTo>
                <a:lnTo>
                  <a:pt x="3048000" y="2552692"/>
                </a:lnTo>
                <a:cubicBezTo>
                  <a:pt x="3048000" y="2615823"/>
                  <a:pt x="2996823" y="2667000"/>
                  <a:pt x="2933692" y="2667000"/>
                </a:cubicBezTo>
                <a:lnTo>
                  <a:pt x="114308" y="2667000"/>
                </a:lnTo>
                <a:cubicBezTo>
                  <a:pt x="51177" y="2667000"/>
                  <a:pt x="0" y="2615823"/>
                  <a:pt x="0" y="2552692"/>
                </a:cubicBezTo>
                <a:lnTo>
                  <a:pt x="0" y="114308"/>
                </a:lnTo>
                <a:cubicBezTo>
                  <a:pt x="0" y="51177"/>
                  <a:pt x="51177" y="0"/>
                  <a:pt x="11430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848725" y="2400300"/>
            <a:ext cx="2876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34450" y="3124200"/>
            <a:ext cx="2705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PetDoc = Complete Care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91600" y="3886200"/>
            <a:ext cx="809625" cy="723900"/>
          </a:xfrm>
          <a:custGeom>
            <a:avLst/>
            <a:gdLst/>
            <a:ahLst/>
            <a:cxnLst/>
            <a:rect l="l" t="t" r="r" b="b"/>
            <a:pathLst>
              <a:path w="809625" h="723900">
                <a:moveTo>
                  <a:pt x="76198" y="0"/>
                </a:moveTo>
                <a:lnTo>
                  <a:pt x="733427" y="0"/>
                </a:lnTo>
                <a:cubicBezTo>
                  <a:pt x="775482" y="0"/>
                  <a:pt x="809625" y="34143"/>
                  <a:pt x="809625" y="76198"/>
                </a:cubicBezTo>
                <a:lnTo>
                  <a:pt x="809625" y="647702"/>
                </a:lnTo>
                <a:cubicBezTo>
                  <a:pt x="809625" y="689757"/>
                  <a:pt x="775482" y="723900"/>
                  <a:pt x="7334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283700" y="3962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9039225" y="4229100"/>
            <a:ext cx="71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Intelligence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880600" y="3886200"/>
            <a:ext cx="809625" cy="723900"/>
          </a:xfrm>
          <a:custGeom>
            <a:avLst/>
            <a:gdLst/>
            <a:ahLst/>
            <a:cxnLst/>
            <a:rect l="l" t="t" r="r" b="b"/>
            <a:pathLst>
              <a:path w="809625" h="723900">
                <a:moveTo>
                  <a:pt x="76198" y="0"/>
                </a:moveTo>
                <a:lnTo>
                  <a:pt x="733427" y="0"/>
                </a:lnTo>
                <a:cubicBezTo>
                  <a:pt x="775482" y="0"/>
                  <a:pt x="809625" y="34143"/>
                  <a:pt x="809625" y="76198"/>
                </a:cubicBezTo>
                <a:lnTo>
                  <a:pt x="809625" y="647702"/>
                </a:lnTo>
                <a:cubicBezTo>
                  <a:pt x="809625" y="689757"/>
                  <a:pt x="775482" y="723900"/>
                  <a:pt x="7334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144125" y="3962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928225" y="4229100"/>
            <a:ext cx="71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769601" y="3886200"/>
            <a:ext cx="809625" cy="723900"/>
          </a:xfrm>
          <a:custGeom>
            <a:avLst/>
            <a:gdLst/>
            <a:ahLst/>
            <a:cxnLst/>
            <a:rect l="l" t="t" r="r" b="b"/>
            <a:pathLst>
              <a:path w="809625" h="723900">
                <a:moveTo>
                  <a:pt x="76198" y="0"/>
                </a:moveTo>
                <a:lnTo>
                  <a:pt x="733427" y="0"/>
                </a:lnTo>
                <a:cubicBezTo>
                  <a:pt x="775482" y="0"/>
                  <a:pt x="809625" y="34143"/>
                  <a:pt x="809625" y="76198"/>
                </a:cubicBezTo>
                <a:lnTo>
                  <a:pt x="809625" y="647702"/>
                </a:lnTo>
                <a:cubicBezTo>
                  <a:pt x="809625" y="689757"/>
                  <a:pt x="775482" y="723900"/>
                  <a:pt x="7334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075988" y="3962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28575"/>
                </a:moveTo>
                <a:cubicBezTo>
                  <a:pt x="64740" y="28575"/>
                  <a:pt x="35406" y="54159"/>
                  <a:pt x="29602" y="87823"/>
                </a:cubicBezTo>
                <a:cubicBezTo>
                  <a:pt x="33754" y="86484"/>
                  <a:pt x="38219" y="85725"/>
                  <a:pt x="42863" y="85725"/>
                </a:cubicBezTo>
                <a:lnTo>
                  <a:pt x="50006" y="85725"/>
                </a:lnTo>
                <a:cubicBezTo>
                  <a:pt x="61838" y="85725"/>
                  <a:pt x="71438" y="95324"/>
                  <a:pt x="71438" y="107156"/>
                </a:cubicBezTo>
                <a:lnTo>
                  <a:pt x="71438" y="150019"/>
                </a:lnTo>
                <a:cubicBezTo>
                  <a:pt x="71438" y="161851"/>
                  <a:pt x="61838" y="171450"/>
                  <a:pt x="50006" y="171450"/>
                </a:cubicBezTo>
                <a:lnTo>
                  <a:pt x="42863" y="171450"/>
                </a:lnTo>
                <a:cubicBezTo>
                  <a:pt x="19199" y="171450"/>
                  <a:pt x="0" y="152251"/>
                  <a:pt x="0" y="128588"/>
                </a:cubicBezTo>
                <a:lnTo>
                  <a:pt x="0" y="100013"/>
                </a:lnTo>
                <a:cubicBezTo>
                  <a:pt x="0" y="44782"/>
                  <a:pt x="44782" y="0"/>
                  <a:pt x="100013" y="0"/>
                </a:cubicBezTo>
                <a:cubicBezTo>
                  <a:pt x="155243" y="0"/>
                  <a:pt x="200025" y="44782"/>
                  <a:pt x="200025" y="100013"/>
                </a:cubicBezTo>
                <a:lnTo>
                  <a:pt x="200025" y="175067"/>
                </a:lnTo>
                <a:cubicBezTo>
                  <a:pt x="200025" y="204668"/>
                  <a:pt x="176004" y="228645"/>
                  <a:pt x="146402" y="228645"/>
                </a:cubicBezTo>
                <a:lnTo>
                  <a:pt x="107156" y="228600"/>
                </a:lnTo>
                <a:lnTo>
                  <a:pt x="92869" y="228600"/>
                </a:lnTo>
                <a:cubicBezTo>
                  <a:pt x="81037" y="228600"/>
                  <a:pt x="71437" y="219001"/>
                  <a:pt x="71437" y="207169"/>
                </a:cubicBezTo>
                <a:cubicBezTo>
                  <a:pt x="71437" y="195337"/>
                  <a:pt x="81037" y="185738"/>
                  <a:pt x="92869" y="185738"/>
                </a:cubicBezTo>
                <a:lnTo>
                  <a:pt x="107156" y="185738"/>
                </a:lnTo>
                <a:cubicBezTo>
                  <a:pt x="118988" y="185738"/>
                  <a:pt x="128588" y="195337"/>
                  <a:pt x="128588" y="207169"/>
                </a:cubicBezTo>
                <a:lnTo>
                  <a:pt x="128588" y="207169"/>
                </a:lnTo>
                <a:lnTo>
                  <a:pt x="146447" y="207169"/>
                </a:lnTo>
                <a:cubicBezTo>
                  <a:pt x="164217" y="207169"/>
                  <a:pt x="178594" y="192792"/>
                  <a:pt x="178594" y="175022"/>
                </a:cubicBezTo>
                <a:lnTo>
                  <a:pt x="178594" y="165690"/>
                </a:lnTo>
                <a:cubicBezTo>
                  <a:pt x="172298" y="169352"/>
                  <a:pt x="164976" y="171405"/>
                  <a:pt x="157163" y="171405"/>
                </a:cubicBezTo>
                <a:lnTo>
                  <a:pt x="150019" y="171405"/>
                </a:lnTo>
                <a:cubicBezTo>
                  <a:pt x="138187" y="171405"/>
                  <a:pt x="128588" y="161806"/>
                  <a:pt x="128588" y="149974"/>
                </a:cubicBezTo>
                <a:lnTo>
                  <a:pt x="128588" y="107112"/>
                </a:lnTo>
                <a:cubicBezTo>
                  <a:pt x="128588" y="95280"/>
                  <a:pt x="138187" y="85680"/>
                  <a:pt x="150019" y="85680"/>
                </a:cubicBezTo>
                <a:lnTo>
                  <a:pt x="157163" y="85680"/>
                </a:lnTo>
                <a:cubicBezTo>
                  <a:pt x="161806" y="85680"/>
                  <a:pt x="166226" y="86395"/>
                  <a:pt x="170423" y="87779"/>
                </a:cubicBezTo>
                <a:cubicBezTo>
                  <a:pt x="164619" y="54159"/>
                  <a:pt x="135329" y="28530"/>
                  <a:pt x="100013" y="285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0817226" y="4229100"/>
            <a:ext cx="71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Support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05850" y="5067300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24900" y="54483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52425" y="6400800"/>
            <a:ext cx="114871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05 | Rishat Bin Sultan, Fariha Islam, MD Tamim Hasan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1067</Words>
  <Application>Microsoft Office PowerPoint</Application>
  <PresentationFormat>Widescreen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Alimama ShuHeiTi</vt:lpstr>
      <vt:lpstr>微软雅黑</vt:lpstr>
      <vt:lpstr>Arial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PetDoc Project - Literature Review</dc:title>
  <dc:subject>PetDoc Project - Literature Review</dc:subject>
  <dc:creator>Kimi</dc:creator>
  <cp:lastModifiedBy>Fariha Islam</cp:lastModifiedBy>
  <cp:revision>2</cp:revision>
  <dcterms:created xsi:type="dcterms:W3CDTF">2026-02-28T19:46:45Z</dcterms:created>
  <dcterms:modified xsi:type="dcterms:W3CDTF">2026-03-01T15:48:37Z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{"Label":"PetDoc Project - Literature Review","ContentProducer":"001191110108MACG2KBH8F10000","ProduceID":"19c9f166-1372-80aa-8000-0000e869ca64","ReservedCode1":"","ContentPropagator":"001191110108MACG2KBH8F20000","PropagateID":"19c9f166-1372-80aa-8000-0000e869ca64","ReservedCode2":""}</vt:lpwstr>
  </property>
</Properties>
</file>