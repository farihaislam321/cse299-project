
<file path=[Content_Types].xml><?xml version="1.0" encoding="utf-8"?>
<Types xmlns="http://schemas.openxmlformats.org/package/2006/content-types">
  <Default Extension="bin" ContentType="image/unknown"/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4"/>
  </p:notesMasterIdLst>
  <p:sldIdLst>
    <p:sldId id="273" r:id="rId2"/>
    <p:sldId id="257" r:id="rId3"/>
    <p:sldId id="274" r:id="rId4"/>
    <p:sldId id="259" r:id="rId5"/>
    <p:sldId id="260" r:id="rId6"/>
    <p:sldId id="261" r:id="rId7"/>
    <p:sldId id="262" r:id="rId8"/>
    <p:sldId id="263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90" r:id="rId23"/>
    <p:sldId id="264" r:id="rId24"/>
    <p:sldId id="265" r:id="rId25"/>
    <p:sldId id="266" r:id="rId26"/>
    <p:sldId id="267" r:id="rId27"/>
    <p:sldId id="268" r:id="rId28"/>
    <p:sldId id="269" r:id="rId29"/>
    <p:sldId id="270" r:id="rId30"/>
    <p:sldId id="271" r:id="rId31"/>
    <p:sldId id="288" r:id="rId32"/>
    <p:sldId id="289" r:id="rId33"/>
  </p:sldIdLst>
  <p:sldSz cx="12192000" cy="6858000"/>
  <p:notesSz cx="6858000" cy="12192000"/>
  <p:embeddedFontLst>
    <p:embeddedFont>
      <p:font typeface="Coda" panose="020B0604020202020204" charset="0"/>
      <p:regular r:id="rId35"/>
    </p:embeddedFont>
    <p:embeddedFont>
      <p:font typeface="Quattrocento Sans" panose="020B0502050000020003" pitchFamily="34" charset="0"/>
      <p:regular r:id="rId36"/>
      <p:bold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9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4818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B1203F-F936-B5C4-F8D5-9A28DCCB2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206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D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-599999">
            <a:off x="439733" y="252887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solidFill>
                  <a:srgbClr val="5A4A6A">
                    <a:alpha val="1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🐾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 rot="900000">
            <a:off x="11197035" y="434520"/>
            <a:ext cx="51816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160" dirty="0">
                <a:solidFill>
                  <a:srgbClr val="5A4A6A">
                    <a:alpha val="1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🐾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905000" y="762000"/>
            <a:ext cx="37528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449323" y="5562600"/>
            <a:ext cx="428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5A4A6A">
                    <a:alpha val="2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559628" y="1143000"/>
            <a:ext cx="33909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0" dirty="0">
                <a:solidFill>
                  <a:srgbClr val="5A4A6A">
                    <a:alpha val="1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06168" y="381000"/>
            <a:ext cx="3981450" cy="533400"/>
          </a:xfrm>
          <a:prstGeom prst="roundRect">
            <a:avLst>
              <a:gd name="adj" fmla="val 50000"/>
            </a:avLst>
          </a:prstGeom>
          <a:solidFill>
            <a:srgbClr val="F8C8DC"/>
          </a:solidFill>
          <a:ln/>
        </p:spPr>
      </p:sp>
      <p:sp>
        <p:nvSpPr>
          <p:cNvPr id="8" name="Text 6"/>
          <p:cNvSpPr/>
          <p:nvPr/>
        </p:nvSpPr>
        <p:spPr>
          <a:xfrm>
            <a:off x="4277618" y="495300"/>
            <a:ext cx="428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77271" y="457200"/>
            <a:ext cx="2838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Table of Contents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86055" y="495300"/>
            <a:ext cx="428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🌸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1295400"/>
            <a:ext cx="5257800" cy="609600"/>
          </a:xfrm>
          <a:prstGeom prst="roundRect">
            <a:avLst>
              <a:gd name="adj" fmla="val 25000"/>
            </a:avLst>
          </a:prstGeom>
          <a:solidFill>
            <a:srgbClr val="FFFFFF">
              <a:alpha val="7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00100" y="14097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C8A8E9"/>
          </a:solidFill>
          <a:ln/>
        </p:spPr>
      </p:sp>
      <p:sp>
        <p:nvSpPr>
          <p:cNvPr id="13" name="Text 11"/>
          <p:cNvSpPr/>
          <p:nvPr/>
        </p:nvSpPr>
        <p:spPr>
          <a:xfrm>
            <a:off x="757238" y="14097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95400" y="1466850"/>
            <a:ext cx="1838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5A4A6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🌸 Project Overview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48400" y="1295400"/>
            <a:ext cx="5257800" cy="609600"/>
          </a:xfrm>
          <a:prstGeom prst="roundRect">
            <a:avLst>
              <a:gd name="adj" fmla="val 25000"/>
            </a:avLst>
          </a:prstGeom>
          <a:solidFill>
            <a:srgbClr val="FFFFFF">
              <a:alpha val="7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362700" y="14097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C8A8E9"/>
          </a:solidFill>
          <a:ln/>
        </p:spPr>
      </p:sp>
      <p:sp>
        <p:nvSpPr>
          <p:cNvPr id="17" name="Text 15"/>
          <p:cNvSpPr/>
          <p:nvPr/>
        </p:nvSpPr>
        <p:spPr>
          <a:xfrm>
            <a:off x="6319838" y="14097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0" y="1466850"/>
            <a:ext cx="1304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5A4A6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🎉 Introduction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2019300"/>
            <a:ext cx="5257800" cy="609600"/>
          </a:xfrm>
          <a:prstGeom prst="roundRect">
            <a:avLst>
              <a:gd name="adj" fmla="val 25000"/>
            </a:avLst>
          </a:prstGeom>
          <a:solidFill>
            <a:srgbClr val="FFFFFF">
              <a:alpha val="7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00100" y="21336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C8A8E9"/>
          </a:solidFill>
          <a:ln/>
        </p:spPr>
      </p:sp>
      <p:sp>
        <p:nvSpPr>
          <p:cNvPr id="21" name="Text 19"/>
          <p:cNvSpPr/>
          <p:nvPr/>
        </p:nvSpPr>
        <p:spPr>
          <a:xfrm>
            <a:off x="757238" y="21336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95400" y="2190750"/>
            <a:ext cx="1838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5A4A6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⚠️ Problem Statement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48400" y="2019300"/>
            <a:ext cx="5257800" cy="609600"/>
          </a:xfrm>
          <a:prstGeom prst="roundRect">
            <a:avLst>
              <a:gd name="adj" fmla="val 25000"/>
            </a:avLst>
          </a:prstGeom>
          <a:solidFill>
            <a:srgbClr val="FFFFFF">
              <a:alpha val="7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362700" y="21336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C8A8E9"/>
          </a:solidFill>
          <a:ln/>
        </p:spPr>
      </p:sp>
      <p:sp>
        <p:nvSpPr>
          <p:cNvPr id="25" name="Text 23"/>
          <p:cNvSpPr/>
          <p:nvPr/>
        </p:nvSpPr>
        <p:spPr>
          <a:xfrm>
            <a:off x="6319838" y="21336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58000" y="2190750"/>
            <a:ext cx="1304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5A4A6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✨ Our Solution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85800" y="2743200"/>
            <a:ext cx="5257800" cy="609600"/>
          </a:xfrm>
          <a:prstGeom prst="roundRect">
            <a:avLst>
              <a:gd name="adj" fmla="val 25000"/>
            </a:avLst>
          </a:prstGeom>
          <a:solidFill>
            <a:srgbClr val="FFFFFF">
              <a:alpha val="7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00100" y="28575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C8A8E9"/>
          </a:solidFill>
          <a:ln/>
        </p:spPr>
      </p:sp>
      <p:sp>
        <p:nvSpPr>
          <p:cNvPr id="29" name="Text 27"/>
          <p:cNvSpPr/>
          <p:nvPr/>
        </p:nvSpPr>
        <p:spPr>
          <a:xfrm>
            <a:off x="757238" y="28575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95400" y="2914650"/>
            <a:ext cx="116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5A4A6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🎯 Objectives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48400" y="2743200"/>
            <a:ext cx="5257800" cy="609600"/>
          </a:xfrm>
          <a:prstGeom prst="roundRect">
            <a:avLst>
              <a:gd name="adj" fmla="val 25000"/>
            </a:avLst>
          </a:prstGeom>
          <a:solidFill>
            <a:srgbClr val="FFFFFF">
              <a:alpha val="7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362700" y="28575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C8A8E9"/>
          </a:solidFill>
          <a:ln/>
        </p:spPr>
      </p:sp>
      <p:sp>
        <p:nvSpPr>
          <p:cNvPr id="33" name="Text 31"/>
          <p:cNvSpPr/>
          <p:nvPr/>
        </p:nvSpPr>
        <p:spPr>
          <a:xfrm>
            <a:off x="6319838" y="28575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58000" y="2914650"/>
            <a:ext cx="1924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5A4A6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🏗️ System Architecture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85800" y="3467100"/>
            <a:ext cx="5257800" cy="609600"/>
          </a:xfrm>
          <a:prstGeom prst="roundRect">
            <a:avLst>
              <a:gd name="adj" fmla="val 25000"/>
            </a:avLst>
          </a:prstGeom>
          <a:solidFill>
            <a:srgbClr val="FFFFFF">
              <a:alpha val="7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00100" y="35814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C8A8E9"/>
          </a:solidFill>
          <a:ln/>
        </p:spPr>
      </p:sp>
      <p:sp>
        <p:nvSpPr>
          <p:cNvPr id="37" name="Text 35"/>
          <p:cNvSpPr/>
          <p:nvPr/>
        </p:nvSpPr>
        <p:spPr>
          <a:xfrm>
            <a:off x="757238" y="35814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295400" y="3638550"/>
            <a:ext cx="136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5A4A6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📋 Methodology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48400" y="3467100"/>
            <a:ext cx="5257800" cy="609600"/>
          </a:xfrm>
          <a:prstGeom prst="roundRect">
            <a:avLst>
              <a:gd name="adj" fmla="val 25000"/>
            </a:avLst>
          </a:prstGeom>
          <a:solidFill>
            <a:srgbClr val="FFFFFF">
              <a:alpha val="7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362700" y="35814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C8A8E9"/>
          </a:solidFill>
          <a:ln/>
        </p:spPr>
      </p:sp>
      <p:sp>
        <p:nvSpPr>
          <p:cNvPr id="41" name="Text 39"/>
          <p:cNvSpPr/>
          <p:nvPr/>
        </p:nvSpPr>
        <p:spPr>
          <a:xfrm>
            <a:off x="6319838" y="35814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858000" y="3638550"/>
            <a:ext cx="157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5A4A6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💻 Implementation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85800" y="4191000"/>
            <a:ext cx="5257800" cy="609600"/>
          </a:xfrm>
          <a:prstGeom prst="roundRect">
            <a:avLst>
              <a:gd name="adj" fmla="val 25000"/>
            </a:avLst>
          </a:prstGeom>
          <a:solidFill>
            <a:srgbClr val="FFFFFF">
              <a:alpha val="7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00100" y="43053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C8A8E9"/>
          </a:solidFill>
          <a:ln/>
        </p:spPr>
      </p:sp>
      <p:sp>
        <p:nvSpPr>
          <p:cNvPr id="45" name="Text 43"/>
          <p:cNvSpPr/>
          <p:nvPr/>
        </p:nvSpPr>
        <p:spPr>
          <a:xfrm>
            <a:off x="757238" y="43053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295400" y="4362450"/>
            <a:ext cx="1352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5A4A6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📈 Performance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248400" y="4191000"/>
            <a:ext cx="5257800" cy="609600"/>
          </a:xfrm>
          <a:prstGeom prst="roundRect">
            <a:avLst>
              <a:gd name="adj" fmla="val 25000"/>
            </a:avLst>
          </a:prstGeom>
          <a:solidFill>
            <a:srgbClr val="FFFFFF">
              <a:alpha val="70196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362700" y="43053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C8A8E9"/>
          </a:solidFill>
          <a:ln/>
        </p:spPr>
      </p:sp>
      <p:sp>
        <p:nvSpPr>
          <p:cNvPr id="49" name="Text 47"/>
          <p:cNvSpPr/>
          <p:nvPr/>
        </p:nvSpPr>
        <p:spPr>
          <a:xfrm>
            <a:off x="6319838" y="43053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858000" y="4362450"/>
            <a:ext cx="1219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5A4A6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🧗 Challenges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85800" y="4914900"/>
            <a:ext cx="5257800" cy="609600"/>
          </a:xfrm>
          <a:prstGeom prst="roundRect">
            <a:avLst>
              <a:gd name="adj" fmla="val 25000"/>
            </a:avLst>
          </a:prstGeom>
          <a:solidFill>
            <a:srgbClr val="FFFFFF">
              <a:alpha val="70196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00100" y="50292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C8A8E9"/>
          </a:solidFill>
          <a:ln/>
        </p:spPr>
      </p:sp>
      <p:sp>
        <p:nvSpPr>
          <p:cNvPr id="53" name="Text 51"/>
          <p:cNvSpPr/>
          <p:nvPr/>
        </p:nvSpPr>
        <p:spPr>
          <a:xfrm>
            <a:off x="757238" y="50292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295400" y="5086350"/>
            <a:ext cx="1209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5A4A6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⚠️ Limitations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248400" y="4914900"/>
            <a:ext cx="5257800" cy="609600"/>
          </a:xfrm>
          <a:prstGeom prst="roundRect">
            <a:avLst>
              <a:gd name="adj" fmla="val 25000"/>
            </a:avLst>
          </a:prstGeom>
          <a:solidFill>
            <a:srgbClr val="FFFFFF">
              <a:alpha val="70196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362700" y="50292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C8A8E9"/>
          </a:solidFill>
          <a:ln/>
        </p:spPr>
      </p:sp>
      <p:sp>
        <p:nvSpPr>
          <p:cNvPr id="57" name="Text 55"/>
          <p:cNvSpPr/>
          <p:nvPr/>
        </p:nvSpPr>
        <p:spPr>
          <a:xfrm>
            <a:off x="6319838" y="50292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858000" y="5086350"/>
            <a:ext cx="127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5A4A6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🚀 Future Work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85800" y="5638800"/>
            <a:ext cx="5257800" cy="609600"/>
          </a:xfrm>
          <a:prstGeom prst="roundRect">
            <a:avLst>
              <a:gd name="adj" fmla="val 25000"/>
            </a:avLst>
          </a:prstGeom>
          <a:solidFill>
            <a:srgbClr val="FFFFFF">
              <a:alpha val="70196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00100" y="57531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C8A8E9"/>
          </a:solidFill>
          <a:ln/>
        </p:spPr>
      </p:sp>
      <p:sp>
        <p:nvSpPr>
          <p:cNvPr id="61" name="Text 59"/>
          <p:cNvSpPr/>
          <p:nvPr/>
        </p:nvSpPr>
        <p:spPr>
          <a:xfrm>
            <a:off x="757238" y="57531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295400" y="5810250"/>
            <a:ext cx="1219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5A4A6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🎉 Conclusion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248400" y="5638800"/>
            <a:ext cx="5257800" cy="609600"/>
          </a:xfrm>
          <a:prstGeom prst="roundRect">
            <a:avLst>
              <a:gd name="adj" fmla="val 25000"/>
            </a:avLst>
          </a:prstGeom>
          <a:solidFill>
            <a:srgbClr val="FFFFFF">
              <a:alpha val="70196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6362700" y="57531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C8A8E9"/>
          </a:solidFill>
          <a:ln/>
        </p:spPr>
      </p:sp>
      <p:sp>
        <p:nvSpPr>
          <p:cNvPr id="65" name="Text 63"/>
          <p:cNvSpPr/>
          <p:nvPr/>
        </p:nvSpPr>
        <p:spPr>
          <a:xfrm>
            <a:off x="6319838" y="57531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858000" y="5810250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5A4A6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📚 References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0" y="6400800"/>
            <a:ext cx="12192000" cy="457200"/>
          </a:xfrm>
          <a:prstGeom prst="roundRect">
            <a:avLst>
              <a:gd name="adj" fmla="val 0"/>
            </a:avLst>
          </a:prstGeom>
          <a:solidFill>
            <a:srgbClr val="FADADD"/>
          </a:solidFill>
          <a:ln/>
        </p:spPr>
      </p:sp>
      <p:sp>
        <p:nvSpPr>
          <p:cNvPr id="68" name="Text 66"/>
          <p:cNvSpPr/>
          <p:nvPr/>
        </p:nvSpPr>
        <p:spPr>
          <a:xfrm>
            <a:off x="304800" y="6515100"/>
            <a:ext cx="581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🐾 Group 05 | Rishat Bin Sultan, Fariha Islam, Nafia Haque Muskan, MD Tamim Hasan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11677948" y="651510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💜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B237ABD-E4AF-743F-2DA6-1684E77E2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538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D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-900000">
            <a:off x="328964" y="191756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solidFill>
                  <a:srgbClr val="5A4A6A">
                    <a:alpha val="1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🐾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 rot="1199999">
            <a:off x="11089609" y="376624"/>
            <a:ext cx="51816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160" dirty="0">
                <a:solidFill>
                  <a:srgbClr val="5A4A6A">
                    <a:alpha val="1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🐾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714500" y="857250"/>
            <a:ext cx="37528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0" dirty="0">
                <a:solidFill>
                  <a:srgbClr val="5A4A6A">
                    <a:alpha val="2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39823" y="5657850"/>
            <a:ext cx="428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45378" y="1047750"/>
            <a:ext cx="33909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72074" y="381000"/>
            <a:ext cx="3448050" cy="533400"/>
          </a:xfrm>
          <a:prstGeom prst="roundRect">
            <a:avLst>
              <a:gd name="adj" fmla="val 50000"/>
            </a:avLst>
          </a:prstGeom>
          <a:solidFill>
            <a:srgbClr val="F8C8DC"/>
          </a:solidFill>
          <a:ln/>
        </p:spPr>
      </p:sp>
      <p:sp>
        <p:nvSpPr>
          <p:cNvPr id="8" name="Text 6"/>
          <p:cNvSpPr/>
          <p:nvPr/>
        </p:nvSpPr>
        <p:spPr>
          <a:xfrm>
            <a:off x="4543524" y="495300"/>
            <a:ext cx="428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43177" y="457200"/>
            <a:ext cx="2305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I. Introduction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20149" y="495300"/>
            <a:ext cx="428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🐾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1000" y="981075"/>
            <a:ext cx="6724650" cy="857250"/>
          </a:xfrm>
          <a:prstGeom prst="roundRect">
            <a:avLst>
              <a:gd name="adj" fmla="val 1777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3400" y="1133475"/>
            <a:ext cx="533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❤️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40110" y="1133475"/>
            <a:ext cx="4333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Pets in Our Lives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40110" y="1438275"/>
            <a:ext cx="52082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Essential companions providing love, emotional support, and joy</a:t>
            </a:r>
            <a:endParaRPr lang="en-US" sz="1400" b="1" dirty="0"/>
          </a:p>
        </p:txBody>
      </p:sp>
      <p:sp>
        <p:nvSpPr>
          <p:cNvPr id="15" name="Shape 13"/>
          <p:cNvSpPr/>
          <p:nvPr/>
        </p:nvSpPr>
        <p:spPr>
          <a:xfrm>
            <a:off x="381000" y="1952625"/>
            <a:ext cx="6724650" cy="857250"/>
          </a:xfrm>
          <a:prstGeom prst="roundRect">
            <a:avLst>
              <a:gd name="adj" fmla="val 1777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3400" y="2105025"/>
            <a:ext cx="533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⚠️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40110" y="2105025"/>
            <a:ext cx="3762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Healthcare Challenges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40110" y="2409825"/>
            <a:ext cx="483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Geographic barriers, high costs, limited clinic availability</a:t>
            </a:r>
            <a:endParaRPr lang="en-US" sz="1400" b="1" dirty="0"/>
          </a:p>
        </p:txBody>
      </p:sp>
      <p:sp>
        <p:nvSpPr>
          <p:cNvPr id="19" name="Shape 17"/>
          <p:cNvSpPr/>
          <p:nvPr/>
        </p:nvSpPr>
        <p:spPr>
          <a:xfrm>
            <a:off x="381000" y="2924175"/>
            <a:ext cx="6724650" cy="857250"/>
          </a:xfrm>
          <a:prstGeom prst="roundRect">
            <a:avLst>
              <a:gd name="adj" fmla="val 1777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3400" y="3076575"/>
            <a:ext cx="533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🔍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40110" y="3076575"/>
            <a:ext cx="3933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Early Detection Gap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40110" y="3381375"/>
            <a:ext cx="47619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Symptoms often missed due to lack of medical knowledge</a:t>
            </a:r>
            <a:endParaRPr lang="en-US" sz="1400" b="1" dirty="0"/>
          </a:p>
        </p:txBody>
      </p:sp>
      <p:sp>
        <p:nvSpPr>
          <p:cNvPr id="23" name="Shape 21"/>
          <p:cNvSpPr/>
          <p:nvPr/>
        </p:nvSpPr>
        <p:spPr>
          <a:xfrm>
            <a:off x="381000" y="3895725"/>
            <a:ext cx="6724650" cy="857250"/>
          </a:xfrm>
          <a:prstGeom prst="roundRect">
            <a:avLst>
              <a:gd name="adj" fmla="val 1777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33400" y="4048125"/>
            <a:ext cx="533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💡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40110" y="4048125"/>
            <a:ext cx="390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Technology Solution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40109" y="4352925"/>
            <a:ext cx="465311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+ online services enable intelligent healthcare platforms</a:t>
            </a:r>
            <a:endParaRPr lang="en-US" sz="1400" b="1" dirty="0"/>
          </a:p>
        </p:txBody>
      </p:sp>
      <p:sp>
        <p:nvSpPr>
          <p:cNvPr id="27" name="Shape 25"/>
          <p:cNvSpPr/>
          <p:nvPr/>
        </p:nvSpPr>
        <p:spPr>
          <a:xfrm>
            <a:off x="381000" y="4867275"/>
            <a:ext cx="6724650" cy="857250"/>
          </a:xfrm>
          <a:prstGeom prst="roundRect">
            <a:avLst>
              <a:gd name="adj" fmla="val 1777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33400" y="5019675"/>
            <a:ext cx="533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🎯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40110" y="5019675"/>
            <a:ext cx="5010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PetDoc Mission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40109" y="5324475"/>
            <a:ext cx="58614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Integrated system combining product purchasing with AI disease detection</a:t>
            </a:r>
            <a:endParaRPr lang="en-US" sz="1400" b="1" dirty="0"/>
          </a:p>
        </p:txBody>
      </p:sp>
      <p:sp>
        <p:nvSpPr>
          <p:cNvPr id="31" name="Shape 29"/>
          <p:cNvSpPr/>
          <p:nvPr/>
        </p:nvSpPr>
        <p:spPr>
          <a:xfrm>
            <a:off x="7349530" y="1562100"/>
            <a:ext cx="4438650" cy="3009900"/>
          </a:xfrm>
          <a:prstGeom prst="roundRect">
            <a:avLst>
              <a:gd name="adj" fmla="val 7595"/>
            </a:avLst>
          </a:prstGeom>
          <a:solidFill>
            <a:srgbClr val="000000">
              <a:alpha val="0"/>
            </a:srgbClr>
          </a:solidFill>
          <a:ln w="50800">
            <a:solidFill>
              <a:srgbClr val="B5E6D9"/>
            </a:solidFill>
            <a:prstDash val="solid"/>
          </a:ln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32" name="Image 0" descr="https://kimi-web-img.moonshot.cn/img/thumbs.dreamstime.com/ffc0b8133bc072733407d142ec1e8ca88e30e378.jpg"/>
          <p:cNvPicPr>
            <a:picLocks noChangeAspect="1"/>
          </p:cNvPicPr>
          <p:nvPr/>
        </p:nvPicPr>
        <p:blipFill>
          <a:blip r:embed="rId3"/>
          <a:srcRect l="579" r="579"/>
          <a:stretch/>
        </p:blipFill>
        <p:spPr>
          <a:xfrm>
            <a:off x="7368580" y="1581150"/>
            <a:ext cx="4400550" cy="2971800"/>
          </a:xfrm>
          <a:prstGeom prst="roundRect">
            <a:avLst>
              <a:gd name="adj" fmla="val 7692"/>
            </a:avLst>
          </a:prstGeom>
        </p:spPr>
      </p:pic>
      <p:sp>
        <p:nvSpPr>
          <p:cNvPr id="33" name="Shape 30"/>
          <p:cNvSpPr/>
          <p:nvPr/>
        </p:nvSpPr>
        <p:spPr>
          <a:xfrm>
            <a:off x="8568928" y="4743450"/>
            <a:ext cx="2000250" cy="419100"/>
          </a:xfrm>
          <a:prstGeom prst="roundRect">
            <a:avLst>
              <a:gd name="adj" fmla="val 50000"/>
            </a:avLst>
          </a:prstGeom>
          <a:solidFill>
            <a:srgbClr val="B5E6D9"/>
          </a:solidFill>
          <a:ln/>
        </p:spPr>
      </p:sp>
      <p:sp>
        <p:nvSpPr>
          <p:cNvPr id="34" name="Text 31"/>
          <p:cNvSpPr/>
          <p:nvPr/>
        </p:nvSpPr>
        <p:spPr>
          <a:xfrm>
            <a:off x="8797528" y="4832352"/>
            <a:ext cx="1632148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5A8A7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🏠 Pets = Family 💕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0" y="6400800"/>
            <a:ext cx="12192000" cy="457200"/>
          </a:xfrm>
          <a:prstGeom prst="roundRect">
            <a:avLst>
              <a:gd name="adj" fmla="val 0"/>
            </a:avLst>
          </a:prstGeom>
          <a:solidFill>
            <a:srgbClr val="FADADD"/>
          </a:solidFill>
          <a:ln/>
        </p:spPr>
      </p:sp>
      <p:sp>
        <p:nvSpPr>
          <p:cNvPr id="36" name="Text 33"/>
          <p:cNvSpPr/>
          <p:nvPr/>
        </p:nvSpPr>
        <p:spPr>
          <a:xfrm>
            <a:off x="304800" y="6515100"/>
            <a:ext cx="581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🐾 Group 05 | Rishat Bin Sultan, Fariha Islam, Nafia Haque Muskan, MD Tamim Hasan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11677948" y="651510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🌸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D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-900000">
            <a:off x="328964" y="191756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solidFill>
                  <a:srgbClr val="5A4A6A">
                    <a:alpha val="1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🐾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 rot="1199999">
            <a:off x="11089609" y="376626"/>
            <a:ext cx="51816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160" dirty="0">
                <a:solidFill>
                  <a:srgbClr val="5A4A6A">
                    <a:alpha val="1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🐾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714500" y="857250"/>
            <a:ext cx="37528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39823" y="5657850"/>
            <a:ext cx="428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45378" y="1047750"/>
            <a:ext cx="33909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0" dirty="0">
                <a:solidFill>
                  <a:srgbClr val="5A4A6A">
                    <a:alpha val="1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785692" y="381000"/>
            <a:ext cx="4619625" cy="533400"/>
          </a:xfrm>
          <a:prstGeom prst="roundRect">
            <a:avLst>
              <a:gd name="adj" fmla="val 50000"/>
            </a:avLst>
          </a:prstGeom>
          <a:solidFill>
            <a:srgbClr val="F8C8DC"/>
          </a:solidFill>
          <a:ln/>
        </p:spPr>
      </p:sp>
      <p:sp>
        <p:nvSpPr>
          <p:cNvPr id="8" name="Text 6"/>
          <p:cNvSpPr/>
          <p:nvPr/>
        </p:nvSpPr>
        <p:spPr>
          <a:xfrm>
            <a:off x="3957142" y="495300"/>
            <a:ext cx="428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⚠️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56795" y="457200"/>
            <a:ext cx="3476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II. Problem Statement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06532" y="495300"/>
            <a:ext cx="428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🐾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1562100"/>
            <a:ext cx="4438650" cy="3009900"/>
          </a:xfrm>
          <a:prstGeom prst="roundRect">
            <a:avLst>
              <a:gd name="adj" fmla="val 7595"/>
            </a:avLst>
          </a:prstGeom>
          <a:solidFill>
            <a:srgbClr val="000000">
              <a:alpha val="0"/>
            </a:srgbClr>
          </a:solidFill>
          <a:ln w="50800">
            <a:solidFill>
              <a:srgbClr val="F8C8DC"/>
            </a:solidFill>
            <a:prstDash val="solid"/>
          </a:ln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12" name="Image 0" descr="https://kimi-web-img.moonshot.cn/img/thumbs.dreamstime.com/3d259fd602eb5a10c52b0670e80bdc83425a40f7.jpg"/>
          <p:cNvPicPr>
            <a:picLocks noChangeAspect="1"/>
          </p:cNvPicPr>
          <p:nvPr/>
        </p:nvPicPr>
        <p:blipFill>
          <a:blip r:embed="rId3"/>
          <a:srcRect t="16234" b="16234"/>
          <a:stretch/>
        </p:blipFill>
        <p:spPr>
          <a:xfrm>
            <a:off x="419100" y="1581150"/>
            <a:ext cx="4400550" cy="2971800"/>
          </a:xfrm>
          <a:prstGeom prst="roundRect">
            <a:avLst>
              <a:gd name="adj" fmla="val 7692"/>
            </a:avLst>
          </a:prstGeom>
        </p:spPr>
      </p:pic>
      <p:sp>
        <p:nvSpPr>
          <p:cNvPr id="13" name="Shape 10"/>
          <p:cNvSpPr/>
          <p:nvPr/>
        </p:nvSpPr>
        <p:spPr>
          <a:xfrm>
            <a:off x="1107777" y="4743450"/>
            <a:ext cx="3028950" cy="419100"/>
          </a:xfrm>
          <a:prstGeom prst="roundRect">
            <a:avLst>
              <a:gd name="adj" fmla="val 50000"/>
            </a:avLst>
          </a:prstGeom>
          <a:solidFill>
            <a:srgbClr val="FADADD"/>
          </a:solidFill>
          <a:ln/>
        </p:spPr>
      </p:sp>
      <p:sp>
        <p:nvSpPr>
          <p:cNvPr id="14" name="Text 11"/>
          <p:cNvSpPr/>
          <p:nvPr/>
        </p:nvSpPr>
        <p:spPr>
          <a:xfrm>
            <a:off x="1336377" y="4832352"/>
            <a:ext cx="2655491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😿 We Need a Better Solution! 🆘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090121" y="981075"/>
            <a:ext cx="6724650" cy="857250"/>
          </a:xfrm>
          <a:prstGeom prst="roundRect">
            <a:avLst>
              <a:gd name="adj" fmla="val 1777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242521" y="1133475"/>
            <a:ext cx="533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🏙️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749230" y="1133475"/>
            <a:ext cx="3990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Urban Concentration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749230" y="1438275"/>
            <a:ext cx="477725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Veterinary facilities mainly in cities, rural areas underserved</a:t>
            </a:r>
            <a:endParaRPr lang="en-US" sz="1400" b="1" dirty="0"/>
          </a:p>
        </p:txBody>
      </p:sp>
      <p:sp>
        <p:nvSpPr>
          <p:cNvPr id="19" name="Shape 16"/>
          <p:cNvSpPr/>
          <p:nvPr/>
        </p:nvSpPr>
        <p:spPr>
          <a:xfrm>
            <a:off x="5090121" y="1952625"/>
            <a:ext cx="6724650" cy="857250"/>
          </a:xfrm>
          <a:prstGeom prst="roundRect">
            <a:avLst>
              <a:gd name="adj" fmla="val 1777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242521" y="2105025"/>
            <a:ext cx="533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💰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749230" y="2105025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High Costs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749229" y="2409825"/>
            <a:ext cx="466839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Expensive consultations limit access for many pet owners</a:t>
            </a:r>
            <a:endParaRPr lang="en-US" sz="1400" b="1" dirty="0"/>
          </a:p>
        </p:txBody>
      </p:sp>
      <p:sp>
        <p:nvSpPr>
          <p:cNvPr id="23" name="Shape 20"/>
          <p:cNvSpPr/>
          <p:nvPr/>
        </p:nvSpPr>
        <p:spPr>
          <a:xfrm>
            <a:off x="5090121" y="2924175"/>
            <a:ext cx="6724650" cy="857250"/>
          </a:xfrm>
          <a:prstGeom prst="roundRect">
            <a:avLst>
              <a:gd name="adj" fmla="val 1777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242521" y="3076575"/>
            <a:ext cx="533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⏰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749230" y="3076575"/>
            <a:ext cx="3590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Limited Availability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749230" y="3381375"/>
            <a:ext cx="443523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Busy schedules and few clinics create access barriers</a:t>
            </a:r>
            <a:endParaRPr lang="en-US" sz="1400" b="1" dirty="0"/>
          </a:p>
        </p:txBody>
      </p:sp>
      <p:sp>
        <p:nvSpPr>
          <p:cNvPr id="27" name="Shape 24"/>
          <p:cNvSpPr/>
          <p:nvPr/>
        </p:nvSpPr>
        <p:spPr>
          <a:xfrm>
            <a:off x="5090121" y="3895725"/>
            <a:ext cx="6724650" cy="857250"/>
          </a:xfrm>
          <a:prstGeom prst="roundRect">
            <a:avLst>
              <a:gd name="adj" fmla="val 1777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242521" y="4048125"/>
            <a:ext cx="533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😰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749230" y="4048125"/>
            <a:ext cx="4314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Late Detection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749230" y="4352925"/>
            <a:ext cx="52859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Owners miss early symptoms due to limited medical knowledge</a:t>
            </a:r>
            <a:endParaRPr lang="en-US" sz="1400" b="1" dirty="0"/>
          </a:p>
        </p:txBody>
      </p:sp>
      <p:sp>
        <p:nvSpPr>
          <p:cNvPr id="31" name="Shape 28"/>
          <p:cNvSpPr/>
          <p:nvPr/>
        </p:nvSpPr>
        <p:spPr>
          <a:xfrm>
            <a:off x="5090121" y="4867275"/>
            <a:ext cx="6724650" cy="857250"/>
          </a:xfrm>
          <a:prstGeom prst="roundRect">
            <a:avLst>
              <a:gd name="adj" fmla="val 1777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5242521" y="5019675"/>
            <a:ext cx="533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📱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749230" y="5019675"/>
            <a:ext cx="4257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Platform Limitations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749230" y="5324475"/>
            <a:ext cx="528596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Existing platforms only offer sales/scheduling, no AI diagnostics</a:t>
            </a:r>
            <a:endParaRPr lang="en-US" sz="1400" b="1" dirty="0"/>
          </a:p>
        </p:txBody>
      </p:sp>
      <p:sp>
        <p:nvSpPr>
          <p:cNvPr id="35" name="Shape 32"/>
          <p:cNvSpPr/>
          <p:nvPr/>
        </p:nvSpPr>
        <p:spPr>
          <a:xfrm>
            <a:off x="0" y="6400800"/>
            <a:ext cx="12192000" cy="457200"/>
          </a:xfrm>
          <a:prstGeom prst="roundRect">
            <a:avLst>
              <a:gd name="adj" fmla="val 0"/>
            </a:avLst>
          </a:prstGeom>
          <a:solidFill>
            <a:srgbClr val="FADADD"/>
          </a:solidFill>
          <a:ln/>
        </p:spPr>
      </p:sp>
      <p:sp>
        <p:nvSpPr>
          <p:cNvPr id="36" name="Text 33"/>
          <p:cNvSpPr/>
          <p:nvPr/>
        </p:nvSpPr>
        <p:spPr>
          <a:xfrm>
            <a:off x="304800" y="6515100"/>
            <a:ext cx="581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🐾 Group 05 | Rishat Bin Sultan, Fariha Islam, Nafia Haque Muskan, MD Tamim Hasan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11677948" y="651510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💔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D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-900000">
            <a:off x="328964" y="191756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solidFill>
                  <a:srgbClr val="5A4A6A">
                    <a:alpha val="1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🐾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 rot="1199999">
            <a:off x="11089609" y="376626"/>
            <a:ext cx="51816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160" dirty="0">
                <a:solidFill>
                  <a:srgbClr val="5A4A6A">
                    <a:alpha val="1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🐾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-1595458" y="1775732"/>
            <a:ext cx="37528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39823" y="5657850"/>
            <a:ext cx="428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45378" y="1047750"/>
            <a:ext cx="33909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73550" y="381000"/>
            <a:ext cx="3648075" cy="533400"/>
          </a:xfrm>
          <a:prstGeom prst="roundRect">
            <a:avLst>
              <a:gd name="adj" fmla="val 50000"/>
            </a:avLst>
          </a:prstGeom>
          <a:solidFill>
            <a:srgbClr val="B5E6D9"/>
          </a:solidFill>
          <a:ln/>
        </p:spPr>
      </p:sp>
      <p:sp>
        <p:nvSpPr>
          <p:cNvPr id="8" name="Text 6"/>
          <p:cNvSpPr/>
          <p:nvPr/>
        </p:nvSpPr>
        <p:spPr>
          <a:xfrm>
            <a:off x="4445000" y="495300"/>
            <a:ext cx="428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4653" y="457200"/>
            <a:ext cx="2505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5A8A7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III. Our Solution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8772" y="495300"/>
            <a:ext cx="428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1000" y="981075"/>
            <a:ext cx="6724650" cy="857250"/>
          </a:xfrm>
          <a:prstGeom prst="roundRect">
            <a:avLst>
              <a:gd name="adj" fmla="val 1777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3400" y="1133475"/>
            <a:ext cx="533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🎯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40110" y="1133475"/>
            <a:ext cx="4295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PetDoc Platform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40110" y="1438275"/>
            <a:ext cx="505589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Integrated web-based veterinary system with AI + e-commerce</a:t>
            </a:r>
            <a:endParaRPr lang="en-US" sz="1400" b="1" dirty="0"/>
          </a:p>
        </p:txBody>
      </p:sp>
      <p:sp>
        <p:nvSpPr>
          <p:cNvPr id="15" name="Shape 13"/>
          <p:cNvSpPr/>
          <p:nvPr/>
        </p:nvSpPr>
        <p:spPr>
          <a:xfrm>
            <a:off x="381000" y="1952625"/>
            <a:ext cx="6724650" cy="857250"/>
          </a:xfrm>
          <a:prstGeom prst="roundRect">
            <a:avLst>
              <a:gd name="adj" fmla="val 1777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3400" y="2105025"/>
            <a:ext cx="533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🔬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40110" y="2105025"/>
            <a:ext cx="4248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AI Disease Detection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40109" y="2409825"/>
            <a:ext cx="508446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CNN analyzes pet images and symptoms for instant predictions</a:t>
            </a:r>
            <a:endParaRPr lang="en-US" sz="1400" b="1" dirty="0"/>
          </a:p>
        </p:txBody>
      </p:sp>
      <p:sp>
        <p:nvSpPr>
          <p:cNvPr id="19" name="Shape 17"/>
          <p:cNvSpPr/>
          <p:nvPr/>
        </p:nvSpPr>
        <p:spPr>
          <a:xfrm>
            <a:off x="381000" y="2924175"/>
            <a:ext cx="6724650" cy="857250"/>
          </a:xfrm>
          <a:prstGeom prst="roundRect">
            <a:avLst>
              <a:gd name="adj" fmla="val 1777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3400" y="3076575"/>
            <a:ext cx="533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💊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40110" y="3076575"/>
            <a:ext cx="4314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Smart Recommendations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40110" y="3381375"/>
            <a:ext cx="50844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suggests relevant medicines and products based on diagnosis</a:t>
            </a:r>
            <a:endParaRPr lang="en-US" sz="1400" b="1" dirty="0"/>
          </a:p>
        </p:txBody>
      </p:sp>
      <p:sp>
        <p:nvSpPr>
          <p:cNvPr id="23" name="Shape 21"/>
          <p:cNvSpPr/>
          <p:nvPr/>
        </p:nvSpPr>
        <p:spPr>
          <a:xfrm>
            <a:off x="381000" y="3895725"/>
            <a:ext cx="6724650" cy="857250"/>
          </a:xfrm>
          <a:prstGeom prst="roundRect">
            <a:avLst>
              <a:gd name="adj" fmla="val 1777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33400" y="4048125"/>
            <a:ext cx="533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🛒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40110" y="4048125"/>
            <a:ext cx="3638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Integrated E-Commerce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40110" y="4352925"/>
            <a:ext cx="468577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One-stop shop for veterinary products and medicines</a:t>
            </a:r>
            <a:endParaRPr lang="en-US" sz="1400" b="1" dirty="0"/>
          </a:p>
        </p:txBody>
      </p:sp>
      <p:sp>
        <p:nvSpPr>
          <p:cNvPr id="27" name="Shape 25"/>
          <p:cNvSpPr/>
          <p:nvPr/>
        </p:nvSpPr>
        <p:spPr>
          <a:xfrm>
            <a:off x="381000" y="4867275"/>
            <a:ext cx="6724650" cy="857250"/>
          </a:xfrm>
          <a:prstGeom prst="roundRect">
            <a:avLst>
              <a:gd name="adj" fmla="val 1777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33400" y="5019675"/>
            <a:ext cx="533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👥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40110" y="5019675"/>
            <a:ext cx="4029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Multi-Role System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40110" y="5324475"/>
            <a:ext cx="50558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Separate modules for users, admins, and delivery personnel</a:t>
            </a:r>
            <a:endParaRPr lang="en-US" sz="1400" b="1" dirty="0"/>
          </a:p>
        </p:txBody>
      </p:sp>
      <p:sp>
        <p:nvSpPr>
          <p:cNvPr id="31" name="Shape 29"/>
          <p:cNvSpPr/>
          <p:nvPr/>
        </p:nvSpPr>
        <p:spPr>
          <a:xfrm>
            <a:off x="7349530" y="1562100"/>
            <a:ext cx="4438650" cy="3009900"/>
          </a:xfrm>
          <a:prstGeom prst="roundRect">
            <a:avLst>
              <a:gd name="adj" fmla="val 7595"/>
            </a:avLst>
          </a:prstGeom>
          <a:solidFill>
            <a:srgbClr val="000000">
              <a:alpha val="0"/>
            </a:srgbClr>
          </a:solidFill>
          <a:ln w="50800">
            <a:solidFill>
              <a:srgbClr val="B5E6D9"/>
            </a:solidFill>
            <a:prstDash val="solid"/>
          </a:ln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32" name="Image 0" descr="https://kimi-img.moonshot.cn/pub/slides/26-04-21-22:57:42-d7jp0pkpm1t23r1hetp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9728" y="1581150"/>
            <a:ext cx="4438452" cy="2971800"/>
          </a:xfrm>
          <a:prstGeom prst="roundRect">
            <a:avLst>
              <a:gd name="adj" fmla="val 7692"/>
            </a:avLst>
          </a:prstGeom>
        </p:spPr>
      </p:pic>
      <p:sp>
        <p:nvSpPr>
          <p:cNvPr id="33" name="Shape 30"/>
          <p:cNvSpPr/>
          <p:nvPr/>
        </p:nvSpPr>
        <p:spPr>
          <a:xfrm>
            <a:off x="8434983" y="4743450"/>
            <a:ext cx="2266950" cy="419100"/>
          </a:xfrm>
          <a:prstGeom prst="roundRect">
            <a:avLst>
              <a:gd name="adj" fmla="val 50000"/>
            </a:avLst>
          </a:prstGeom>
          <a:solidFill>
            <a:srgbClr val="B5E6D9"/>
          </a:solidFill>
          <a:ln/>
        </p:spPr>
      </p:sp>
      <p:sp>
        <p:nvSpPr>
          <p:cNvPr id="34" name="Text 31"/>
          <p:cNvSpPr/>
          <p:nvPr/>
        </p:nvSpPr>
        <p:spPr>
          <a:xfrm>
            <a:off x="8663583" y="4832352"/>
            <a:ext cx="189994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5A8A7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🤖 AI to the Rescue! 🏥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0" y="6400800"/>
            <a:ext cx="12192000" cy="457200"/>
          </a:xfrm>
          <a:prstGeom prst="roundRect">
            <a:avLst>
              <a:gd name="adj" fmla="val 0"/>
            </a:avLst>
          </a:prstGeom>
          <a:solidFill>
            <a:srgbClr val="FADADD"/>
          </a:solidFill>
          <a:ln/>
        </p:spPr>
      </p:sp>
      <p:sp>
        <p:nvSpPr>
          <p:cNvPr id="36" name="Text 33"/>
          <p:cNvSpPr/>
          <p:nvPr/>
        </p:nvSpPr>
        <p:spPr>
          <a:xfrm>
            <a:off x="304800" y="6515100"/>
            <a:ext cx="581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🐾 Group 05 | Rishat Bin Sultan, Fariha Islam, Nafia Haque Muskan, MD Tamim Hasan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11677948" y="651510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🐾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D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-900000">
            <a:off x="328964" y="191756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solidFill>
                  <a:srgbClr val="5A4A6A">
                    <a:alpha val="1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🐾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 rot="1199999">
            <a:off x="11089609" y="376628"/>
            <a:ext cx="51816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160" dirty="0">
                <a:solidFill>
                  <a:srgbClr val="5A4A6A">
                    <a:alpha val="1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🐾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714500" y="857250"/>
            <a:ext cx="37528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45378" y="1047750"/>
            <a:ext cx="33909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5A4A6A">
                    <a:alpha val="1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04420" y="125588"/>
            <a:ext cx="3381375" cy="533400"/>
          </a:xfrm>
          <a:prstGeom prst="roundRect">
            <a:avLst>
              <a:gd name="adj" fmla="val 50000"/>
            </a:avLst>
          </a:prstGeom>
          <a:solidFill>
            <a:srgbClr val="F8C8DC"/>
          </a:solidFill>
          <a:ln/>
        </p:spPr>
      </p:sp>
      <p:sp>
        <p:nvSpPr>
          <p:cNvPr id="8" name="Text 6"/>
          <p:cNvSpPr/>
          <p:nvPr/>
        </p:nvSpPr>
        <p:spPr>
          <a:xfrm>
            <a:off x="4547295" y="267956"/>
            <a:ext cx="428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75920" y="229856"/>
            <a:ext cx="2238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IV. Objectives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14295" y="267956"/>
            <a:ext cx="428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🐕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1562100"/>
            <a:ext cx="4438650" cy="3009900"/>
          </a:xfrm>
          <a:prstGeom prst="roundRect">
            <a:avLst>
              <a:gd name="adj" fmla="val 7595"/>
            </a:avLst>
          </a:prstGeom>
          <a:solidFill>
            <a:srgbClr val="000000">
              <a:alpha val="0"/>
            </a:srgbClr>
          </a:solidFill>
          <a:ln w="50800">
            <a:solidFill>
              <a:srgbClr val="F8C8DC"/>
            </a:solidFill>
            <a:prstDash val="solid"/>
          </a:ln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12" name="Image 0" descr="https://kimi-web-img.moonshot.cn/img/thumbs.dreamstime.com/297444bfa4d370c58480994b76b8db18bac83b79.jpg"/>
          <p:cNvPicPr>
            <a:picLocks noChangeAspect="1"/>
          </p:cNvPicPr>
          <p:nvPr/>
        </p:nvPicPr>
        <p:blipFill>
          <a:blip r:embed="rId3"/>
          <a:srcRect t="16234" b="16234"/>
          <a:stretch/>
        </p:blipFill>
        <p:spPr>
          <a:xfrm>
            <a:off x="419100" y="1581150"/>
            <a:ext cx="4400550" cy="2971800"/>
          </a:xfrm>
          <a:prstGeom prst="roundRect">
            <a:avLst>
              <a:gd name="adj" fmla="val 7692"/>
            </a:avLst>
          </a:prstGeom>
        </p:spPr>
      </p:pic>
      <p:sp>
        <p:nvSpPr>
          <p:cNvPr id="13" name="Shape 10"/>
          <p:cNvSpPr/>
          <p:nvPr/>
        </p:nvSpPr>
        <p:spPr>
          <a:xfrm>
            <a:off x="1211759" y="4743450"/>
            <a:ext cx="2819400" cy="419100"/>
          </a:xfrm>
          <a:prstGeom prst="roundRect">
            <a:avLst>
              <a:gd name="adj" fmla="val 50000"/>
            </a:avLst>
          </a:prstGeom>
          <a:solidFill>
            <a:srgbClr val="C8A8E9"/>
          </a:solidFill>
          <a:ln/>
        </p:spPr>
      </p:sp>
      <p:sp>
        <p:nvSpPr>
          <p:cNvPr id="14" name="Text 11"/>
          <p:cNvSpPr/>
          <p:nvPr/>
        </p:nvSpPr>
        <p:spPr>
          <a:xfrm>
            <a:off x="1440359" y="4832352"/>
            <a:ext cx="2447429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🎉 All Objectives Achieved! 🏆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090121" y="710803"/>
            <a:ext cx="6724650" cy="857250"/>
          </a:xfrm>
          <a:prstGeom prst="roundRect">
            <a:avLst>
              <a:gd name="adj" fmla="val 1777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329945" y="863203"/>
            <a:ext cx="533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🖥️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749230" y="863203"/>
            <a:ext cx="3276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User-Friendly Platform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749230" y="1168002"/>
            <a:ext cx="4435238" cy="260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Intuitive online veterinary system for pet owners</a:t>
            </a:r>
            <a:endParaRPr lang="en-US" sz="1400" b="1" dirty="0"/>
          </a:p>
        </p:txBody>
      </p:sp>
      <p:sp>
        <p:nvSpPr>
          <p:cNvPr id="19" name="Shape 16"/>
          <p:cNvSpPr/>
          <p:nvPr/>
        </p:nvSpPr>
        <p:spPr>
          <a:xfrm>
            <a:off x="5090121" y="1682353"/>
            <a:ext cx="6724650" cy="857250"/>
          </a:xfrm>
          <a:prstGeom prst="roundRect">
            <a:avLst>
              <a:gd name="adj" fmla="val 1777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402989" y="1814374"/>
            <a:ext cx="533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🧠</a:t>
            </a: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749230" y="1834753"/>
            <a:ext cx="2847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AI Disease Detection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749230" y="2139553"/>
            <a:ext cx="43527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Early identification using machine learning</a:t>
            </a:r>
            <a:endParaRPr lang="en-US" sz="1400" b="1" dirty="0"/>
          </a:p>
        </p:txBody>
      </p:sp>
      <p:sp>
        <p:nvSpPr>
          <p:cNvPr id="23" name="Shape 20"/>
          <p:cNvSpPr/>
          <p:nvPr/>
        </p:nvSpPr>
        <p:spPr>
          <a:xfrm>
            <a:off x="5090121" y="2653903"/>
            <a:ext cx="6724650" cy="857250"/>
          </a:xfrm>
          <a:prstGeom prst="roundRect">
            <a:avLst>
              <a:gd name="adj" fmla="val 1777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402990" y="2806303"/>
            <a:ext cx="533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⚡</a:t>
            </a: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749230" y="2806303"/>
            <a:ext cx="3438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Instant Guidance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749230" y="3111103"/>
            <a:ext cx="46901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health advice through intelligent analysis</a:t>
            </a:r>
            <a:endParaRPr lang="en-US" sz="1400" b="1" dirty="0"/>
          </a:p>
        </p:txBody>
      </p:sp>
      <p:sp>
        <p:nvSpPr>
          <p:cNvPr id="27" name="Shape 24"/>
          <p:cNvSpPr/>
          <p:nvPr/>
        </p:nvSpPr>
        <p:spPr>
          <a:xfrm>
            <a:off x="5090121" y="3625453"/>
            <a:ext cx="6724650" cy="857250"/>
          </a:xfrm>
          <a:prstGeom prst="roundRect">
            <a:avLst>
              <a:gd name="adj" fmla="val 1777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402990" y="3777853"/>
            <a:ext cx="533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🛍️</a:t>
            </a: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749230" y="3777853"/>
            <a:ext cx="2781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Online Shop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749230" y="4082653"/>
            <a:ext cx="45486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e-commerce for veterinary products</a:t>
            </a:r>
            <a:endParaRPr lang="en-US" sz="1400" b="1" dirty="0"/>
          </a:p>
        </p:txBody>
      </p:sp>
      <p:sp>
        <p:nvSpPr>
          <p:cNvPr id="31" name="Shape 28"/>
          <p:cNvSpPr/>
          <p:nvPr/>
        </p:nvSpPr>
        <p:spPr>
          <a:xfrm>
            <a:off x="5090121" y="4597003"/>
            <a:ext cx="6724650" cy="752475"/>
          </a:xfrm>
          <a:prstGeom prst="roundRect">
            <a:avLst>
              <a:gd name="adj" fmla="val 20253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5402989" y="4711303"/>
            <a:ext cx="4858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👥</a:t>
            </a: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5775921" y="4711303"/>
            <a:ext cx="4091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Role-Based Modules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775921" y="5028180"/>
            <a:ext cx="406108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Separate access for users, admins, delivery</a:t>
            </a:r>
            <a:endParaRPr lang="en-US" sz="1400" b="1" dirty="0"/>
          </a:p>
        </p:txBody>
      </p:sp>
      <p:sp>
        <p:nvSpPr>
          <p:cNvPr id="35" name="Shape 32"/>
          <p:cNvSpPr/>
          <p:nvPr/>
        </p:nvSpPr>
        <p:spPr>
          <a:xfrm>
            <a:off x="5090120" y="5511859"/>
            <a:ext cx="6724651" cy="752475"/>
          </a:xfrm>
          <a:prstGeom prst="roundRect">
            <a:avLst>
              <a:gd name="adj" fmla="val 20253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5402990" y="5571274"/>
            <a:ext cx="37293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🌍</a:t>
            </a: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5775921" y="5570424"/>
            <a:ext cx="42283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Remote Accessibility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5749230" y="5873353"/>
            <a:ext cx="419797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Veterinary services available from anywhere</a:t>
            </a:r>
            <a:endParaRPr lang="en-US" sz="1400" b="1" dirty="0"/>
          </a:p>
        </p:txBody>
      </p:sp>
      <p:sp>
        <p:nvSpPr>
          <p:cNvPr id="42" name="Shape 39"/>
          <p:cNvSpPr/>
          <p:nvPr/>
        </p:nvSpPr>
        <p:spPr>
          <a:xfrm>
            <a:off x="0" y="6400800"/>
            <a:ext cx="12192000" cy="457200"/>
          </a:xfrm>
          <a:prstGeom prst="roundRect">
            <a:avLst>
              <a:gd name="adj" fmla="val 0"/>
            </a:avLst>
          </a:prstGeom>
          <a:solidFill>
            <a:srgbClr val="FADADD"/>
          </a:solidFill>
          <a:ln/>
        </p:spPr>
      </p:sp>
      <p:sp>
        <p:nvSpPr>
          <p:cNvPr id="43" name="Text 40"/>
          <p:cNvSpPr/>
          <p:nvPr/>
        </p:nvSpPr>
        <p:spPr>
          <a:xfrm>
            <a:off x="304800" y="6515100"/>
            <a:ext cx="581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🐾 Group 05 | Rishat Bin Sultan, Fariha Islam, Nafia Haque Muskan, MD Tamim Hasan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11677948" y="651510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🌟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D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-900000">
            <a:off x="328964" y="191756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solidFill>
                  <a:srgbClr val="5A4A6A">
                    <a:alpha val="1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🐾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 rot="1199999">
            <a:off x="11089609" y="376628"/>
            <a:ext cx="51816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160" dirty="0">
                <a:solidFill>
                  <a:srgbClr val="5A4A6A">
                    <a:alpha val="1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🐾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714500" y="857250"/>
            <a:ext cx="37528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0" dirty="0">
                <a:solidFill>
                  <a:srgbClr val="5A4A6A">
                    <a:alpha val="2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39823" y="5657850"/>
            <a:ext cx="428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95006" y="381000"/>
            <a:ext cx="4800600" cy="533400"/>
          </a:xfrm>
          <a:prstGeom prst="roundRect">
            <a:avLst>
              <a:gd name="adj" fmla="val 50000"/>
            </a:avLst>
          </a:prstGeom>
          <a:solidFill>
            <a:srgbClr val="B5E6D9"/>
          </a:solidFill>
          <a:ln/>
        </p:spPr>
      </p:sp>
      <p:sp>
        <p:nvSpPr>
          <p:cNvPr id="8" name="Text 6"/>
          <p:cNvSpPr/>
          <p:nvPr/>
        </p:nvSpPr>
        <p:spPr>
          <a:xfrm>
            <a:off x="3866456" y="495300"/>
            <a:ext cx="428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🏗️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266109" y="457200"/>
            <a:ext cx="365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5A8A7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V. System Architecture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97317" y="495300"/>
            <a:ext cx="428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⚙️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1000" y="981075"/>
            <a:ext cx="6724650" cy="857250"/>
          </a:xfrm>
          <a:prstGeom prst="roundRect">
            <a:avLst>
              <a:gd name="adj" fmla="val 1777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3399" y="1133475"/>
            <a:ext cx="644523" cy="303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🖥️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40110" y="1133475"/>
            <a:ext cx="4131852" cy="235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Presentation Layer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40110" y="1438275"/>
            <a:ext cx="410883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HTML, CSS, Bootstrap frontend for user interaction</a:t>
            </a:r>
            <a:endParaRPr lang="en-US" sz="1400" b="1" dirty="0"/>
          </a:p>
        </p:txBody>
      </p:sp>
      <p:sp>
        <p:nvSpPr>
          <p:cNvPr id="15" name="Shape 13"/>
          <p:cNvSpPr/>
          <p:nvPr/>
        </p:nvSpPr>
        <p:spPr>
          <a:xfrm>
            <a:off x="381000" y="1952625"/>
            <a:ext cx="6724650" cy="857250"/>
          </a:xfrm>
          <a:prstGeom prst="roundRect">
            <a:avLst>
              <a:gd name="adj" fmla="val 1777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3399" y="2105025"/>
            <a:ext cx="644523" cy="303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⚙️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40110" y="2105025"/>
            <a:ext cx="4408076" cy="235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Application Layer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40110" y="2409825"/>
            <a:ext cx="438505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Django backend with AI processing and business logic</a:t>
            </a:r>
            <a:endParaRPr lang="en-US" sz="1400" b="1" dirty="0"/>
          </a:p>
        </p:txBody>
      </p:sp>
      <p:sp>
        <p:nvSpPr>
          <p:cNvPr id="19" name="Shape 17"/>
          <p:cNvSpPr/>
          <p:nvPr/>
        </p:nvSpPr>
        <p:spPr>
          <a:xfrm>
            <a:off x="381000" y="2924175"/>
            <a:ext cx="6724650" cy="857250"/>
          </a:xfrm>
          <a:prstGeom prst="roundRect">
            <a:avLst>
              <a:gd name="adj" fmla="val 1777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3399" y="3076575"/>
            <a:ext cx="644523" cy="303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💾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40110" y="3076575"/>
            <a:ext cx="4235436" cy="235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40109" y="3381375"/>
            <a:ext cx="421241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Relational database for users, pets, products, orders</a:t>
            </a:r>
            <a:endParaRPr lang="en-US" sz="1400" b="1" dirty="0"/>
          </a:p>
        </p:txBody>
      </p:sp>
      <p:sp>
        <p:nvSpPr>
          <p:cNvPr id="23" name="Shape 21"/>
          <p:cNvSpPr/>
          <p:nvPr/>
        </p:nvSpPr>
        <p:spPr>
          <a:xfrm>
            <a:off x="381000" y="3895725"/>
            <a:ext cx="6724650" cy="857250"/>
          </a:xfrm>
          <a:prstGeom prst="roundRect">
            <a:avLst>
              <a:gd name="adj" fmla="val 1777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33399" y="4048125"/>
            <a:ext cx="644523" cy="303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🤖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040110" y="4048125"/>
            <a:ext cx="3533366" cy="235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AI Integration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40110" y="4352925"/>
            <a:ext cx="351034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CNN model for real-time disease detection</a:t>
            </a:r>
            <a:endParaRPr lang="en-US" sz="1400" b="1" dirty="0"/>
          </a:p>
        </p:txBody>
      </p:sp>
      <p:sp>
        <p:nvSpPr>
          <p:cNvPr id="27" name="Shape 25"/>
          <p:cNvSpPr/>
          <p:nvPr/>
        </p:nvSpPr>
        <p:spPr>
          <a:xfrm>
            <a:off x="381000" y="4867275"/>
            <a:ext cx="6724650" cy="857250"/>
          </a:xfrm>
          <a:prstGeom prst="roundRect">
            <a:avLst>
              <a:gd name="adj" fmla="val 1777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33399" y="5019675"/>
            <a:ext cx="644523" cy="303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🔐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040110" y="5019675"/>
            <a:ext cx="3959212" cy="235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Security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40109" y="5324475"/>
            <a:ext cx="393619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Authentication, validation, and controlled access</a:t>
            </a:r>
            <a:endParaRPr lang="en-US" sz="1400" b="1" dirty="0"/>
          </a:p>
        </p:txBody>
      </p:sp>
      <p:sp>
        <p:nvSpPr>
          <p:cNvPr id="31" name="Shape 29"/>
          <p:cNvSpPr/>
          <p:nvPr/>
        </p:nvSpPr>
        <p:spPr>
          <a:xfrm>
            <a:off x="7349530" y="1562100"/>
            <a:ext cx="4438650" cy="3009900"/>
          </a:xfrm>
          <a:prstGeom prst="roundRect">
            <a:avLst>
              <a:gd name="adj" fmla="val 7595"/>
            </a:avLst>
          </a:prstGeom>
          <a:solidFill>
            <a:srgbClr val="E3F0DB"/>
          </a:solidFill>
          <a:ln w="50800">
            <a:solidFill>
              <a:srgbClr val="C8A8E9"/>
            </a:solidFill>
            <a:prstDash val="solid"/>
          </a:ln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300542" y="1314450"/>
            <a:ext cx="25431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🏗️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046542" y="2038350"/>
            <a:ext cx="3210421" cy="41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Three-Tier Design (MVT)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443417" y="2495550"/>
            <a:ext cx="2257425" cy="419100"/>
          </a:xfrm>
          <a:prstGeom prst="roundRect">
            <a:avLst>
              <a:gd name="adj" fmla="val 27273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8899327" y="2584452"/>
            <a:ext cx="1342727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5A4A6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🖥️ </a:t>
            </a:r>
            <a:r>
              <a:rPr lang="en-US" sz="1350" b="1" dirty="0">
                <a:solidFill>
                  <a:srgbClr val="5A4A6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Presentation</a:t>
            </a:r>
            <a:endParaRPr lang="en-US" sz="1600" b="1" dirty="0"/>
          </a:p>
        </p:txBody>
      </p:sp>
      <p:sp>
        <p:nvSpPr>
          <p:cNvPr id="36" name="Text 34"/>
          <p:cNvSpPr/>
          <p:nvPr/>
        </p:nvSpPr>
        <p:spPr>
          <a:xfrm>
            <a:off x="8386267" y="3028950"/>
            <a:ext cx="2371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C8A8E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⬇️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443417" y="3448050"/>
            <a:ext cx="2257425" cy="419100"/>
          </a:xfrm>
          <a:prstGeom prst="roundRect">
            <a:avLst>
              <a:gd name="adj" fmla="val 27273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8957171" y="3536952"/>
            <a:ext cx="1227038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5A4A6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⚙️ </a:t>
            </a:r>
            <a:r>
              <a:rPr lang="en-US" sz="1350" b="1" dirty="0">
                <a:solidFill>
                  <a:srgbClr val="5A4A6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Application</a:t>
            </a:r>
            <a:endParaRPr lang="en-US" sz="1600" b="1" dirty="0"/>
          </a:p>
        </p:txBody>
      </p:sp>
      <p:sp>
        <p:nvSpPr>
          <p:cNvPr id="39" name="Text 37"/>
          <p:cNvSpPr/>
          <p:nvPr/>
        </p:nvSpPr>
        <p:spPr>
          <a:xfrm>
            <a:off x="8386267" y="3981450"/>
            <a:ext cx="2371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C8A8E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⬇️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443417" y="4400550"/>
            <a:ext cx="2257425" cy="419100"/>
          </a:xfrm>
          <a:prstGeom prst="roundRect">
            <a:avLst>
              <a:gd name="adj" fmla="val 27273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9212759" y="4489452"/>
            <a:ext cx="715863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5A4A6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💾 </a:t>
            </a:r>
            <a:r>
              <a:rPr lang="en-US" sz="1350" b="1" dirty="0">
                <a:solidFill>
                  <a:srgbClr val="5A4A6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Data</a:t>
            </a:r>
            <a:endParaRPr lang="en-US" sz="1600" b="1" dirty="0"/>
          </a:p>
        </p:txBody>
      </p:sp>
      <p:sp>
        <p:nvSpPr>
          <p:cNvPr id="42" name="Shape 40"/>
          <p:cNvSpPr/>
          <p:nvPr/>
        </p:nvSpPr>
        <p:spPr>
          <a:xfrm>
            <a:off x="8397280" y="5238750"/>
            <a:ext cx="2343150" cy="419100"/>
          </a:xfrm>
          <a:prstGeom prst="roundRect">
            <a:avLst>
              <a:gd name="adj" fmla="val 50000"/>
            </a:avLst>
          </a:prstGeom>
          <a:solidFill>
            <a:srgbClr val="B5E6D9"/>
          </a:solidFill>
          <a:ln/>
        </p:spPr>
      </p:sp>
      <p:sp>
        <p:nvSpPr>
          <p:cNvPr id="43" name="Text 41"/>
          <p:cNvSpPr/>
          <p:nvPr/>
        </p:nvSpPr>
        <p:spPr>
          <a:xfrm>
            <a:off x="8663683" y="5295900"/>
            <a:ext cx="197614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5A8A7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🏗️ Three-Tier Design 💻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0" y="6400800"/>
            <a:ext cx="12192000" cy="457200"/>
          </a:xfrm>
          <a:prstGeom prst="roundRect">
            <a:avLst>
              <a:gd name="adj" fmla="val 0"/>
            </a:avLst>
          </a:prstGeom>
          <a:solidFill>
            <a:srgbClr val="FADADD"/>
          </a:solidFill>
          <a:ln/>
        </p:spPr>
      </p:sp>
      <p:sp>
        <p:nvSpPr>
          <p:cNvPr id="45" name="Text 43"/>
          <p:cNvSpPr/>
          <p:nvPr/>
        </p:nvSpPr>
        <p:spPr>
          <a:xfrm>
            <a:off x="304800" y="6515100"/>
            <a:ext cx="581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🐾 Group 05 | Rishat Bin Sultan, Fariha Islam, Nafia Haque Muskan, MD Tamim Hasan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677948" y="651510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🐾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0A415B2-7127-FDC0-1411-82C19E57F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567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9F169E-97C0-27F9-DF0D-71E9DB849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858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D2EB8F-98B4-44FC-3C06-B2950F4E1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351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82DBCC-153B-91AE-C753-92ABE57D8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366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1DB12E-1CEA-C1DF-1CE2-C76A991DB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957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188383-D2C1-514A-1060-95195AD75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7563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2BFE4A-89FF-2DBE-0D61-2C7177DC1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6828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670EB1-DF18-854B-0168-C0D5F956F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9235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BF1E43-22C5-6818-734E-A0ECB60F8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5416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6A6049-E098-CE3C-A2E9-194B214E2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6760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499EA3-196D-1F09-426B-74CE49389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3202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4FB6B7-EC9C-E8F3-1534-EE3D5AC4A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4988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421030-5445-2D3D-6821-1C6B0A789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9548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EE2B12-11A3-81AF-9C41-0FE915532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0453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D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-900000">
            <a:off x="328964" y="19176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solidFill>
                  <a:srgbClr val="5A4A6A">
                    <a:alpha val="1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🐾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 rot="1199999">
            <a:off x="11089609" y="376624"/>
            <a:ext cx="51816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160" dirty="0">
                <a:solidFill>
                  <a:srgbClr val="5A4A6A">
                    <a:alpha val="1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🐾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714500" y="857250"/>
            <a:ext cx="37528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45378" y="1047750"/>
            <a:ext cx="33909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0" dirty="0">
                <a:solidFill>
                  <a:srgbClr val="5A4A6A">
                    <a:alpha val="1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57563" y="381000"/>
            <a:ext cx="3876675" cy="533400"/>
          </a:xfrm>
          <a:prstGeom prst="roundRect">
            <a:avLst>
              <a:gd name="adj" fmla="val 50000"/>
            </a:avLst>
          </a:prstGeom>
          <a:solidFill>
            <a:srgbClr val="F8C8DC"/>
          </a:solidFill>
          <a:ln/>
        </p:spPr>
      </p:sp>
      <p:sp>
        <p:nvSpPr>
          <p:cNvPr id="8" name="Text 6"/>
          <p:cNvSpPr/>
          <p:nvPr/>
        </p:nvSpPr>
        <p:spPr>
          <a:xfrm>
            <a:off x="4329013" y="495300"/>
            <a:ext cx="428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28667" y="457200"/>
            <a:ext cx="2733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VII. Methodology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34759" y="495300"/>
            <a:ext cx="428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🔬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1562100"/>
            <a:ext cx="4438650" cy="3009900"/>
          </a:xfrm>
          <a:prstGeom prst="roundRect">
            <a:avLst>
              <a:gd name="adj" fmla="val 7595"/>
            </a:avLst>
          </a:prstGeom>
          <a:solidFill>
            <a:srgbClr val="000000">
              <a:alpha val="0"/>
            </a:srgbClr>
          </a:solidFill>
          <a:ln w="50800">
            <a:solidFill>
              <a:srgbClr val="F8C8DC"/>
            </a:solidFill>
            <a:prstDash val="solid"/>
          </a:ln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12" name="Image 0" descr="https://kimi-web-img.moonshot.cn/img/thumbs.dreamstime.com/4d47857e78425ab2b864a8f52cd04605aee1ea9f.jpg"/>
          <p:cNvPicPr>
            <a:picLocks noChangeAspect="1"/>
          </p:cNvPicPr>
          <p:nvPr/>
        </p:nvPicPr>
        <p:blipFill>
          <a:blip r:embed="rId3"/>
          <a:srcRect l="8353" r="8353"/>
          <a:stretch/>
        </p:blipFill>
        <p:spPr>
          <a:xfrm>
            <a:off x="419100" y="1581150"/>
            <a:ext cx="4400550" cy="2971800"/>
          </a:xfrm>
          <a:prstGeom prst="roundRect">
            <a:avLst>
              <a:gd name="adj" fmla="val 7692"/>
            </a:avLst>
          </a:prstGeom>
        </p:spPr>
      </p:pic>
      <p:sp>
        <p:nvSpPr>
          <p:cNvPr id="13" name="Shape 10"/>
          <p:cNvSpPr/>
          <p:nvPr/>
        </p:nvSpPr>
        <p:spPr>
          <a:xfrm>
            <a:off x="1302544" y="4743450"/>
            <a:ext cx="2638425" cy="419100"/>
          </a:xfrm>
          <a:prstGeom prst="roundRect">
            <a:avLst>
              <a:gd name="adj" fmla="val 50000"/>
            </a:avLst>
          </a:prstGeom>
          <a:solidFill>
            <a:srgbClr val="FADADD"/>
          </a:solidFill>
          <a:ln/>
        </p:spPr>
      </p:sp>
      <p:sp>
        <p:nvSpPr>
          <p:cNvPr id="14" name="Text 11"/>
          <p:cNvSpPr/>
          <p:nvPr/>
        </p:nvSpPr>
        <p:spPr>
          <a:xfrm>
            <a:off x="1531144" y="4832352"/>
            <a:ext cx="2265859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🔬 Systematic Approach 📊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090121" y="1034653"/>
            <a:ext cx="6724650" cy="857250"/>
          </a:xfrm>
          <a:prstGeom prst="roundRect">
            <a:avLst>
              <a:gd name="adj" fmla="val 1777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242520" y="1187053"/>
            <a:ext cx="7069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1️⃣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749229" y="1187053"/>
            <a:ext cx="5150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Requirement Analysis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749229" y="1491853"/>
            <a:ext cx="5125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Identified key problems and defined system requirements</a:t>
            </a:r>
            <a:endParaRPr lang="en-US" sz="1400" b="1" dirty="0"/>
          </a:p>
        </p:txBody>
      </p:sp>
      <p:sp>
        <p:nvSpPr>
          <p:cNvPr id="19" name="Shape 16"/>
          <p:cNvSpPr/>
          <p:nvPr/>
        </p:nvSpPr>
        <p:spPr>
          <a:xfrm>
            <a:off x="5090120" y="2006203"/>
            <a:ext cx="6724651" cy="857250"/>
          </a:xfrm>
          <a:prstGeom prst="roundRect">
            <a:avLst>
              <a:gd name="adj" fmla="val 1777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242520" y="2158603"/>
            <a:ext cx="7069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2️⃣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749230" y="2158603"/>
            <a:ext cx="54159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System Design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749230" y="2463403"/>
            <a:ext cx="539071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Three-tier architecture, database schema, use case diagrams</a:t>
            </a:r>
            <a:endParaRPr lang="en-US" sz="1400" b="1" dirty="0"/>
          </a:p>
        </p:txBody>
      </p:sp>
      <p:sp>
        <p:nvSpPr>
          <p:cNvPr id="23" name="Shape 20"/>
          <p:cNvSpPr/>
          <p:nvPr/>
        </p:nvSpPr>
        <p:spPr>
          <a:xfrm>
            <a:off x="5090121" y="2977753"/>
            <a:ext cx="6724650" cy="857250"/>
          </a:xfrm>
          <a:prstGeom prst="roundRect">
            <a:avLst>
              <a:gd name="adj" fmla="val 1777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242520" y="3130153"/>
            <a:ext cx="7069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3️⃣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749230" y="3130153"/>
            <a:ext cx="50372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Data Collection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749230" y="3434953"/>
            <a:ext cx="501197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Veterinary datasets gathered, preprocessed, and labeled</a:t>
            </a:r>
            <a:endParaRPr lang="en-US" sz="1400" b="1" dirty="0"/>
          </a:p>
        </p:txBody>
      </p:sp>
      <p:sp>
        <p:nvSpPr>
          <p:cNvPr id="27" name="Shape 24"/>
          <p:cNvSpPr/>
          <p:nvPr/>
        </p:nvSpPr>
        <p:spPr>
          <a:xfrm>
            <a:off x="5090120" y="3949303"/>
            <a:ext cx="6724651" cy="857250"/>
          </a:xfrm>
          <a:prstGeom prst="roundRect">
            <a:avLst>
              <a:gd name="adj" fmla="val 1777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242520" y="4101703"/>
            <a:ext cx="7069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4️⃣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749230" y="4101703"/>
            <a:ext cx="51887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Model Development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749230" y="4406503"/>
            <a:ext cx="516347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CNN trained on Google Colab with hyperparameter tuning</a:t>
            </a:r>
            <a:endParaRPr lang="en-US" sz="1400" b="1" dirty="0"/>
          </a:p>
        </p:txBody>
      </p:sp>
      <p:sp>
        <p:nvSpPr>
          <p:cNvPr id="31" name="Shape 28"/>
          <p:cNvSpPr/>
          <p:nvPr/>
        </p:nvSpPr>
        <p:spPr>
          <a:xfrm>
            <a:off x="5090120" y="4920853"/>
            <a:ext cx="6724651" cy="752475"/>
          </a:xfrm>
          <a:prstGeom prst="roundRect">
            <a:avLst>
              <a:gd name="adj" fmla="val 20253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5204420" y="5035153"/>
            <a:ext cx="56810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5️⃣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5594548" y="5035153"/>
            <a:ext cx="26764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594548" y="5339953"/>
            <a:ext cx="265117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Frontend + Backend development</a:t>
            </a:r>
            <a:endParaRPr lang="en-US" sz="1400" b="1" dirty="0"/>
          </a:p>
        </p:txBody>
      </p:sp>
      <p:sp>
        <p:nvSpPr>
          <p:cNvPr id="35" name="Shape 32"/>
          <p:cNvSpPr/>
          <p:nvPr/>
        </p:nvSpPr>
        <p:spPr>
          <a:xfrm>
            <a:off x="5090120" y="5797153"/>
            <a:ext cx="6724650" cy="660797"/>
          </a:xfrm>
          <a:prstGeom prst="roundRect">
            <a:avLst>
              <a:gd name="adj" fmla="val 20253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5242520" y="5874771"/>
            <a:ext cx="56810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6️⃣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5628281" y="5907769"/>
            <a:ext cx="29541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Integration &amp; Testing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5628282" y="6169536"/>
            <a:ext cx="29541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modules combined and optimized</a:t>
            </a:r>
            <a:endParaRPr lang="en-US" sz="1400" b="1" dirty="0"/>
          </a:p>
        </p:txBody>
      </p:sp>
      <p:sp>
        <p:nvSpPr>
          <p:cNvPr id="39" name="Shape 36"/>
          <p:cNvSpPr/>
          <p:nvPr/>
        </p:nvSpPr>
        <p:spPr>
          <a:xfrm>
            <a:off x="0" y="6524624"/>
            <a:ext cx="12192000" cy="333375"/>
          </a:xfrm>
          <a:prstGeom prst="roundRect">
            <a:avLst>
              <a:gd name="adj" fmla="val 0"/>
            </a:avLst>
          </a:prstGeom>
          <a:solidFill>
            <a:srgbClr val="FADADD"/>
          </a:solidFill>
          <a:ln/>
        </p:spPr>
      </p:sp>
      <p:sp>
        <p:nvSpPr>
          <p:cNvPr id="40" name="Text 37"/>
          <p:cNvSpPr/>
          <p:nvPr/>
        </p:nvSpPr>
        <p:spPr>
          <a:xfrm>
            <a:off x="304800" y="6515100"/>
            <a:ext cx="581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🐾 Group 05 | Rishat Bin Sultan, Fariha Islam, Nafia Haque Muskan, MD Tamim Hasan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11677948" y="651510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🐾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D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-900000">
            <a:off x="328964" y="19176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solidFill>
                  <a:srgbClr val="5A4A6A">
                    <a:alpha val="1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🐾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 rot="1199999">
            <a:off x="11089609" y="376624"/>
            <a:ext cx="51816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160" dirty="0">
                <a:solidFill>
                  <a:srgbClr val="5A4A6A">
                    <a:alpha val="1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🐾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714500" y="857250"/>
            <a:ext cx="37528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0" dirty="0">
                <a:solidFill>
                  <a:srgbClr val="5A4A6A">
                    <a:alpha val="2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39823" y="5657850"/>
            <a:ext cx="428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45378" y="1047750"/>
            <a:ext cx="33909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906441" y="381000"/>
            <a:ext cx="4381500" cy="533400"/>
          </a:xfrm>
          <a:prstGeom prst="roundRect">
            <a:avLst>
              <a:gd name="adj" fmla="val 50000"/>
            </a:avLst>
          </a:prstGeom>
          <a:solidFill>
            <a:srgbClr val="B5E6D9"/>
          </a:solidFill>
          <a:ln/>
        </p:spPr>
      </p:sp>
      <p:sp>
        <p:nvSpPr>
          <p:cNvPr id="8" name="Text 6"/>
          <p:cNvSpPr/>
          <p:nvPr/>
        </p:nvSpPr>
        <p:spPr>
          <a:xfrm>
            <a:off x="4077891" y="495300"/>
            <a:ext cx="428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💻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77544" y="457200"/>
            <a:ext cx="323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5A8A7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VIII. Implementation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85782" y="495300"/>
            <a:ext cx="428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🐾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1000" y="981075"/>
            <a:ext cx="6724650" cy="857250"/>
          </a:xfrm>
          <a:prstGeom prst="roundRect">
            <a:avLst>
              <a:gd name="adj" fmla="val 1777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3400" y="1186229"/>
            <a:ext cx="533400" cy="290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🎨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40110" y="1174505"/>
            <a:ext cx="4057650" cy="225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40110" y="1476374"/>
            <a:ext cx="5055890" cy="225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chemeClr val="tx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HTML, CSS, Bootstrap for responsive, user-friendly interface</a:t>
            </a:r>
            <a:endParaRPr lang="en-US" sz="1400" b="1" dirty="0">
              <a:solidFill>
                <a:schemeClr val="tx2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81000" y="2084509"/>
            <a:ext cx="6724650" cy="725365"/>
          </a:xfrm>
          <a:prstGeom prst="roundRect">
            <a:avLst>
              <a:gd name="adj" fmla="val 1777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3400" y="2157779"/>
            <a:ext cx="533400" cy="290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⚙️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40110" y="2146055"/>
            <a:ext cx="3733800" cy="225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Backend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40109" y="2447925"/>
            <a:ext cx="4566033" cy="243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chemeClr val="tx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Django framework with MVT architecture for scalability</a:t>
            </a:r>
            <a:endParaRPr lang="en-US" sz="1400" b="1" dirty="0">
              <a:solidFill>
                <a:schemeClr val="tx2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81000" y="3056059"/>
            <a:ext cx="6724650" cy="725365"/>
          </a:xfrm>
          <a:prstGeom prst="roundRect">
            <a:avLst>
              <a:gd name="adj" fmla="val 1777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3400" y="3129329"/>
            <a:ext cx="533400" cy="290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🤖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40110" y="3117605"/>
            <a:ext cx="4791075" cy="225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AI Model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40110" y="3419475"/>
            <a:ext cx="5545747" cy="243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chemeClr val="tx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CNN trained on veterinary datasets, integrated for real-time predictions</a:t>
            </a:r>
            <a:endParaRPr lang="en-US" sz="1400" b="1" dirty="0">
              <a:solidFill>
                <a:schemeClr val="tx2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81000" y="4027609"/>
            <a:ext cx="6724650" cy="725365"/>
          </a:xfrm>
          <a:prstGeom prst="roundRect">
            <a:avLst>
              <a:gd name="adj" fmla="val 1777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33400" y="4100879"/>
            <a:ext cx="533400" cy="290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💬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040110" y="4089155"/>
            <a:ext cx="4333875" cy="225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AI Assistant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40110" y="4391024"/>
            <a:ext cx="5208290" cy="246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chemeClr val="tx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responses, basic guidance, enhanced user engagement</a:t>
            </a:r>
            <a:endParaRPr lang="en-US" sz="1400" b="1" dirty="0">
              <a:solidFill>
                <a:schemeClr val="tx2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81000" y="4999159"/>
            <a:ext cx="6724650" cy="725365"/>
          </a:xfrm>
          <a:prstGeom prst="roundRect">
            <a:avLst>
              <a:gd name="adj" fmla="val 1777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33400" y="5072429"/>
            <a:ext cx="533400" cy="290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👥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040110" y="5060705"/>
            <a:ext cx="3295650" cy="225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Role-Based Modules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40109" y="5362575"/>
            <a:ext cx="4791075" cy="290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chemeClr val="tx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Admin panel, delivery system, user management</a:t>
            </a:r>
            <a:endParaRPr lang="en-US" sz="1400" b="1" dirty="0">
              <a:solidFill>
                <a:schemeClr val="tx2"/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349530" y="1562100"/>
            <a:ext cx="4438650" cy="3009900"/>
          </a:xfrm>
          <a:prstGeom prst="roundRect">
            <a:avLst>
              <a:gd name="adj" fmla="val 7595"/>
            </a:avLst>
          </a:prstGeom>
          <a:solidFill>
            <a:srgbClr val="000000">
              <a:alpha val="0"/>
            </a:srgbClr>
          </a:solidFill>
          <a:ln w="50800">
            <a:solidFill>
              <a:srgbClr val="B5E6D9"/>
            </a:solidFill>
            <a:prstDash val="solid"/>
          </a:ln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32" name="Image 0" descr="https://kimi-web-img.moonshot.cn/img/static.vecteezy.com/9fbbffda28868011392ec58da9a897d29273c45d.jpg"/>
          <p:cNvPicPr>
            <a:picLocks noChangeAspect="1"/>
          </p:cNvPicPr>
          <p:nvPr/>
        </p:nvPicPr>
        <p:blipFill>
          <a:blip r:embed="rId3"/>
          <a:srcRect l="9623" r="9623"/>
          <a:stretch/>
        </p:blipFill>
        <p:spPr>
          <a:xfrm>
            <a:off x="7368580" y="1581150"/>
            <a:ext cx="4400550" cy="2971800"/>
          </a:xfrm>
          <a:prstGeom prst="roundRect">
            <a:avLst>
              <a:gd name="adj" fmla="val 7692"/>
            </a:avLst>
          </a:prstGeom>
        </p:spPr>
      </p:pic>
      <p:sp>
        <p:nvSpPr>
          <p:cNvPr id="33" name="Shape 30"/>
          <p:cNvSpPr/>
          <p:nvPr/>
        </p:nvSpPr>
        <p:spPr>
          <a:xfrm>
            <a:off x="8118475" y="4743450"/>
            <a:ext cx="2905125" cy="419100"/>
          </a:xfrm>
          <a:prstGeom prst="roundRect">
            <a:avLst>
              <a:gd name="adj" fmla="val 50000"/>
            </a:avLst>
          </a:prstGeom>
          <a:solidFill>
            <a:srgbClr val="C8A8E9"/>
          </a:solidFill>
          <a:ln/>
        </p:spPr>
      </p:sp>
      <p:sp>
        <p:nvSpPr>
          <p:cNvPr id="34" name="Text 31"/>
          <p:cNvSpPr/>
          <p:nvPr/>
        </p:nvSpPr>
        <p:spPr>
          <a:xfrm>
            <a:off x="8347075" y="4832352"/>
            <a:ext cx="2533055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🚀 Fully Functional &amp; Ready! 🎉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0" y="6400800"/>
            <a:ext cx="12192000" cy="457200"/>
          </a:xfrm>
          <a:prstGeom prst="roundRect">
            <a:avLst>
              <a:gd name="adj" fmla="val 0"/>
            </a:avLst>
          </a:prstGeom>
          <a:solidFill>
            <a:srgbClr val="FADADD"/>
          </a:solidFill>
          <a:ln/>
        </p:spPr>
      </p:sp>
      <p:sp>
        <p:nvSpPr>
          <p:cNvPr id="36" name="Text 33"/>
          <p:cNvSpPr/>
          <p:nvPr/>
        </p:nvSpPr>
        <p:spPr>
          <a:xfrm>
            <a:off x="304800" y="6515100"/>
            <a:ext cx="581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🐾 Group 05 | Rishat Bin Sultan, Fariha Islam, Nafia Haque Muskan, MD Tamim Hasan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11677948" y="651510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⚙️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D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-900000">
            <a:off x="328964" y="19176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solidFill>
                  <a:srgbClr val="5A4A6A">
                    <a:alpha val="1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🐾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 rot="1199999">
            <a:off x="11089609" y="376624"/>
            <a:ext cx="51816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160" dirty="0">
                <a:solidFill>
                  <a:srgbClr val="5A4A6A">
                    <a:alpha val="1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🐾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714500" y="857250"/>
            <a:ext cx="37528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39823" y="5657850"/>
            <a:ext cx="428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45378" y="1047750"/>
            <a:ext cx="3466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5A4A6A">
                    <a:alpha val="1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21163" y="381000"/>
            <a:ext cx="3752850" cy="533400"/>
          </a:xfrm>
          <a:prstGeom prst="roundRect">
            <a:avLst>
              <a:gd name="adj" fmla="val 50000"/>
            </a:avLst>
          </a:prstGeom>
          <a:solidFill>
            <a:srgbClr val="F8C8DC"/>
          </a:solidFill>
          <a:ln/>
        </p:spPr>
      </p:sp>
      <p:sp>
        <p:nvSpPr>
          <p:cNvPr id="8" name="Text 6"/>
          <p:cNvSpPr/>
          <p:nvPr/>
        </p:nvSpPr>
        <p:spPr>
          <a:xfrm>
            <a:off x="4392613" y="495300"/>
            <a:ext cx="428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92266" y="457200"/>
            <a:ext cx="2609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IX. Performance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71159" y="495300"/>
            <a:ext cx="428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🏆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1562100"/>
            <a:ext cx="4438650" cy="3009900"/>
          </a:xfrm>
          <a:prstGeom prst="roundRect">
            <a:avLst>
              <a:gd name="adj" fmla="val 7595"/>
            </a:avLst>
          </a:prstGeom>
          <a:solidFill>
            <a:srgbClr val="000000">
              <a:alpha val="0"/>
            </a:srgbClr>
          </a:solidFill>
          <a:ln w="50800">
            <a:solidFill>
              <a:srgbClr val="F8C8DC"/>
            </a:solidFill>
            <a:prstDash val="solid"/>
          </a:ln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12" name="Image 0" descr="https://kimi-web-img.moonshot.cn/img/www.shutterstock.com/c7f3ba2cbef2ea0f62cd902a28b977a42c31994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1581150"/>
            <a:ext cx="4400550" cy="2971800"/>
          </a:xfrm>
          <a:prstGeom prst="roundRect">
            <a:avLst>
              <a:gd name="adj" fmla="val 7692"/>
            </a:avLst>
          </a:prstGeom>
        </p:spPr>
      </p:pic>
      <p:sp>
        <p:nvSpPr>
          <p:cNvPr id="13" name="Shape 10"/>
          <p:cNvSpPr/>
          <p:nvPr/>
        </p:nvSpPr>
        <p:spPr>
          <a:xfrm>
            <a:off x="1446709" y="4743450"/>
            <a:ext cx="2352675" cy="419100"/>
          </a:xfrm>
          <a:prstGeom prst="roundRect">
            <a:avLst>
              <a:gd name="adj" fmla="val 50000"/>
            </a:avLst>
          </a:prstGeom>
          <a:solidFill>
            <a:srgbClr val="C8A8E9"/>
          </a:solidFill>
          <a:ln/>
        </p:spPr>
      </p:sp>
      <p:sp>
        <p:nvSpPr>
          <p:cNvPr id="14" name="Text 11"/>
          <p:cNvSpPr/>
          <p:nvPr/>
        </p:nvSpPr>
        <p:spPr>
          <a:xfrm>
            <a:off x="1675309" y="4832352"/>
            <a:ext cx="1977628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🏆 Excellent Results! 🌟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090121" y="981075"/>
            <a:ext cx="6873577" cy="857250"/>
          </a:xfrm>
          <a:prstGeom prst="roundRect">
            <a:avLst>
              <a:gd name="adj" fmla="val 1777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242521" y="1133475"/>
            <a:ext cx="5452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🎯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749231" y="1133475"/>
            <a:ext cx="29110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AI Accuracy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749231" y="1438275"/>
            <a:ext cx="36451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85-90% accuracy for common conditions</a:t>
            </a:r>
            <a:endParaRPr lang="en-US" sz="1400" b="1" dirty="0"/>
          </a:p>
        </p:txBody>
      </p:sp>
      <p:sp>
        <p:nvSpPr>
          <p:cNvPr id="19" name="Shape 16"/>
          <p:cNvSpPr/>
          <p:nvPr/>
        </p:nvSpPr>
        <p:spPr>
          <a:xfrm>
            <a:off x="5090121" y="1952625"/>
            <a:ext cx="6873577" cy="857250"/>
          </a:xfrm>
          <a:prstGeom prst="roundRect">
            <a:avLst>
              <a:gd name="adj" fmla="val 1777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242521" y="2105025"/>
            <a:ext cx="5452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⚡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749229" y="2105025"/>
            <a:ext cx="303761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Response Time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749230" y="2409825"/>
            <a:ext cx="37648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Efficient processing across all functionalities</a:t>
            </a:r>
            <a:endParaRPr lang="en-US" sz="1400" b="1" dirty="0"/>
          </a:p>
        </p:txBody>
      </p:sp>
      <p:sp>
        <p:nvSpPr>
          <p:cNvPr id="23" name="Shape 20"/>
          <p:cNvSpPr/>
          <p:nvPr/>
        </p:nvSpPr>
        <p:spPr>
          <a:xfrm>
            <a:off x="5090121" y="2924175"/>
            <a:ext cx="6873577" cy="857250"/>
          </a:xfrm>
          <a:prstGeom prst="roundRect">
            <a:avLst>
              <a:gd name="adj" fmla="val 1777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242521" y="3076575"/>
            <a:ext cx="5452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😊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749230" y="3076575"/>
            <a:ext cx="2735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User Satisfaction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749230" y="3381374"/>
            <a:ext cx="364514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satisfaction with intuitive interface</a:t>
            </a:r>
            <a:endParaRPr lang="en-US" sz="1400" b="1" dirty="0"/>
          </a:p>
        </p:txBody>
      </p:sp>
      <p:sp>
        <p:nvSpPr>
          <p:cNvPr id="27" name="Shape 24"/>
          <p:cNvSpPr/>
          <p:nvPr/>
        </p:nvSpPr>
        <p:spPr>
          <a:xfrm>
            <a:off x="5090121" y="3895725"/>
            <a:ext cx="6873577" cy="857250"/>
          </a:xfrm>
          <a:prstGeom prst="roundRect">
            <a:avLst>
              <a:gd name="adj" fmla="val 1777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242521" y="4048125"/>
            <a:ext cx="5452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🛡️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749230" y="4048125"/>
            <a:ext cx="31641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System Stability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749231" y="4352925"/>
            <a:ext cx="39608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 performance under moderate load</a:t>
            </a:r>
            <a:endParaRPr lang="en-US" sz="1400" b="1" dirty="0"/>
          </a:p>
        </p:txBody>
      </p:sp>
      <p:sp>
        <p:nvSpPr>
          <p:cNvPr id="31" name="Shape 28"/>
          <p:cNvSpPr/>
          <p:nvPr/>
        </p:nvSpPr>
        <p:spPr>
          <a:xfrm>
            <a:off x="5090121" y="4867275"/>
            <a:ext cx="6873577" cy="857250"/>
          </a:xfrm>
          <a:prstGeom prst="roundRect">
            <a:avLst>
              <a:gd name="adj" fmla="val 1777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5242521" y="5019675"/>
            <a:ext cx="5452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🔄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5749229" y="5019675"/>
            <a:ext cx="303761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Integration Success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749230" y="5324475"/>
            <a:ext cx="39608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E-commerce + AI work seamlessly together</a:t>
            </a:r>
            <a:endParaRPr lang="en-US" sz="1400" b="1" dirty="0"/>
          </a:p>
        </p:txBody>
      </p:sp>
      <p:sp>
        <p:nvSpPr>
          <p:cNvPr id="35" name="Shape 32"/>
          <p:cNvSpPr/>
          <p:nvPr/>
        </p:nvSpPr>
        <p:spPr>
          <a:xfrm>
            <a:off x="0" y="6400800"/>
            <a:ext cx="12192000" cy="457200"/>
          </a:xfrm>
          <a:prstGeom prst="roundRect">
            <a:avLst>
              <a:gd name="adj" fmla="val 0"/>
            </a:avLst>
          </a:prstGeom>
          <a:solidFill>
            <a:srgbClr val="FADADD"/>
          </a:solidFill>
          <a:ln/>
        </p:spPr>
      </p:sp>
      <p:sp>
        <p:nvSpPr>
          <p:cNvPr id="36" name="Text 33"/>
          <p:cNvSpPr/>
          <p:nvPr/>
        </p:nvSpPr>
        <p:spPr>
          <a:xfrm>
            <a:off x="304800" y="6515100"/>
            <a:ext cx="581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🐾 Group 05 | Rishat Bin Sultan, Fariha Islam, Nafia Haque Muskan, MD Tamim Hasan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11677948" y="651510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🐾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D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-900000">
            <a:off x="328964" y="191765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solidFill>
                  <a:srgbClr val="5A4A6A">
                    <a:alpha val="1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🐾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 rot="1199999">
            <a:off x="11089609" y="376628"/>
            <a:ext cx="51816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160" dirty="0">
                <a:solidFill>
                  <a:srgbClr val="5A4A6A">
                    <a:alpha val="1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🐾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714500" y="857250"/>
            <a:ext cx="37528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0" dirty="0">
                <a:solidFill>
                  <a:srgbClr val="5A4A6A">
                    <a:alpha val="2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39823" y="5657850"/>
            <a:ext cx="428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45378" y="1047750"/>
            <a:ext cx="33909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03427" y="381000"/>
            <a:ext cx="3381375" cy="533400"/>
          </a:xfrm>
          <a:prstGeom prst="roundRect">
            <a:avLst>
              <a:gd name="adj" fmla="val 50000"/>
            </a:avLst>
          </a:prstGeom>
          <a:solidFill>
            <a:srgbClr val="F8C8DC"/>
          </a:solidFill>
          <a:ln/>
        </p:spPr>
      </p:sp>
      <p:sp>
        <p:nvSpPr>
          <p:cNvPr id="8" name="Text 6"/>
          <p:cNvSpPr/>
          <p:nvPr/>
        </p:nvSpPr>
        <p:spPr>
          <a:xfrm>
            <a:off x="4574877" y="495300"/>
            <a:ext cx="428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🧗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74531" y="457200"/>
            <a:ext cx="2238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X. Challenges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88895" y="495300"/>
            <a:ext cx="428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🐾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1000" y="981075"/>
            <a:ext cx="6724650" cy="857250"/>
          </a:xfrm>
          <a:prstGeom prst="roundRect">
            <a:avLst>
              <a:gd name="adj" fmla="val 1777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3400" y="1133475"/>
            <a:ext cx="533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📊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40110" y="1133475"/>
            <a:ext cx="472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Limited Datasets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40110" y="1438274"/>
            <a:ext cx="557840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Veterinary data scarce and less standardized than human medical data</a:t>
            </a:r>
            <a:endParaRPr lang="en-US" sz="1400" b="1" dirty="0"/>
          </a:p>
        </p:txBody>
      </p:sp>
      <p:sp>
        <p:nvSpPr>
          <p:cNvPr id="15" name="Shape 13"/>
          <p:cNvSpPr/>
          <p:nvPr/>
        </p:nvSpPr>
        <p:spPr>
          <a:xfrm>
            <a:off x="381000" y="1952625"/>
            <a:ext cx="6724650" cy="857250"/>
          </a:xfrm>
          <a:prstGeom prst="roundRect">
            <a:avLst>
              <a:gd name="adj" fmla="val 1777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3400" y="2105025"/>
            <a:ext cx="533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🔌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40110" y="2105025"/>
            <a:ext cx="3657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ML Integration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40109" y="2409824"/>
            <a:ext cx="4468061" cy="266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Complex integration of AI model with Django backend</a:t>
            </a:r>
            <a:endParaRPr lang="en-US" sz="1400" b="1" dirty="0"/>
          </a:p>
        </p:txBody>
      </p:sp>
      <p:sp>
        <p:nvSpPr>
          <p:cNvPr id="19" name="Shape 17"/>
          <p:cNvSpPr/>
          <p:nvPr/>
        </p:nvSpPr>
        <p:spPr>
          <a:xfrm>
            <a:off x="381000" y="2924175"/>
            <a:ext cx="6724650" cy="857250"/>
          </a:xfrm>
          <a:prstGeom prst="roundRect">
            <a:avLst>
              <a:gd name="adj" fmla="val 1777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3400" y="3076575"/>
            <a:ext cx="533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⏱️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40110" y="3076575"/>
            <a:ext cx="3122964" cy="287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API Latency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40110" y="3381374"/>
            <a:ext cx="3099571" cy="266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Managing AI assistant response times</a:t>
            </a:r>
            <a:endParaRPr lang="en-US" sz="1400" b="1" dirty="0"/>
          </a:p>
        </p:txBody>
      </p:sp>
      <p:sp>
        <p:nvSpPr>
          <p:cNvPr id="23" name="Shape 21"/>
          <p:cNvSpPr/>
          <p:nvPr/>
        </p:nvSpPr>
        <p:spPr>
          <a:xfrm>
            <a:off x="381000" y="3895725"/>
            <a:ext cx="6724650" cy="857250"/>
          </a:xfrm>
          <a:prstGeom prst="roundRect">
            <a:avLst>
              <a:gd name="adj" fmla="val 1777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33400" y="4048125"/>
            <a:ext cx="533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🔄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40110" y="4048125"/>
            <a:ext cx="4456365" cy="287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Synchronization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40110" y="4352924"/>
            <a:ext cx="4432972" cy="266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Frontend-backend coordination for real-time updates</a:t>
            </a:r>
            <a:endParaRPr lang="en-US" sz="1400" b="1" dirty="0"/>
          </a:p>
        </p:txBody>
      </p:sp>
      <p:sp>
        <p:nvSpPr>
          <p:cNvPr id="27" name="Shape 25"/>
          <p:cNvSpPr/>
          <p:nvPr/>
        </p:nvSpPr>
        <p:spPr>
          <a:xfrm>
            <a:off x="381000" y="4867275"/>
            <a:ext cx="6724650" cy="857250"/>
          </a:xfrm>
          <a:prstGeom prst="roundRect">
            <a:avLst>
              <a:gd name="adj" fmla="val 1777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33400" y="5019675"/>
            <a:ext cx="533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🔒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40110" y="5019675"/>
            <a:ext cx="4257524" cy="287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Data Security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40109" y="5324474"/>
            <a:ext cx="4234131" cy="266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Protecting sensitive user and pet health information</a:t>
            </a:r>
            <a:endParaRPr lang="en-US" sz="1400" b="1" dirty="0"/>
          </a:p>
        </p:txBody>
      </p:sp>
      <p:sp>
        <p:nvSpPr>
          <p:cNvPr id="31" name="Shape 29"/>
          <p:cNvSpPr/>
          <p:nvPr/>
        </p:nvSpPr>
        <p:spPr>
          <a:xfrm>
            <a:off x="7349530" y="1562100"/>
            <a:ext cx="4438650" cy="3009900"/>
          </a:xfrm>
          <a:prstGeom prst="roundRect">
            <a:avLst>
              <a:gd name="adj" fmla="val 7595"/>
            </a:avLst>
          </a:prstGeom>
          <a:solidFill>
            <a:srgbClr val="000000">
              <a:alpha val="0"/>
            </a:srgbClr>
          </a:solidFill>
          <a:ln w="50800">
            <a:solidFill>
              <a:srgbClr val="F8C8DC"/>
            </a:solidFill>
            <a:prstDash val="solid"/>
          </a:ln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32" name="Image 0" descr="https://kimi-img.moonshot.cn/pub/slides/26-04-21-23:00:20-d7jp217826pk6eq8nc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9530" y="1581150"/>
            <a:ext cx="4438650" cy="2971800"/>
          </a:xfrm>
          <a:prstGeom prst="roundRect">
            <a:avLst>
              <a:gd name="adj" fmla="val 7692"/>
            </a:avLst>
          </a:prstGeom>
        </p:spPr>
      </p:pic>
      <p:sp>
        <p:nvSpPr>
          <p:cNvPr id="33" name="Shape 30"/>
          <p:cNvSpPr/>
          <p:nvPr/>
        </p:nvSpPr>
        <p:spPr>
          <a:xfrm>
            <a:off x="8211046" y="4743450"/>
            <a:ext cx="2714625" cy="419100"/>
          </a:xfrm>
          <a:prstGeom prst="roundRect">
            <a:avLst>
              <a:gd name="adj" fmla="val 50000"/>
            </a:avLst>
          </a:prstGeom>
          <a:solidFill>
            <a:srgbClr val="B5E6D9"/>
          </a:solidFill>
          <a:ln/>
        </p:spPr>
      </p:sp>
      <p:sp>
        <p:nvSpPr>
          <p:cNvPr id="34" name="Text 31"/>
          <p:cNvSpPr/>
          <p:nvPr/>
        </p:nvSpPr>
        <p:spPr>
          <a:xfrm>
            <a:off x="8439646" y="4832356"/>
            <a:ext cx="2347813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5A8A7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💪 Challenges Overcome! 🏆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0" y="6400800"/>
            <a:ext cx="12192000" cy="457200"/>
          </a:xfrm>
          <a:prstGeom prst="roundRect">
            <a:avLst>
              <a:gd name="adj" fmla="val 0"/>
            </a:avLst>
          </a:prstGeom>
          <a:solidFill>
            <a:srgbClr val="FADADD"/>
          </a:solidFill>
          <a:ln/>
        </p:spPr>
      </p:sp>
      <p:sp>
        <p:nvSpPr>
          <p:cNvPr id="36" name="Text 33"/>
          <p:cNvSpPr/>
          <p:nvPr/>
        </p:nvSpPr>
        <p:spPr>
          <a:xfrm>
            <a:off x="304800" y="6515100"/>
            <a:ext cx="581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🐾 Group 05 | Rishat Bin Sultan, Fariha Islam, Nafia Haque Muskan, MD Tamim Hasan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11677948" y="651510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⚡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D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-900000">
            <a:off x="328964" y="191765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solidFill>
                  <a:srgbClr val="5A4A6A">
                    <a:alpha val="1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🐾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 rot="1199999">
            <a:off x="11089609" y="376628"/>
            <a:ext cx="51816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160" dirty="0">
                <a:solidFill>
                  <a:srgbClr val="5A4A6A">
                    <a:alpha val="1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🐾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714500" y="857250"/>
            <a:ext cx="37528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39823" y="5657850"/>
            <a:ext cx="428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45378" y="1047750"/>
            <a:ext cx="33909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0" dirty="0">
                <a:solidFill>
                  <a:srgbClr val="5A4A6A">
                    <a:alpha val="1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64534" y="381000"/>
            <a:ext cx="3467100" cy="533400"/>
          </a:xfrm>
          <a:prstGeom prst="roundRect">
            <a:avLst>
              <a:gd name="adj" fmla="val 50000"/>
            </a:avLst>
          </a:prstGeom>
          <a:solidFill>
            <a:srgbClr val="F8C8DC"/>
          </a:solidFill>
          <a:ln/>
        </p:spPr>
      </p:sp>
      <p:sp>
        <p:nvSpPr>
          <p:cNvPr id="8" name="Text 6"/>
          <p:cNvSpPr/>
          <p:nvPr/>
        </p:nvSpPr>
        <p:spPr>
          <a:xfrm>
            <a:off x="4535984" y="495300"/>
            <a:ext cx="428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⚠️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5637" y="457200"/>
            <a:ext cx="2324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XI. Limitations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27689" y="495300"/>
            <a:ext cx="428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🔍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1562100"/>
            <a:ext cx="4438650" cy="3009900"/>
          </a:xfrm>
          <a:prstGeom prst="roundRect">
            <a:avLst>
              <a:gd name="adj" fmla="val 7595"/>
            </a:avLst>
          </a:prstGeom>
          <a:solidFill>
            <a:srgbClr val="000000">
              <a:alpha val="0"/>
            </a:srgbClr>
          </a:solidFill>
          <a:ln w="50800">
            <a:solidFill>
              <a:srgbClr val="F8C8DC"/>
            </a:solidFill>
            <a:prstDash val="solid"/>
          </a:ln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12" name="Image 0" descr="https://kimi-img.moonshot.cn/pub/slides/26-04-21-23:01:20-d7jp2g5o082n5qhqf4t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1581150"/>
            <a:ext cx="4438650" cy="2971800"/>
          </a:xfrm>
          <a:prstGeom prst="roundRect">
            <a:avLst>
              <a:gd name="adj" fmla="val 7692"/>
            </a:avLst>
          </a:prstGeom>
        </p:spPr>
      </p:pic>
      <p:sp>
        <p:nvSpPr>
          <p:cNvPr id="13" name="Shape 10"/>
          <p:cNvSpPr/>
          <p:nvPr/>
        </p:nvSpPr>
        <p:spPr>
          <a:xfrm>
            <a:off x="1243806" y="4743450"/>
            <a:ext cx="2752725" cy="419100"/>
          </a:xfrm>
          <a:prstGeom prst="roundRect">
            <a:avLst>
              <a:gd name="adj" fmla="val 50000"/>
            </a:avLst>
          </a:prstGeom>
          <a:solidFill>
            <a:srgbClr val="FADADD"/>
          </a:solidFill>
          <a:ln/>
        </p:spPr>
      </p:sp>
      <p:sp>
        <p:nvSpPr>
          <p:cNvPr id="14" name="Text 11"/>
          <p:cNvSpPr/>
          <p:nvPr/>
        </p:nvSpPr>
        <p:spPr>
          <a:xfrm>
            <a:off x="1472406" y="4832356"/>
            <a:ext cx="2383433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🔍 Room for Improvement 📈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090121" y="1088231"/>
            <a:ext cx="6724650" cy="857250"/>
          </a:xfrm>
          <a:prstGeom prst="roundRect">
            <a:avLst>
              <a:gd name="adj" fmla="val 1777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242520" y="1240630"/>
            <a:ext cx="697245" cy="382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📊</a:t>
            </a: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656442" y="1240630"/>
            <a:ext cx="5814529" cy="29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Limited Dataset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657551" y="1545430"/>
            <a:ext cx="578962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Small dataset reduces generalization across breeds and conditions</a:t>
            </a:r>
            <a:endParaRPr lang="en-US" sz="1400" b="1" dirty="0"/>
          </a:p>
        </p:txBody>
      </p:sp>
      <p:sp>
        <p:nvSpPr>
          <p:cNvPr id="19" name="Shape 16"/>
          <p:cNvSpPr/>
          <p:nvPr/>
        </p:nvSpPr>
        <p:spPr>
          <a:xfrm>
            <a:off x="5090121" y="2059781"/>
            <a:ext cx="6724650" cy="857250"/>
          </a:xfrm>
          <a:prstGeom prst="roundRect">
            <a:avLst>
              <a:gd name="adj" fmla="val 1777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242520" y="2212180"/>
            <a:ext cx="697245" cy="382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🏥</a:t>
            </a: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657551" y="2212180"/>
            <a:ext cx="5403652" cy="29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Not a Replacement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656442" y="2516980"/>
            <a:ext cx="53787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Preliminary guidance only, not substitute for professional vets</a:t>
            </a:r>
            <a:endParaRPr lang="en-US" sz="1400" b="1" dirty="0"/>
          </a:p>
        </p:txBody>
      </p:sp>
      <p:sp>
        <p:nvSpPr>
          <p:cNvPr id="23" name="Shape 20"/>
          <p:cNvSpPr/>
          <p:nvPr/>
        </p:nvSpPr>
        <p:spPr>
          <a:xfrm>
            <a:off x="5090121" y="3031331"/>
            <a:ext cx="6724650" cy="857250"/>
          </a:xfrm>
          <a:prstGeom prst="roundRect">
            <a:avLst>
              <a:gd name="adj" fmla="val 1777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242520" y="3183730"/>
            <a:ext cx="697245" cy="382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📸</a:t>
            </a: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632649" y="3183730"/>
            <a:ext cx="4818464" cy="29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Image Quality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657551" y="3488530"/>
            <a:ext cx="479356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Poor images (blur, low light) affect prediction accuracy</a:t>
            </a:r>
            <a:endParaRPr lang="en-US" sz="1400" b="1" dirty="0"/>
          </a:p>
        </p:txBody>
      </p:sp>
      <p:sp>
        <p:nvSpPr>
          <p:cNvPr id="27" name="Shape 24"/>
          <p:cNvSpPr/>
          <p:nvPr/>
        </p:nvSpPr>
        <p:spPr>
          <a:xfrm>
            <a:off x="5090121" y="4002881"/>
            <a:ext cx="6701829" cy="971550"/>
          </a:xfrm>
          <a:prstGeom prst="roundRect">
            <a:avLst>
              <a:gd name="adj" fmla="val 15686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204421" y="4117180"/>
            <a:ext cx="560286" cy="339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📝</a:t>
            </a: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594549" y="4117180"/>
            <a:ext cx="3623186" cy="29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Symptom Ambiguity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594549" y="4421981"/>
            <a:ext cx="4507394" cy="488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Incomplete user input affects recommendations</a:t>
            </a:r>
            <a:endParaRPr lang="en-US" sz="1400" b="1" dirty="0"/>
          </a:p>
        </p:txBody>
      </p:sp>
      <p:sp>
        <p:nvSpPr>
          <p:cNvPr id="31" name="Shape 28"/>
          <p:cNvSpPr/>
          <p:nvPr/>
        </p:nvSpPr>
        <p:spPr>
          <a:xfrm>
            <a:off x="5054870" y="5125470"/>
            <a:ext cx="6701829" cy="971550"/>
          </a:xfrm>
          <a:prstGeom prst="roundRect">
            <a:avLst>
              <a:gd name="adj" fmla="val 15686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5242521" y="5227863"/>
            <a:ext cx="560286" cy="339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🌐</a:t>
            </a: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5594549" y="5236368"/>
            <a:ext cx="3137604" cy="29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Internet Dependency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604073" y="5575526"/>
            <a:ext cx="3112703" cy="2443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Requires stable connectivity for features</a:t>
            </a:r>
            <a:endParaRPr lang="en-US" sz="1400" b="1" dirty="0"/>
          </a:p>
        </p:txBody>
      </p:sp>
      <p:sp>
        <p:nvSpPr>
          <p:cNvPr id="36" name="Text 33"/>
          <p:cNvSpPr/>
          <p:nvPr/>
        </p:nvSpPr>
        <p:spPr>
          <a:xfrm>
            <a:off x="5204421" y="5198268"/>
            <a:ext cx="560286" cy="339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5632649" y="5198269"/>
            <a:ext cx="55911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0" y="6400800"/>
            <a:ext cx="12192000" cy="457200"/>
          </a:xfrm>
          <a:prstGeom prst="roundRect">
            <a:avLst>
              <a:gd name="adj" fmla="val 0"/>
            </a:avLst>
          </a:prstGeom>
          <a:solidFill>
            <a:srgbClr val="FADADD"/>
          </a:solidFill>
          <a:ln/>
        </p:spPr>
      </p:sp>
      <p:sp>
        <p:nvSpPr>
          <p:cNvPr id="39" name="Text 36"/>
          <p:cNvSpPr/>
          <p:nvPr/>
        </p:nvSpPr>
        <p:spPr>
          <a:xfrm>
            <a:off x="304800" y="6515100"/>
            <a:ext cx="581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🐾 Group 05 | Rishat Bin Sultan, Fariha Islam, Nafia Haque Muskan, MD Tamim Hasan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11677948" y="651510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🐾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D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-900000">
            <a:off x="328964" y="191765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solidFill>
                  <a:srgbClr val="5A4A6A">
                    <a:alpha val="1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🐾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 rot="1199999">
            <a:off x="11089609" y="376628"/>
            <a:ext cx="51816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160" dirty="0">
                <a:solidFill>
                  <a:srgbClr val="5A4A6A">
                    <a:alpha val="1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🐾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714500" y="857250"/>
            <a:ext cx="37528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39823" y="5657850"/>
            <a:ext cx="428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45378" y="1047750"/>
            <a:ext cx="33909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49341" y="381000"/>
            <a:ext cx="3695700" cy="533400"/>
          </a:xfrm>
          <a:prstGeom prst="roundRect">
            <a:avLst>
              <a:gd name="adj" fmla="val 50000"/>
            </a:avLst>
          </a:prstGeom>
          <a:solidFill>
            <a:srgbClr val="B5E6D9"/>
          </a:solidFill>
          <a:ln/>
        </p:spPr>
      </p:sp>
      <p:sp>
        <p:nvSpPr>
          <p:cNvPr id="8" name="Text 6"/>
          <p:cNvSpPr/>
          <p:nvPr/>
        </p:nvSpPr>
        <p:spPr>
          <a:xfrm>
            <a:off x="4420791" y="495300"/>
            <a:ext cx="428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🚀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20444" y="457200"/>
            <a:ext cx="2552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5A8A7A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XII. Future Work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42882" y="495300"/>
            <a:ext cx="428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🐾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1000" y="1034653"/>
            <a:ext cx="6724650" cy="857250"/>
          </a:xfrm>
          <a:prstGeom prst="roundRect">
            <a:avLst>
              <a:gd name="adj" fmla="val 1777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3400" y="1187053"/>
            <a:ext cx="765520" cy="390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📱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40109" y="1187052"/>
            <a:ext cx="4647801" cy="303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Mobile Apps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40109" y="1491853"/>
            <a:ext cx="4620461" cy="281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Android/iOS applications for better accessibility</a:t>
            </a:r>
            <a:endParaRPr lang="en-US" sz="1400" b="1" dirty="0"/>
          </a:p>
        </p:txBody>
      </p:sp>
      <p:sp>
        <p:nvSpPr>
          <p:cNvPr id="15" name="Shape 13"/>
          <p:cNvSpPr/>
          <p:nvPr/>
        </p:nvSpPr>
        <p:spPr>
          <a:xfrm>
            <a:off x="381000" y="2006203"/>
            <a:ext cx="6724650" cy="857250"/>
          </a:xfrm>
          <a:prstGeom prst="roundRect">
            <a:avLst>
              <a:gd name="adj" fmla="val 1777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3400" y="2158603"/>
            <a:ext cx="765520" cy="390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40110" y="2158602"/>
            <a:ext cx="4934871" cy="303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IoT Integration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40110" y="2463403"/>
            <a:ext cx="4907531" cy="281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 with wearables for continuous monitoring</a:t>
            </a:r>
            <a:endParaRPr lang="en-US" sz="1400" b="1" dirty="0"/>
          </a:p>
        </p:txBody>
      </p:sp>
      <p:sp>
        <p:nvSpPr>
          <p:cNvPr id="19" name="Shape 17"/>
          <p:cNvSpPr/>
          <p:nvPr/>
        </p:nvSpPr>
        <p:spPr>
          <a:xfrm>
            <a:off x="381000" y="2977753"/>
            <a:ext cx="6724650" cy="857250"/>
          </a:xfrm>
          <a:prstGeom prst="roundRect">
            <a:avLst>
              <a:gd name="adj" fmla="val 1777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3400" y="3130153"/>
            <a:ext cx="765520" cy="390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🧠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40109" y="3130152"/>
            <a:ext cx="5495341" cy="303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Advanced AI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40109" y="3434953"/>
            <a:ext cx="5468001" cy="281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Transfer learning, ensemble models, Vision Transformers</a:t>
            </a:r>
            <a:endParaRPr lang="en-US" sz="1400" b="1" dirty="0"/>
          </a:p>
        </p:txBody>
      </p:sp>
      <p:sp>
        <p:nvSpPr>
          <p:cNvPr id="23" name="Shape 21"/>
          <p:cNvSpPr/>
          <p:nvPr/>
        </p:nvSpPr>
        <p:spPr>
          <a:xfrm>
            <a:off x="381000" y="3949303"/>
            <a:ext cx="6724650" cy="857250"/>
          </a:xfrm>
          <a:prstGeom prst="roundRect">
            <a:avLst>
              <a:gd name="adj" fmla="val 1777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33400" y="4101703"/>
            <a:ext cx="765520" cy="390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💬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40109" y="4101702"/>
            <a:ext cx="4647801" cy="303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Tele-Veterinary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40109" y="4406503"/>
            <a:ext cx="4620461" cy="281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chat/video consultations with licensed vets</a:t>
            </a:r>
            <a:endParaRPr lang="en-US" sz="1400" b="1" dirty="0"/>
          </a:p>
        </p:txBody>
      </p:sp>
      <p:sp>
        <p:nvSpPr>
          <p:cNvPr id="27" name="Shape 25"/>
          <p:cNvSpPr/>
          <p:nvPr/>
        </p:nvSpPr>
        <p:spPr>
          <a:xfrm>
            <a:off x="381000" y="4920853"/>
            <a:ext cx="6724650" cy="752475"/>
          </a:xfrm>
          <a:prstGeom prst="roundRect">
            <a:avLst>
              <a:gd name="adj" fmla="val 20253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95300" y="5035153"/>
            <a:ext cx="615150" cy="34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🌍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85427" y="5035152"/>
            <a:ext cx="3636221" cy="303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Multi-Language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85427" y="5339953"/>
            <a:ext cx="3608881" cy="249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 for Bengali and regional languages</a:t>
            </a:r>
            <a:endParaRPr lang="en-US" sz="1400" b="1" dirty="0"/>
          </a:p>
        </p:txBody>
      </p:sp>
      <p:sp>
        <p:nvSpPr>
          <p:cNvPr id="31" name="Shape 29"/>
          <p:cNvSpPr/>
          <p:nvPr/>
        </p:nvSpPr>
        <p:spPr>
          <a:xfrm>
            <a:off x="346458" y="5779974"/>
            <a:ext cx="6759192" cy="752475"/>
          </a:xfrm>
          <a:prstGeom prst="roundRect">
            <a:avLst>
              <a:gd name="adj" fmla="val 20253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56803" y="5862298"/>
            <a:ext cx="615150" cy="346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🏥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85428" y="5840185"/>
            <a:ext cx="3513191" cy="303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Broader Coverage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85428" y="6178833"/>
            <a:ext cx="3485851" cy="249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Extend to cats, birds, livestock, and more</a:t>
            </a:r>
            <a:endParaRPr lang="en-US" sz="1400" b="1" dirty="0"/>
          </a:p>
        </p:txBody>
      </p:sp>
      <p:sp>
        <p:nvSpPr>
          <p:cNvPr id="35" name="Shape 33"/>
          <p:cNvSpPr/>
          <p:nvPr/>
        </p:nvSpPr>
        <p:spPr>
          <a:xfrm>
            <a:off x="7349530" y="1562100"/>
            <a:ext cx="4438650" cy="3009900"/>
          </a:xfrm>
          <a:prstGeom prst="roundRect">
            <a:avLst>
              <a:gd name="adj" fmla="val 7595"/>
            </a:avLst>
          </a:prstGeom>
          <a:solidFill>
            <a:srgbClr val="000000">
              <a:alpha val="0"/>
            </a:srgbClr>
          </a:solidFill>
          <a:ln w="50800">
            <a:solidFill>
              <a:srgbClr val="B5E6D9"/>
            </a:solidFill>
            <a:prstDash val="solid"/>
          </a:ln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36" name="Image 0" descr="https://kimi-web-img.moonshot.cn/img/vetmed.illinois.edu/5bc1319f0f7150cfea5b87e923eb0e0a629e82e4.jpg"/>
          <p:cNvPicPr>
            <a:picLocks noChangeAspect="1"/>
          </p:cNvPicPr>
          <p:nvPr/>
        </p:nvPicPr>
        <p:blipFill>
          <a:blip r:embed="rId3"/>
          <a:srcRect l="641" r="641"/>
          <a:stretch/>
        </p:blipFill>
        <p:spPr>
          <a:xfrm>
            <a:off x="7368580" y="1581150"/>
            <a:ext cx="4400550" cy="2971800"/>
          </a:xfrm>
          <a:prstGeom prst="roundRect">
            <a:avLst>
              <a:gd name="adj" fmla="val 7692"/>
            </a:avLst>
          </a:prstGeom>
        </p:spPr>
      </p:pic>
      <p:sp>
        <p:nvSpPr>
          <p:cNvPr id="37" name="Shape 34"/>
          <p:cNvSpPr/>
          <p:nvPr/>
        </p:nvSpPr>
        <p:spPr>
          <a:xfrm>
            <a:off x="8220274" y="4743450"/>
            <a:ext cx="2705100" cy="419100"/>
          </a:xfrm>
          <a:prstGeom prst="roundRect">
            <a:avLst>
              <a:gd name="adj" fmla="val 50000"/>
            </a:avLst>
          </a:prstGeom>
          <a:solidFill>
            <a:srgbClr val="C8A8E9"/>
          </a:solidFill>
          <a:ln/>
        </p:spPr>
      </p:sp>
      <p:sp>
        <p:nvSpPr>
          <p:cNvPr id="38" name="Text 35"/>
          <p:cNvSpPr/>
          <p:nvPr/>
        </p:nvSpPr>
        <p:spPr>
          <a:xfrm>
            <a:off x="8448874" y="4832356"/>
            <a:ext cx="2329359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🔮 Exciting Future Ahead! 🌟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0" y="6553198"/>
            <a:ext cx="12192000" cy="304801"/>
          </a:xfrm>
          <a:prstGeom prst="roundRect">
            <a:avLst>
              <a:gd name="adj" fmla="val 0"/>
            </a:avLst>
          </a:prstGeom>
          <a:solidFill>
            <a:srgbClr val="FADADD"/>
          </a:solidFill>
          <a:ln/>
        </p:spPr>
      </p:sp>
      <p:sp>
        <p:nvSpPr>
          <p:cNvPr id="40" name="Text 37"/>
          <p:cNvSpPr/>
          <p:nvPr/>
        </p:nvSpPr>
        <p:spPr>
          <a:xfrm>
            <a:off x="2897394" y="6586367"/>
            <a:ext cx="581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🐾 Group 05 | Rishat Bin Sultan, Fariha Islam, Nafia Haque Muskan, MD Tamim Hasan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11677948" y="651510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✨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8D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-900000">
            <a:off x="328964" y="191765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solidFill>
                  <a:srgbClr val="5A4A6A">
                    <a:alpha val="1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🐾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 rot="1199999">
            <a:off x="11089609" y="376628"/>
            <a:ext cx="51816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160" dirty="0">
                <a:solidFill>
                  <a:srgbClr val="5A4A6A">
                    <a:alpha val="1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🐾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714500" y="857250"/>
            <a:ext cx="37528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39823" y="5657850"/>
            <a:ext cx="428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45377" y="1047750"/>
            <a:ext cx="4155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5A4A6A">
                    <a:alpha val="1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59858" y="381000"/>
            <a:ext cx="3676650" cy="533400"/>
          </a:xfrm>
          <a:prstGeom prst="roundRect">
            <a:avLst>
              <a:gd name="adj" fmla="val 50000"/>
            </a:avLst>
          </a:prstGeom>
          <a:solidFill>
            <a:srgbClr val="F8C8DC"/>
          </a:solidFill>
          <a:ln/>
        </p:spPr>
      </p:sp>
      <p:sp>
        <p:nvSpPr>
          <p:cNvPr id="8" name="Text 6"/>
          <p:cNvSpPr/>
          <p:nvPr/>
        </p:nvSpPr>
        <p:spPr>
          <a:xfrm>
            <a:off x="4431308" y="495300"/>
            <a:ext cx="428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30961" y="457200"/>
            <a:ext cx="2533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XIII. Conclusion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32365" y="495300"/>
            <a:ext cx="428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🏆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1562100"/>
            <a:ext cx="4438650" cy="3009900"/>
          </a:xfrm>
          <a:prstGeom prst="roundRect">
            <a:avLst>
              <a:gd name="adj" fmla="val 7595"/>
            </a:avLst>
          </a:prstGeom>
          <a:solidFill>
            <a:srgbClr val="000000">
              <a:alpha val="0"/>
            </a:srgbClr>
          </a:solidFill>
          <a:ln w="50800">
            <a:solidFill>
              <a:srgbClr val="F8C8DC"/>
            </a:solidFill>
            <a:prstDash val="solid"/>
          </a:ln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12" name="Image 0" descr="https://kimi-img.moonshot.cn/pub/slides/26-04-21-23:01:58-d7jp2pls8fbcce948pc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1581150"/>
            <a:ext cx="4430911" cy="2971800"/>
          </a:xfrm>
          <a:prstGeom prst="roundRect">
            <a:avLst>
              <a:gd name="adj" fmla="val 7692"/>
            </a:avLst>
          </a:prstGeom>
        </p:spPr>
      </p:pic>
      <p:sp>
        <p:nvSpPr>
          <p:cNvPr id="13" name="Shape 10"/>
          <p:cNvSpPr/>
          <p:nvPr/>
        </p:nvSpPr>
        <p:spPr>
          <a:xfrm>
            <a:off x="1238052" y="4743450"/>
            <a:ext cx="2762250" cy="419100"/>
          </a:xfrm>
          <a:prstGeom prst="roundRect">
            <a:avLst>
              <a:gd name="adj" fmla="val 50000"/>
            </a:avLst>
          </a:prstGeom>
          <a:solidFill>
            <a:srgbClr val="C8A8E9"/>
          </a:solidFill>
          <a:ln/>
        </p:spPr>
      </p:sp>
      <p:sp>
        <p:nvSpPr>
          <p:cNvPr id="14" name="Text 11"/>
          <p:cNvSpPr/>
          <p:nvPr/>
        </p:nvSpPr>
        <p:spPr>
          <a:xfrm>
            <a:off x="1466652" y="4832356"/>
            <a:ext cx="2394942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🎊 Mission Accomplished! 🏆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090121" y="981075"/>
            <a:ext cx="6724650" cy="857250"/>
          </a:xfrm>
          <a:prstGeom prst="roundRect">
            <a:avLst>
              <a:gd name="adj" fmla="val 1777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242521" y="1133475"/>
            <a:ext cx="533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🎯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749230" y="1133475"/>
            <a:ext cx="49139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Successful Integration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749230" y="1438275"/>
            <a:ext cx="489059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+ web technologies address critical veterinary challenges</a:t>
            </a:r>
            <a:endParaRPr lang="en-US" sz="1400" b="1" dirty="0"/>
          </a:p>
        </p:txBody>
      </p:sp>
      <p:sp>
        <p:nvSpPr>
          <p:cNvPr id="19" name="Shape 16"/>
          <p:cNvSpPr/>
          <p:nvPr/>
        </p:nvSpPr>
        <p:spPr>
          <a:xfrm>
            <a:off x="5090121" y="1952625"/>
            <a:ext cx="6724650" cy="857250"/>
          </a:xfrm>
          <a:prstGeom prst="roundRect">
            <a:avLst>
              <a:gd name="adj" fmla="val 1777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242521" y="2105025"/>
            <a:ext cx="533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🔬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749229" y="2105025"/>
            <a:ext cx="48789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Major Achievement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749229" y="2409825"/>
            <a:ext cx="485557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CNN model enables early disease detection and awareness</a:t>
            </a:r>
            <a:endParaRPr lang="en-US" sz="1400" b="1" dirty="0"/>
          </a:p>
        </p:txBody>
      </p:sp>
      <p:sp>
        <p:nvSpPr>
          <p:cNvPr id="23" name="Shape 20"/>
          <p:cNvSpPr/>
          <p:nvPr/>
        </p:nvSpPr>
        <p:spPr>
          <a:xfrm>
            <a:off x="5090121" y="2924175"/>
            <a:ext cx="6724650" cy="857250"/>
          </a:xfrm>
          <a:prstGeom prst="roundRect">
            <a:avLst>
              <a:gd name="adj" fmla="val 1777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242521" y="3076575"/>
            <a:ext cx="533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🛒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749230" y="3076575"/>
            <a:ext cx="4166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Enhanced Convenience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749230" y="3381375"/>
            <a:ext cx="41435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product purchasing based on AI predictions</a:t>
            </a:r>
            <a:endParaRPr lang="en-US" sz="1400" b="1" dirty="0"/>
          </a:p>
        </p:txBody>
      </p:sp>
      <p:sp>
        <p:nvSpPr>
          <p:cNvPr id="27" name="Shape 24"/>
          <p:cNvSpPr/>
          <p:nvPr/>
        </p:nvSpPr>
        <p:spPr>
          <a:xfrm>
            <a:off x="5090121" y="3895725"/>
            <a:ext cx="6724650" cy="857250"/>
          </a:xfrm>
          <a:prstGeom prst="roundRect">
            <a:avLst>
              <a:gd name="adj" fmla="val 1777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242521" y="4048125"/>
            <a:ext cx="533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🏗️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749230" y="4048125"/>
            <a:ext cx="47505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Scalable Architecture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749230" y="4352925"/>
            <a:ext cx="47271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Three-tier design ensures organized, maintainable system</a:t>
            </a:r>
            <a:endParaRPr lang="en-US" sz="1400" b="1" dirty="0"/>
          </a:p>
        </p:txBody>
      </p:sp>
      <p:sp>
        <p:nvSpPr>
          <p:cNvPr id="31" name="Shape 28"/>
          <p:cNvSpPr/>
          <p:nvPr/>
        </p:nvSpPr>
        <p:spPr>
          <a:xfrm>
            <a:off x="5090121" y="4867275"/>
            <a:ext cx="6724650" cy="857250"/>
          </a:xfrm>
          <a:prstGeom prst="roundRect">
            <a:avLst>
              <a:gd name="adj" fmla="val 1777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5242521" y="5019675"/>
            <a:ext cx="533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🚀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749230" y="5019675"/>
            <a:ext cx="51707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Future Ready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749230" y="5324475"/>
            <a:ext cx="514737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foundation for continued innovation in smart healthcare</a:t>
            </a:r>
            <a:endParaRPr lang="en-US" sz="1400" b="1" dirty="0"/>
          </a:p>
        </p:txBody>
      </p:sp>
      <p:sp>
        <p:nvSpPr>
          <p:cNvPr id="35" name="Shape 32"/>
          <p:cNvSpPr/>
          <p:nvPr/>
        </p:nvSpPr>
        <p:spPr>
          <a:xfrm>
            <a:off x="0" y="6400800"/>
            <a:ext cx="12192000" cy="457200"/>
          </a:xfrm>
          <a:prstGeom prst="roundRect">
            <a:avLst>
              <a:gd name="adj" fmla="val 0"/>
            </a:avLst>
          </a:prstGeom>
          <a:solidFill>
            <a:srgbClr val="FADADD"/>
          </a:solidFill>
          <a:ln/>
        </p:spPr>
      </p:sp>
      <p:sp>
        <p:nvSpPr>
          <p:cNvPr id="36" name="Text 33"/>
          <p:cNvSpPr/>
          <p:nvPr/>
        </p:nvSpPr>
        <p:spPr>
          <a:xfrm>
            <a:off x="304800" y="6515100"/>
            <a:ext cx="581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🐾 Group 05 | Rishat Bin Sultan, Fariha Islam, Nafia Haque Muskan, MD Tamim Hasan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11677948" y="651510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🐾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8D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-900000">
            <a:off x="328964" y="191756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solidFill>
                  <a:srgbClr val="5A4A6A">
                    <a:alpha val="1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🐾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 rot="1199999">
            <a:off x="11089609" y="376628"/>
            <a:ext cx="51816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160" dirty="0">
                <a:solidFill>
                  <a:srgbClr val="5A4A6A">
                    <a:alpha val="1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🐾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714500" y="857250"/>
            <a:ext cx="37528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0" dirty="0">
                <a:solidFill>
                  <a:srgbClr val="5A4A6A">
                    <a:alpha val="2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⭐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36046" y="381000"/>
            <a:ext cx="3724275" cy="533400"/>
          </a:xfrm>
          <a:prstGeom prst="roundRect">
            <a:avLst>
              <a:gd name="adj" fmla="val 50000"/>
            </a:avLst>
          </a:prstGeom>
          <a:solidFill>
            <a:srgbClr val="F8C8DC"/>
          </a:solidFill>
          <a:ln/>
        </p:spPr>
      </p:sp>
      <p:sp>
        <p:nvSpPr>
          <p:cNvPr id="8" name="Text 6"/>
          <p:cNvSpPr/>
          <p:nvPr/>
        </p:nvSpPr>
        <p:spPr>
          <a:xfrm>
            <a:off x="4407496" y="495300"/>
            <a:ext cx="428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📚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07148" y="457200"/>
            <a:ext cx="25812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XIV. References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56277" y="495300"/>
            <a:ext cx="428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🐾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1000" y="1021556"/>
            <a:ext cx="10654192" cy="609600"/>
          </a:xfrm>
          <a:prstGeom prst="roundRect">
            <a:avLst>
              <a:gd name="adj" fmla="val 25000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33400" y="1173956"/>
            <a:ext cx="6790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📖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1628" y="1173956"/>
            <a:ext cx="956764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Russell, S., &amp; Norvig, P. (2021). Artificial Intelligence: A Modern Approach (4th ed.). Pearson.</a:t>
            </a:r>
            <a:endParaRPr lang="en-US" sz="1400" b="1" dirty="0"/>
          </a:p>
        </p:txBody>
      </p:sp>
      <p:sp>
        <p:nvSpPr>
          <p:cNvPr id="14" name="Shape 12"/>
          <p:cNvSpPr/>
          <p:nvPr/>
        </p:nvSpPr>
        <p:spPr>
          <a:xfrm>
            <a:off x="381000" y="1745456"/>
            <a:ext cx="10654192" cy="609600"/>
          </a:xfrm>
          <a:prstGeom prst="roundRect">
            <a:avLst>
              <a:gd name="adj" fmla="val 25000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3400" y="1897856"/>
            <a:ext cx="6790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📖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1628" y="1897856"/>
            <a:ext cx="781709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Goodfellow, I., Bengio, Y., &amp; Courville, A. (2016). Deep Learning. MIT Press.</a:t>
            </a:r>
            <a:endParaRPr lang="en-US" sz="1400" b="1" dirty="0"/>
          </a:p>
        </p:txBody>
      </p:sp>
      <p:sp>
        <p:nvSpPr>
          <p:cNvPr id="17" name="Shape 15"/>
          <p:cNvSpPr/>
          <p:nvPr/>
        </p:nvSpPr>
        <p:spPr>
          <a:xfrm>
            <a:off x="381000" y="2469356"/>
            <a:ext cx="10654192" cy="609600"/>
          </a:xfrm>
          <a:prstGeom prst="roundRect">
            <a:avLst>
              <a:gd name="adj" fmla="val 25000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3400" y="2621756"/>
            <a:ext cx="6790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📖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1628" y="2621756"/>
            <a:ext cx="888855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LeCun, Y., Bengio, Y., &amp; Hinton, G. (2015). Deep Learning. Nature, 521(7553), 436-444.</a:t>
            </a:r>
            <a:endParaRPr lang="en-US" sz="1400" b="1" dirty="0"/>
          </a:p>
        </p:txBody>
      </p:sp>
      <p:sp>
        <p:nvSpPr>
          <p:cNvPr id="20" name="Shape 18"/>
          <p:cNvSpPr/>
          <p:nvPr/>
        </p:nvSpPr>
        <p:spPr>
          <a:xfrm>
            <a:off x="381000" y="3193256"/>
            <a:ext cx="10654192" cy="692944"/>
          </a:xfrm>
          <a:prstGeom prst="roundRect">
            <a:avLst>
              <a:gd name="adj" fmla="val 1904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3400" y="3345656"/>
            <a:ext cx="6790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📖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1628" y="3345656"/>
            <a:ext cx="9612918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American Veterinary Medical Association. (2021). AVMA Guidelines for Telehealth in Veterinary Practice.</a:t>
            </a:r>
            <a:endParaRPr lang="en-US" sz="1400" b="1" dirty="0"/>
          </a:p>
        </p:txBody>
      </p:sp>
      <p:sp>
        <p:nvSpPr>
          <p:cNvPr id="23" name="Shape 21"/>
          <p:cNvSpPr/>
          <p:nvPr/>
        </p:nvSpPr>
        <p:spPr>
          <a:xfrm>
            <a:off x="381000" y="4000500"/>
            <a:ext cx="10654192" cy="760369"/>
          </a:xfrm>
          <a:prstGeom prst="roundRect">
            <a:avLst>
              <a:gd name="adj" fmla="val 19048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33400" y="4260056"/>
            <a:ext cx="6790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📖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1628" y="4260056"/>
            <a:ext cx="9612918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Abu-Seida, A. M. (2024). Veterinary telemedicine: A new era for animal welfare. Veterinary World.</a:t>
            </a:r>
            <a:endParaRPr lang="en-US" sz="1400" b="1" dirty="0"/>
          </a:p>
        </p:txBody>
      </p:sp>
      <p:sp>
        <p:nvSpPr>
          <p:cNvPr id="26" name="Shape 24"/>
          <p:cNvSpPr/>
          <p:nvPr/>
        </p:nvSpPr>
        <p:spPr>
          <a:xfrm>
            <a:off x="381000" y="4879181"/>
            <a:ext cx="10654192" cy="702469"/>
          </a:xfrm>
          <a:prstGeom prst="roundRect">
            <a:avLst>
              <a:gd name="adj" fmla="val 22857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5300" y="5136356"/>
            <a:ext cx="5583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📖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49894" y="5136356"/>
            <a:ext cx="9654460" cy="243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Chen, C., &amp; colleagues. (2025). CNN-based methods for medical image classification.</a:t>
            </a:r>
            <a:endParaRPr lang="en-US" sz="1400" b="1" dirty="0"/>
          </a:p>
        </p:txBody>
      </p:sp>
      <p:sp>
        <p:nvSpPr>
          <p:cNvPr id="29" name="Shape 27"/>
          <p:cNvSpPr/>
          <p:nvPr/>
        </p:nvSpPr>
        <p:spPr>
          <a:xfrm>
            <a:off x="381000" y="5684045"/>
            <a:ext cx="10654192" cy="654392"/>
          </a:xfrm>
          <a:prstGeom prst="roundRect">
            <a:avLst>
              <a:gd name="adj" fmla="val 22857"/>
            </a:avLst>
          </a:prstGeom>
          <a:solidFill>
            <a:srgbClr val="FFFFFF">
              <a:alpha val="85098"/>
            </a:srgbClr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95299" y="5841206"/>
            <a:ext cx="5583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📖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49893" y="5868080"/>
            <a:ext cx="7010427" cy="266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5A4A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World Organisation for Animal Health. Disease detection, surveillance and diagnosis.</a:t>
            </a:r>
            <a:endParaRPr lang="en-US" sz="1400" b="1" dirty="0"/>
          </a:p>
        </p:txBody>
      </p:sp>
      <p:sp>
        <p:nvSpPr>
          <p:cNvPr id="39" name="Shape 37"/>
          <p:cNvSpPr/>
          <p:nvPr/>
        </p:nvSpPr>
        <p:spPr>
          <a:xfrm>
            <a:off x="0" y="6400800"/>
            <a:ext cx="12192000" cy="457200"/>
          </a:xfrm>
          <a:prstGeom prst="roundRect">
            <a:avLst>
              <a:gd name="adj" fmla="val 0"/>
            </a:avLst>
          </a:prstGeom>
          <a:solidFill>
            <a:srgbClr val="FADADD"/>
          </a:solidFill>
          <a:ln/>
        </p:spPr>
      </p:sp>
      <p:sp>
        <p:nvSpPr>
          <p:cNvPr id="40" name="Text 38"/>
          <p:cNvSpPr/>
          <p:nvPr/>
        </p:nvSpPr>
        <p:spPr>
          <a:xfrm>
            <a:off x="304800" y="6515100"/>
            <a:ext cx="581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🐾 Group 05 | Rishat Bin Sultan, Fariha Islam, Nafia Haque Muskan, MD Tamim Hasan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677948" y="651510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B7CB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💜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66A238-A1B8-3B5F-7F81-018792B06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9096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502CB1-AFEB-BF4A-FE6B-7A6809AB6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32834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1335</Words>
  <Application>Microsoft Office PowerPoint</Application>
  <PresentationFormat>Widescreen</PresentationFormat>
  <Paragraphs>375</Paragraphs>
  <Slides>32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Quattrocento Sans</vt:lpstr>
      <vt:lpstr>Arial</vt:lpstr>
      <vt:lpstr>Coda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PetDoc - AI-Powered Veterinary Healthcare Platform</dc:title>
  <dc:subject>PetDoc - AI-Powered Veterinary Healthcare Platform</dc:subject>
  <dc:creator>Kimi</dc:creator>
  <cp:lastModifiedBy>Fariha Islam</cp:lastModifiedBy>
  <cp:revision>3</cp:revision>
  <dcterms:created xsi:type="dcterms:W3CDTF">2026-04-21T15:03:29Z</dcterms:created>
  <dcterms:modified xsi:type="dcterms:W3CDTF">2026-04-28T17:52:06Z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{"Label":"PetDoc - AI-Powered Veterinary Healthcare Platform","ContentProducer":"001191110108MACG2KBH8F10000","ProduceID":"19db06e5-f862-87fe-8000-000066e42df4","ReservedCode1":"","ContentPropagator":"001191110108MACG2KBH8F20000","PropagateID":"19db06e5-f862-87fe-8000-000066e42df4","ReservedCode2":""}</vt:lpwstr>
  </property>
</Properties>
</file>