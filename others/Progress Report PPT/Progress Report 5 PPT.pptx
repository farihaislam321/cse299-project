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60" r:id="rId6"/>
    <p:sldId id="261" r:id="rId7"/>
    <p:sldId id="262" r:id="rId8"/>
    <p:sldId id="259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embeddedFontLst>
    <p:embeddedFont>
      <p:font typeface="微软雅黑" panose="020B0503020204020204" pitchFamily="34" charset="-122"/>
      <p:regular r:id="rId16"/>
      <p:bold r:id="rId17"/>
    </p:embeddedFont>
    <p:embeddedFont>
      <p:font typeface="MiSans" panose="020B0604020202020204" charset="-122"/>
      <p:regular r:id="rId18"/>
    </p:embeddedFont>
    <p:embeddedFont>
      <p:font typeface="得意黑" panose="020B0604020202020204" charset="-122"/>
      <p:regular r:id="rId19"/>
    </p:embeddedFont>
    <p:embeddedFont>
      <p:font typeface="ZCOOL KuaiLe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50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bin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e097f5e8b604d76b5471e7a8a4867a3ca587efdc.jpg"/>
          <p:cNvPicPr>
            <a:picLocks noChangeAspect="1"/>
          </p:cNvPicPr>
          <p:nvPr/>
        </p:nvPicPr>
        <p:blipFill>
          <a:blip r:embed="rId3">
            <a:alphaModFix amt="80000"/>
          </a:blip>
          <a:srcRect/>
          <a:stretch/>
        </p:blipFill>
        <p:spPr>
          <a:xfrm>
            <a:off x="152400" y="152400"/>
            <a:ext cx="1219200" cy="1219200"/>
          </a:xfrm>
          <a:prstGeom prst="roundRect">
            <a:avLst>
              <a:gd name="adj" fmla="val 0"/>
            </a:avLst>
          </a:prstGeom>
        </p:spPr>
      </p:pic>
      <p:pic>
        <p:nvPicPr>
          <p:cNvPr id="3" name="Image 1" descr="https://kimi-web-img.moonshot.cn/img/static.vecteezy.com/f8ebfba9e19553c507393d2071031c6bcbc6b979.jpg"/>
          <p:cNvPicPr>
            <a:picLocks noChangeAspect="1"/>
          </p:cNvPicPr>
          <p:nvPr/>
        </p:nvPicPr>
        <p:blipFill>
          <a:blip r:embed="rId4">
            <a:alphaModFix amt="60000"/>
          </a:blip>
          <a:srcRect/>
          <a:stretch/>
        </p:blipFill>
        <p:spPr>
          <a:xfrm>
            <a:off x="10668000" y="304800"/>
            <a:ext cx="914400" cy="914400"/>
          </a:xfrm>
          <a:prstGeom prst="roundRect">
            <a:avLst>
              <a:gd name="adj" fmla="val 0"/>
            </a:avLst>
          </a:prstGeom>
        </p:spPr>
      </p:pic>
      <p:pic>
        <p:nvPicPr>
          <p:cNvPr id="4" name="Image 2" descr="https://kimi-web-img.moonshot.cn/img/thumbs.dreamstime.com/297444bfa4d370c58480994b76b8db18bac83b79.jpg"/>
          <p:cNvPicPr>
            <a:picLocks noChangeAspect="1"/>
          </p:cNvPicPr>
          <p:nvPr/>
        </p:nvPicPr>
        <p:blipFill>
          <a:blip r:embed="rId5">
            <a:alphaModFix amt="70000"/>
          </a:blip>
          <a:srcRect/>
          <a:stretch/>
        </p:blipFill>
        <p:spPr>
          <a:xfrm>
            <a:off x="304800" y="5181600"/>
            <a:ext cx="1524000" cy="1524000"/>
          </a:xfrm>
          <a:prstGeom prst="roundRect">
            <a:avLst>
              <a:gd name="adj" fmla="val 0"/>
            </a:avLst>
          </a:prstGeom>
        </p:spPr>
      </p:pic>
      <p:pic>
        <p:nvPicPr>
          <p:cNvPr id="5" name="Image 3" descr="https://kimi-web-img.moonshot.cn/img/img.freepik.com/14270208070730305fe92d1558bbc96d5e8ac5d4.jpg"/>
          <p:cNvPicPr>
            <a:picLocks noChangeAspect="1"/>
          </p:cNvPicPr>
          <p:nvPr/>
        </p:nvPicPr>
        <p:blipFill>
          <a:blip r:embed="rId6">
            <a:alphaModFix amt="50000"/>
          </a:blip>
          <a:srcRect/>
          <a:stretch/>
        </p:blipFill>
        <p:spPr>
          <a:xfrm>
            <a:off x="10515600" y="5181600"/>
            <a:ext cx="1371600" cy="1371600"/>
          </a:xfrm>
          <a:prstGeom prst="roundRect">
            <a:avLst>
              <a:gd name="adj" fmla="val 0"/>
            </a:avLst>
          </a:prstGeom>
        </p:spPr>
      </p:pic>
      <p:sp>
        <p:nvSpPr>
          <p:cNvPr id="6" name="Text 0"/>
          <p:cNvSpPr/>
          <p:nvPr/>
        </p:nvSpPr>
        <p:spPr>
          <a:xfrm>
            <a:off x="-38100" y="6477000"/>
            <a:ext cx="1226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Nafia Haque Muskan, MD Tamim Hasan</a:t>
            </a:r>
            <a:endParaRPr lang="en-US" sz="1600" dirty="0"/>
          </a:p>
        </p:txBody>
      </p:sp>
      <p:sp>
        <p:nvSpPr>
          <p:cNvPr id="7" name="Shape 1"/>
          <p:cNvSpPr/>
          <p:nvPr/>
        </p:nvSpPr>
        <p:spPr>
          <a:xfrm>
            <a:off x="2243301" y="1182414"/>
            <a:ext cx="7591425" cy="3429000"/>
          </a:xfrm>
          <a:custGeom>
            <a:avLst/>
            <a:gdLst/>
            <a:ahLst/>
            <a:cxnLst/>
            <a:rect l="l" t="t" r="r" b="b"/>
            <a:pathLst>
              <a:path w="7591425" h="3429000">
                <a:moveTo>
                  <a:pt x="571511" y="0"/>
                </a:moveTo>
                <a:lnTo>
                  <a:pt x="7019914" y="0"/>
                </a:lnTo>
                <a:cubicBezTo>
                  <a:pt x="7335551" y="0"/>
                  <a:pt x="7591425" y="255874"/>
                  <a:pt x="7591425" y="571511"/>
                </a:cubicBezTo>
                <a:lnTo>
                  <a:pt x="7591425" y="2857489"/>
                </a:lnTo>
                <a:cubicBezTo>
                  <a:pt x="7591425" y="3173126"/>
                  <a:pt x="7335551" y="3429000"/>
                  <a:pt x="7019914" y="3429000"/>
                </a:cubicBezTo>
                <a:lnTo>
                  <a:pt x="571511" y="3429000"/>
                </a:lnTo>
                <a:cubicBezTo>
                  <a:pt x="255874" y="3429000"/>
                  <a:pt x="0" y="3173126"/>
                  <a:pt x="0" y="2857489"/>
                </a:cubicBezTo>
                <a:lnTo>
                  <a:pt x="0" y="571511"/>
                </a:lnTo>
                <a:cubicBezTo>
                  <a:pt x="0" y="255874"/>
                  <a:pt x="255874" y="0"/>
                  <a:pt x="571511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50800">
            <a:solidFill>
              <a:srgbClr val="D2691E"/>
            </a:solidFill>
            <a:prstDash val="solid"/>
          </a:ln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8" name="Text 2"/>
          <p:cNvSpPr/>
          <p:nvPr/>
        </p:nvSpPr>
        <p:spPr>
          <a:xfrm>
            <a:off x="3303290" y="1619030"/>
            <a:ext cx="575409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0" b="1" kern="0" spc="450" dirty="0">
                <a:solidFill>
                  <a:srgbClr val="D2691E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PETDOC</a:t>
            </a:r>
            <a:endParaRPr lang="en-US" sz="1600" dirty="0"/>
          </a:p>
        </p:txBody>
      </p:sp>
      <p:sp>
        <p:nvSpPr>
          <p:cNvPr id="9" name="Shape 3"/>
          <p:cNvSpPr/>
          <p:nvPr/>
        </p:nvSpPr>
        <p:spPr>
          <a:xfrm>
            <a:off x="2681381" y="3470080"/>
            <a:ext cx="6902435" cy="533400"/>
          </a:xfrm>
          <a:custGeom>
            <a:avLst/>
            <a:gdLst/>
            <a:ahLst/>
            <a:cxnLst/>
            <a:rect l="l" t="t" r="r" b="b"/>
            <a:pathLst>
              <a:path w="6902435" h="533400">
                <a:moveTo>
                  <a:pt x="290629" y="0"/>
                </a:moveTo>
                <a:lnTo>
                  <a:pt x="6611806" y="0"/>
                </a:lnTo>
                <a:cubicBezTo>
                  <a:pt x="6772209" y="0"/>
                  <a:pt x="6902435" y="119504"/>
                  <a:pt x="6902435" y="266700"/>
                </a:cubicBezTo>
                <a:lnTo>
                  <a:pt x="6902435" y="266700"/>
                </a:lnTo>
                <a:cubicBezTo>
                  <a:pt x="6902435" y="413896"/>
                  <a:pt x="6772209" y="533400"/>
                  <a:pt x="6611806" y="533400"/>
                </a:cubicBezTo>
                <a:lnTo>
                  <a:pt x="290629" y="533400"/>
                </a:lnTo>
                <a:cubicBezTo>
                  <a:pt x="130226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30226" y="0"/>
                  <a:pt x="290629" y="0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10" name="Text 4"/>
          <p:cNvSpPr/>
          <p:nvPr/>
        </p:nvSpPr>
        <p:spPr>
          <a:xfrm>
            <a:off x="2861671" y="3554739"/>
            <a:ext cx="66212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 Veterinary Care System with AI based disease detection</a:t>
            </a: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>
            <a:off x="3920828" y="5067300"/>
            <a:ext cx="1209675" cy="495300"/>
          </a:xfrm>
          <a:custGeom>
            <a:avLst/>
            <a:gdLst/>
            <a:ahLst/>
            <a:cxnLst/>
            <a:rect l="l" t="t" r="r" b="b"/>
            <a:pathLst>
              <a:path w="1209675" h="495300">
                <a:moveTo>
                  <a:pt x="152399" y="0"/>
                </a:moveTo>
                <a:lnTo>
                  <a:pt x="1057276" y="0"/>
                </a:lnTo>
                <a:cubicBezTo>
                  <a:pt x="1141444" y="0"/>
                  <a:pt x="1209675" y="68231"/>
                  <a:pt x="1209675" y="152399"/>
                </a:cubicBezTo>
                <a:lnTo>
                  <a:pt x="1209675" y="342901"/>
                </a:lnTo>
                <a:cubicBezTo>
                  <a:pt x="1209675" y="427069"/>
                  <a:pt x="1141444" y="495300"/>
                  <a:pt x="1057276" y="495300"/>
                </a:cubicBezTo>
                <a:lnTo>
                  <a:pt x="152399" y="495300"/>
                </a:lnTo>
                <a:cubicBezTo>
                  <a:pt x="68231" y="495300"/>
                  <a:pt x="0" y="427069"/>
                  <a:pt x="0" y="34290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rgbClr val="F4A460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Text 6"/>
          <p:cNvSpPr/>
          <p:nvPr/>
        </p:nvSpPr>
        <p:spPr>
          <a:xfrm>
            <a:off x="4149428" y="5181600"/>
            <a:ext cx="84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CSE 299</a:t>
            </a: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5355928" y="5067300"/>
            <a:ext cx="1400175" cy="495300"/>
          </a:xfrm>
          <a:custGeom>
            <a:avLst/>
            <a:gdLst/>
            <a:ahLst/>
            <a:cxnLst/>
            <a:rect l="l" t="t" r="r" b="b"/>
            <a:pathLst>
              <a:path w="1400175" h="495300">
                <a:moveTo>
                  <a:pt x="152399" y="0"/>
                </a:moveTo>
                <a:lnTo>
                  <a:pt x="1247776" y="0"/>
                </a:lnTo>
                <a:cubicBezTo>
                  <a:pt x="1331944" y="0"/>
                  <a:pt x="1400175" y="68231"/>
                  <a:pt x="1400175" y="152399"/>
                </a:cubicBezTo>
                <a:lnTo>
                  <a:pt x="1400175" y="342901"/>
                </a:lnTo>
                <a:cubicBezTo>
                  <a:pt x="1400175" y="427069"/>
                  <a:pt x="1331944" y="495300"/>
                  <a:pt x="1247776" y="495300"/>
                </a:cubicBezTo>
                <a:lnTo>
                  <a:pt x="152399" y="495300"/>
                </a:lnTo>
                <a:cubicBezTo>
                  <a:pt x="68231" y="495300"/>
                  <a:pt x="0" y="427069"/>
                  <a:pt x="0" y="34290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rgbClr val="D2691E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Text 8"/>
          <p:cNvSpPr/>
          <p:nvPr/>
        </p:nvSpPr>
        <p:spPr>
          <a:xfrm>
            <a:off x="5584528" y="518160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Section 04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6981924" y="5067300"/>
            <a:ext cx="1285875" cy="495300"/>
          </a:xfrm>
          <a:custGeom>
            <a:avLst/>
            <a:gdLst/>
            <a:ahLst/>
            <a:cxnLst/>
            <a:rect l="l" t="t" r="r" b="b"/>
            <a:pathLst>
              <a:path w="1285875" h="495300">
                <a:moveTo>
                  <a:pt x="152399" y="0"/>
                </a:moveTo>
                <a:lnTo>
                  <a:pt x="1133476" y="0"/>
                </a:lnTo>
                <a:cubicBezTo>
                  <a:pt x="1217644" y="0"/>
                  <a:pt x="1285875" y="68231"/>
                  <a:pt x="1285875" y="152399"/>
                </a:cubicBezTo>
                <a:lnTo>
                  <a:pt x="1285875" y="342901"/>
                </a:lnTo>
                <a:cubicBezTo>
                  <a:pt x="1285875" y="427069"/>
                  <a:pt x="1217644" y="495300"/>
                  <a:pt x="1133476" y="495300"/>
                </a:cubicBezTo>
                <a:lnTo>
                  <a:pt x="152399" y="495300"/>
                </a:lnTo>
                <a:cubicBezTo>
                  <a:pt x="68231" y="495300"/>
                  <a:pt x="0" y="427069"/>
                  <a:pt x="0" y="34290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rgbClr val="FFD700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7210524" y="5181600"/>
            <a:ext cx="92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A27102B-3300-6E5B-CDEA-EFC949C83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359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f18c4f4cbd230f74c093a0bef127185dc1676a61.jp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0972800" y="152400"/>
            <a:ext cx="1066800" cy="1066800"/>
          </a:xfrm>
          <a:prstGeom prst="roundRect">
            <a:avLst>
              <a:gd name="adj" fmla="val 0"/>
            </a:avLst>
          </a:prstGeom>
        </p:spPr>
      </p:pic>
      <p:pic>
        <p:nvPicPr>
          <p:cNvPr id="3" name="Image 1" descr="https://kimi-web-img.moonshot.cn/img/static.vecteezy.com/b06b271ae5c5c344c754c8e5032d84f99c78109b.jpg"/>
          <p:cNvPicPr>
            <a:picLocks noChangeAspect="1"/>
          </p:cNvPicPr>
          <p:nvPr/>
        </p:nvPicPr>
        <p:blipFill>
          <a:blip r:embed="rId4">
            <a:alphaModFix amt="50000"/>
          </a:blip>
          <a:srcRect l="10800" r="10800"/>
          <a:stretch/>
        </p:blipFill>
        <p:spPr>
          <a:xfrm>
            <a:off x="152400" y="5486400"/>
            <a:ext cx="1219200" cy="12192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D700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545306" y="542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6" name="Text 2"/>
          <p:cNvSpPr/>
          <p:nvPr/>
        </p:nvSpPr>
        <p:spPr>
          <a:xfrm>
            <a:off x="1143000" y="457200"/>
            <a:ext cx="5629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269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What We Built This Week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19100" y="1219200"/>
            <a:ext cx="5581650" cy="2171700"/>
          </a:xfrm>
          <a:custGeom>
            <a:avLst/>
            <a:gdLst/>
            <a:ahLst/>
            <a:cxnLst/>
            <a:rect l="l" t="t" r="r" b="b"/>
            <a:pathLst>
              <a:path w="5581650" h="2171700">
                <a:moveTo>
                  <a:pt x="76200" y="0"/>
                </a:moveTo>
                <a:lnTo>
                  <a:pt x="5353057" y="0"/>
                </a:lnTo>
                <a:cubicBezTo>
                  <a:pt x="5479305" y="0"/>
                  <a:pt x="5581650" y="102345"/>
                  <a:pt x="5581650" y="228593"/>
                </a:cubicBezTo>
                <a:lnTo>
                  <a:pt x="5581650" y="1943107"/>
                </a:lnTo>
                <a:cubicBezTo>
                  <a:pt x="5581650" y="2069355"/>
                  <a:pt x="5479305" y="2171700"/>
                  <a:pt x="5353057" y="2171700"/>
                </a:cubicBezTo>
                <a:lnTo>
                  <a:pt x="76200" y="2171700"/>
                </a:lnTo>
                <a:cubicBezTo>
                  <a:pt x="34144" y="2171700"/>
                  <a:pt x="0" y="2137556"/>
                  <a:pt x="0" y="20955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19100" y="1219200"/>
            <a:ext cx="76200" cy="2171700"/>
          </a:xfrm>
          <a:custGeom>
            <a:avLst/>
            <a:gdLst/>
            <a:ahLst/>
            <a:cxnLst/>
            <a:rect l="l" t="t" r="r" b="b"/>
            <a:pathLst>
              <a:path w="76200" h="2171700">
                <a:moveTo>
                  <a:pt x="76200" y="0"/>
                </a:moveTo>
                <a:lnTo>
                  <a:pt x="76200" y="0"/>
                </a:lnTo>
                <a:lnTo>
                  <a:pt x="76200" y="2171700"/>
                </a:lnTo>
                <a:lnTo>
                  <a:pt x="76200" y="2171700"/>
                </a:lnTo>
                <a:cubicBezTo>
                  <a:pt x="34144" y="2171700"/>
                  <a:pt x="0" y="2137556"/>
                  <a:pt x="0" y="20955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9" name="Shape 5"/>
          <p:cNvSpPr/>
          <p:nvPr/>
        </p:nvSpPr>
        <p:spPr>
          <a:xfrm>
            <a:off x="685800" y="1447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10" name="Shape 6"/>
          <p:cNvSpPr/>
          <p:nvPr/>
        </p:nvSpPr>
        <p:spPr>
          <a:xfrm>
            <a:off x="852488" y="16002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7"/>
          <p:cNvSpPr/>
          <p:nvPr/>
        </p:nvSpPr>
        <p:spPr>
          <a:xfrm>
            <a:off x="1333500" y="1562100"/>
            <a:ext cx="192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269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85800" y="2095500"/>
            <a:ext cx="5172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Gathered comprehensive pet symptom datasets and prepared training data for our ML model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229350" y="1219200"/>
            <a:ext cx="5581650" cy="2171700"/>
          </a:xfrm>
          <a:custGeom>
            <a:avLst/>
            <a:gdLst/>
            <a:ahLst/>
            <a:cxnLst/>
            <a:rect l="l" t="t" r="r" b="b"/>
            <a:pathLst>
              <a:path w="5581650" h="2171700">
                <a:moveTo>
                  <a:pt x="76200" y="0"/>
                </a:moveTo>
                <a:lnTo>
                  <a:pt x="5353057" y="0"/>
                </a:lnTo>
                <a:cubicBezTo>
                  <a:pt x="5479305" y="0"/>
                  <a:pt x="5581650" y="102345"/>
                  <a:pt x="5581650" y="228593"/>
                </a:cubicBezTo>
                <a:lnTo>
                  <a:pt x="5581650" y="1943107"/>
                </a:lnTo>
                <a:cubicBezTo>
                  <a:pt x="5581650" y="2069355"/>
                  <a:pt x="5479305" y="2171700"/>
                  <a:pt x="5353057" y="2171700"/>
                </a:cubicBezTo>
                <a:lnTo>
                  <a:pt x="76200" y="2171700"/>
                </a:lnTo>
                <a:cubicBezTo>
                  <a:pt x="34144" y="2171700"/>
                  <a:pt x="0" y="2137556"/>
                  <a:pt x="0" y="20955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29350" y="1219200"/>
            <a:ext cx="76200" cy="2171700"/>
          </a:xfrm>
          <a:custGeom>
            <a:avLst/>
            <a:gdLst/>
            <a:ahLst/>
            <a:cxnLst/>
            <a:rect l="l" t="t" r="r" b="b"/>
            <a:pathLst>
              <a:path w="76200" h="2171700">
                <a:moveTo>
                  <a:pt x="76200" y="0"/>
                </a:moveTo>
                <a:lnTo>
                  <a:pt x="76200" y="0"/>
                </a:lnTo>
                <a:lnTo>
                  <a:pt x="76200" y="2171700"/>
                </a:lnTo>
                <a:lnTo>
                  <a:pt x="76200" y="2171700"/>
                </a:lnTo>
                <a:cubicBezTo>
                  <a:pt x="34144" y="2171700"/>
                  <a:pt x="0" y="2137556"/>
                  <a:pt x="0" y="20955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4A460"/>
          </a:solidFill>
          <a:ln/>
        </p:spPr>
      </p:sp>
      <p:sp>
        <p:nvSpPr>
          <p:cNvPr id="15" name="Shape 11"/>
          <p:cNvSpPr/>
          <p:nvPr/>
        </p:nvSpPr>
        <p:spPr>
          <a:xfrm>
            <a:off x="6496050" y="1447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4A460"/>
          </a:solidFill>
          <a:ln/>
        </p:spPr>
      </p:sp>
      <p:sp>
        <p:nvSpPr>
          <p:cNvPr id="16" name="Shape 12"/>
          <p:cNvSpPr/>
          <p:nvPr/>
        </p:nvSpPr>
        <p:spPr>
          <a:xfrm>
            <a:off x="6648450" y="1600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3"/>
          <p:cNvSpPr/>
          <p:nvPr/>
        </p:nvSpPr>
        <p:spPr>
          <a:xfrm>
            <a:off x="7143750" y="1562100"/>
            <a:ext cx="209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269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ML Model Training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496050" y="2095500"/>
            <a:ext cx="5172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Trained our initial disease detection model in Google Colab with optimized algorithms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419100" y="3581400"/>
            <a:ext cx="5581650" cy="2171700"/>
          </a:xfrm>
          <a:custGeom>
            <a:avLst/>
            <a:gdLst/>
            <a:ahLst/>
            <a:cxnLst/>
            <a:rect l="l" t="t" r="r" b="b"/>
            <a:pathLst>
              <a:path w="5581650" h="2171700">
                <a:moveTo>
                  <a:pt x="76200" y="0"/>
                </a:moveTo>
                <a:lnTo>
                  <a:pt x="5353057" y="0"/>
                </a:lnTo>
                <a:cubicBezTo>
                  <a:pt x="5479305" y="0"/>
                  <a:pt x="5581650" y="102345"/>
                  <a:pt x="5581650" y="228593"/>
                </a:cubicBezTo>
                <a:lnTo>
                  <a:pt x="5581650" y="1943107"/>
                </a:lnTo>
                <a:cubicBezTo>
                  <a:pt x="5581650" y="2069355"/>
                  <a:pt x="5479305" y="2171700"/>
                  <a:pt x="5353057" y="2171700"/>
                </a:cubicBezTo>
                <a:lnTo>
                  <a:pt x="76200" y="2171700"/>
                </a:lnTo>
                <a:cubicBezTo>
                  <a:pt x="34144" y="2171700"/>
                  <a:pt x="0" y="2137556"/>
                  <a:pt x="0" y="20955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19100" y="3581400"/>
            <a:ext cx="76200" cy="2171700"/>
          </a:xfrm>
          <a:custGeom>
            <a:avLst/>
            <a:gdLst/>
            <a:ahLst/>
            <a:cxnLst/>
            <a:rect l="l" t="t" r="r" b="b"/>
            <a:pathLst>
              <a:path w="76200" h="2171700">
                <a:moveTo>
                  <a:pt x="76200" y="0"/>
                </a:moveTo>
                <a:lnTo>
                  <a:pt x="76200" y="0"/>
                </a:lnTo>
                <a:lnTo>
                  <a:pt x="76200" y="2171700"/>
                </a:lnTo>
                <a:lnTo>
                  <a:pt x="76200" y="2171700"/>
                </a:lnTo>
                <a:cubicBezTo>
                  <a:pt x="34144" y="2171700"/>
                  <a:pt x="0" y="2137556"/>
                  <a:pt x="0" y="20955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21" name="Shape 17"/>
          <p:cNvSpPr/>
          <p:nvPr/>
        </p:nvSpPr>
        <p:spPr>
          <a:xfrm>
            <a:off x="685800" y="3810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22" name="Shape 18"/>
          <p:cNvSpPr/>
          <p:nvPr/>
        </p:nvSpPr>
        <p:spPr>
          <a:xfrm>
            <a:off x="852488" y="3962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5D4037"/>
          </a:solidFill>
          <a:ln/>
        </p:spPr>
      </p:sp>
      <p:sp>
        <p:nvSpPr>
          <p:cNvPr id="23" name="Text 19"/>
          <p:cNvSpPr/>
          <p:nvPr/>
        </p:nvSpPr>
        <p:spPr>
          <a:xfrm>
            <a:off x="1333500" y="3924300"/>
            <a:ext cx="2219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269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Django Integration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685800" y="4457700"/>
            <a:ext cx="5172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Successfully integrated the trained ML model into our Django backend for real-time predictions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6229350" y="3581400"/>
            <a:ext cx="5581650" cy="2171700"/>
          </a:xfrm>
          <a:custGeom>
            <a:avLst/>
            <a:gdLst/>
            <a:ahLst/>
            <a:cxnLst/>
            <a:rect l="l" t="t" r="r" b="b"/>
            <a:pathLst>
              <a:path w="5581650" h="2171700">
                <a:moveTo>
                  <a:pt x="76200" y="0"/>
                </a:moveTo>
                <a:lnTo>
                  <a:pt x="5353057" y="0"/>
                </a:lnTo>
                <a:cubicBezTo>
                  <a:pt x="5479305" y="0"/>
                  <a:pt x="5581650" y="102345"/>
                  <a:pt x="5581650" y="228593"/>
                </a:cubicBezTo>
                <a:lnTo>
                  <a:pt x="5581650" y="1943107"/>
                </a:lnTo>
                <a:cubicBezTo>
                  <a:pt x="5581650" y="2069355"/>
                  <a:pt x="5479305" y="2171700"/>
                  <a:pt x="5353057" y="2171700"/>
                </a:cubicBezTo>
                <a:lnTo>
                  <a:pt x="76200" y="2171700"/>
                </a:lnTo>
                <a:cubicBezTo>
                  <a:pt x="34144" y="2171700"/>
                  <a:pt x="0" y="2137556"/>
                  <a:pt x="0" y="20955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229350" y="3581400"/>
            <a:ext cx="76200" cy="2171700"/>
          </a:xfrm>
          <a:custGeom>
            <a:avLst/>
            <a:gdLst/>
            <a:ahLst/>
            <a:cxnLst/>
            <a:rect l="l" t="t" r="r" b="b"/>
            <a:pathLst>
              <a:path w="76200" h="2171700">
                <a:moveTo>
                  <a:pt x="76200" y="0"/>
                </a:moveTo>
                <a:lnTo>
                  <a:pt x="76200" y="0"/>
                </a:lnTo>
                <a:lnTo>
                  <a:pt x="76200" y="2171700"/>
                </a:lnTo>
                <a:lnTo>
                  <a:pt x="76200" y="2171700"/>
                </a:lnTo>
                <a:cubicBezTo>
                  <a:pt x="34144" y="2171700"/>
                  <a:pt x="0" y="2137556"/>
                  <a:pt x="0" y="20955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27" name="Shape 23"/>
          <p:cNvSpPr/>
          <p:nvPr/>
        </p:nvSpPr>
        <p:spPr>
          <a:xfrm>
            <a:off x="6496050" y="3810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28" name="Shape 24"/>
          <p:cNvSpPr/>
          <p:nvPr/>
        </p:nvSpPr>
        <p:spPr>
          <a:xfrm>
            <a:off x="6619875" y="39624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5"/>
          <p:cNvSpPr/>
          <p:nvPr/>
        </p:nvSpPr>
        <p:spPr>
          <a:xfrm>
            <a:off x="7143750" y="3924300"/>
            <a:ext cx="1562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269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AI Assistant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6496050" y="4457700"/>
            <a:ext cx="5172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Implemented Gemini API to power our dynamic Smart Vet Assistant with intelligent responses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381000" y="5905500"/>
            <a:ext cx="11430000" cy="571500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152402" y="0"/>
                </a:moveTo>
                <a:lnTo>
                  <a:pt x="11277598" y="0"/>
                </a:lnTo>
                <a:cubicBezTo>
                  <a:pt x="11361767" y="0"/>
                  <a:pt x="11430000" y="68233"/>
                  <a:pt x="11430000" y="152402"/>
                </a:cubicBezTo>
                <a:lnTo>
                  <a:pt x="11430000" y="419098"/>
                </a:lnTo>
                <a:cubicBezTo>
                  <a:pt x="11430000" y="503267"/>
                  <a:pt x="11361767" y="571500"/>
                  <a:pt x="11277598" y="571500"/>
                </a:cubicBezTo>
                <a:lnTo>
                  <a:pt x="152402" y="571500"/>
                </a:lnTo>
                <a:cubicBezTo>
                  <a:pt x="68233" y="571500"/>
                  <a:pt x="0" y="503267"/>
                  <a:pt x="0" y="4190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D700">
              <a:alpha val="30196"/>
            </a:srgbClr>
          </a:solidFill>
          <a:ln/>
        </p:spPr>
      </p:sp>
      <p:sp>
        <p:nvSpPr>
          <p:cNvPr id="32" name="Shape 28"/>
          <p:cNvSpPr/>
          <p:nvPr/>
        </p:nvSpPr>
        <p:spPr>
          <a:xfrm>
            <a:off x="2791619" y="610235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33" name="Text 29"/>
          <p:cNvSpPr/>
          <p:nvPr/>
        </p:nvSpPr>
        <p:spPr>
          <a:xfrm>
            <a:off x="781050" y="6057900"/>
            <a:ext cx="1092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Major milestone: We brought the "AI" into Smart Veterinary System!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-38100" y="6477000"/>
            <a:ext cx="1226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Nafia Haque Muskan, MD Tamim Hasan</a:t>
            </a:r>
            <a:endParaRPr lang="en-US" sz="1600" dirty="0"/>
          </a:p>
        </p:txBody>
      </p:sp>
      <p:pic>
        <p:nvPicPr>
          <p:cNvPr id="35" name="Image 2" descr="https://kimi-web-img.moonshot.cn/img/img.freepik.com/e097f5e8b604d76b5471e7a8a4867a3ca587efdc.jpg"/>
          <p:cNvPicPr>
            <a:picLocks noChangeAspect="1"/>
          </p:cNvPicPr>
          <p:nvPr/>
        </p:nvPicPr>
        <p:blipFill>
          <a:blip r:embed="rId5">
            <a:alphaModFix amt="44000"/>
          </a:blip>
          <a:srcRect/>
          <a:stretch/>
        </p:blipFill>
        <p:spPr>
          <a:xfrm>
            <a:off x="10820400" y="152400"/>
            <a:ext cx="1219200" cy="10668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66c327b13d51d3927c7e9e27a0760aee5f5a0d4e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1125" r="11125"/>
          <a:stretch/>
        </p:blipFill>
        <p:spPr>
          <a:xfrm>
            <a:off x="10820400" y="152400"/>
            <a:ext cx="1219200" cy="1219200"/>
          </a:xfrm>
          <a:prstGeom prst="roundRect">
            <a:avLst>
              <a:gd name="adj" fmla="val 0"/>
            </a:avLst>
          </a:prstGeom>
        </p:spPr>
      </p:pic>
      <p:pic>
        <p:nvPicPr>
          <p:cNvPr id="3" name="Image 1" descr="https://kimi-web-img.moonshot.cn/img/i.etsystatic.com/3be74811b05cbd1b07c8a7b3b374b195b8e3e738.jpg"/>
          <p:cNvPicPr>
            <a:picLocks noChangeAspect="1"/>
          </p:cNvPicPr>
          <p:nvPr/>
        </p:nvPicPr>
        <p:blipFill>
          <a:blip r:embed="rId4">
            <a:alphaModFix amt="50000"/>
          </a:blip>
          <a:srcRect l="10007" r="10007"/>
          <a:stretch/>
        </p:blipFill>
        <p:spPr>
          <a:xfrm>
            <a:off x="152400" y="5638800"/>
            <a:ext cx="1066800" cy="10668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4A460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545306" y="542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4675" y="20259"/>
                </a:moveTo>
                <a:cubicBezTo>
                  <a:pt x="80758" y="24501"/>
                  <a:pt x="82209" y="32872"/>
                  <a:pt x="77967" y="38900"/>
                </a:cubicBezTo>
                <a:lnTo>
                  <a:pt x="46713" y="83548"/>
                </a:lnTo>
                <a:cubicBezTo>
                  <a:pt x="44425" y="86785"/>
                  <a:pt x="40853" y="88850"/>
                  <a:pt x="36891" y="89185"/>
                </a:cubicBezTo>
                <a:cubicBezTo>
                  <a:pt x="32928" y="89520"/>
                  <a:pt x="29021" y="88181"/>
                  <a:pt x="26231" y="85390"/>
                </a:cubicBezTo>
                <a:lnTo>
                  <a:pt x="3907" y="63066"/>
                </a:lnTo>
                <a:cubicBezTo>
                  <a:pt x="-1284" y="57820"/>
                  <a:pt x="-1284" y="49337"/>
                  <a:pt x="3907" y="44090"/>
                </a:cubicBezTo>
                <a:cubicBezTo>
                  <a:pt x="9097" y="38844"/>
                  <a:pt x="17636" y="38900"/>
                  <a:pt x="22882" y="44090"/>
                </a:cubicBezTo>
                <a:lnTo>
                  <a:pt x="33933" y="55141"/>
                </a:lnTo>
                <a:lnTo>
                  <a:pt x="56034" y="23552"/>
                </a:lnTo>
                <a:cubicBezTo>
                  <a:pt x="60275" y="17469"/>
                  <a:pt x="68647" y="16018"/>
                  <a:pt x="74675" y="20259"/>
                </a:cubicBezTo>
                <a:close/>
                <a:moveTo>
                  <a:pt x="74675" y="109556"/>
                </a:moveTo>
                <a:cubicBezTo>
                  <a:pt x="80758" y="113798"/>
                  <a:pt x="82209" y="122169"/>
                  <a:pt x="77967" y="128197"/>
                </a:cubicBezTo>
                <a:lnTo>
                  <a:pt x="46713" y="172845"/>
                </a:lnTo>
                <a:cubicBezTo>
                  <a:pt x="44425" y="176082"/>
                  <a:pt x="40853" y="178147"/>
                  <a:pt x="36891" y="178482"/>
                </a:cubicBezTo>
                <a:cubicBezTo>
                  <a:pt x="32928" y="178817"/>
                  <a:pt x="29021" y="177478"/>
                  <a:pt x="26231" y="174687"/>
                </a:cubicBezTo>
                <a:lnTo>
                  <a:pt x="3907" y="152363"/>
                </a:lnTo>
                <a:cubicBezTo>
                  <a:pt x="-1339" y="147117"/>
                  <a:pt x="-1339" y="138633"/>
                  <a:pt x="3907" y="133443"/>
                </a:cubicBezTo>
                <a:cubicBezTo>
                  <a:pt x="9153" y="128253"/>
                  <a:pt x="17636" y="128197"/>
                  <a:pt x="22827" y="133443"/>
                </a:cubicBezTo>
                <a:lnTo>
                  <a:pt x="33877" y="144494"/>
                </a:lnTo>
                <a:lnTo>
                  <a:pt x="55978" y="112905"/>
                </a:lnTo>
                <a:cubicBezTo>
                  <a:pt x="60220" y="106821"/>
                  <a:pt x="68591" y="105370"/>
                  <a:pt x="74619" y="109612"/>
                </a:cubicBezTo>
                <a:close/>
                <a:moveTo>
                  <a:pt x="125016" y="53578"/>
                </a:moveTo>
                <a:cubicBezTo>
                  <a:pt x="125016" y="43700"/>
                  <a:pt x="132997" y="35719"/>
                  <a:pt x="142875" y="35719"/>
                </a:cubicBezTo>
                <a:lnTo>
                  <a:pt x="267891" y="35719"/>
                </a:lnTo>
                <a:cubicBezTo>
                  <a:pt x="277769" y="35719"/>
                  <a:pt x="285750" y="43700"/>
                  <a:pt x="285750" y="53578"/>
                </a:cubicBezTo>
                <a:cubicBezTo>
                  <a:pt x="285750" y="63457"/>
                  <a:pt x="277769" y="71438"/>
                  <a:pt x="267891" y="71438"/>
                </a:cubicBezTo>
                <a:lnTo>
                  <a:pt x="142875" y="71438"/>
                </a:lnTo>
                <a:cubicBezTo>
                  <a:pt x="132997" y="71438"/>
                  <a:pt x="125016" y="63457"/>
                  <a:pt x="125016" y="53578"/>
                </a:cubicBezTo>
                <a:close/>
                <a:moveTo>
                  <a:pt x="125016" y="142875"/>
                </a:moveTo>
                <a:cubicBezTo>
                  <a:pt x="125016" y="132997"/>
                  <a:pt x="132997" y="125016"/>
                  <a:pt x="142875" y="125016"/>
                </a:cubicBezTo>
                <a:lnTo>
                  <a:pt x="267891" y="125016"/>
                </a:lnTo>
                <a:cubicBezTo>
                  <a:pt x="277769" y="125016"/>
                  <a:pt x="285750" y="132997"/>
                  <a:pt x="285750" y="142875"/>
                </a:cubicBezTo>
                <a:cubicBezTo>
                  <a:pt x="285750" y="152753"/>
                  <a:pt x="277769" y="160734"/>
                  <a:pt x="267891" y="160734"/>
                </a:cubicBezTo>
                <a:lnTo>
                  <a:pt x="142875" y="160734"/>
                </a:lnTo>
                <a:cubicBezTo>
                  <a:pt x="132997" y="160734"/>
                  <a:pt x="125016" y="152753"/>
                  <a:pt x="125016" y="142875"/>
                </a:cubicBezTo>
                <a:close/>
                <a:moveTo>
                  <a:pt x="89297" y="232172"/>
                </a:moveTo>
                <a:cubicBezTo>
                  <a:pt x="89297" y="222293"/>
                  <a:pt x="97278" y="214313"/>
                  <a:pt x="107156" y="214313"/>
                </a:cubicBezTo>
                <a:lnTo>
                  <a:pt x="267891" y="214313"/>
                </a:lnTo>
                <a:cubicBezTo>
                  <a:pt x="277769" y="214313"/>
                  <a:pt x="285750" y="222293"/>
                  <a:pt x="285750" y="232172"/>
                </a:cubicBezTo>
                <a:cubicBezTo>
                  <a:pt x="285750" y="242050"/>
                  <a:pt x="277769" y="250031"/>
                  <a:pt x="267891" y="250031"/>
                </a:cubicBezTo>
                <a:lnTo>
                  <a:pt x="107156" y="250031"/>
                </a:lnTo>
                <a:cubicBezTo>
                  <a:pt x="97278" y="250031"/>
                  <a:pt x="89297" y="242050"/>
                  <a:pt x="89297" y="232172"/>
                </a:cubicBezTo>
                <a:close/>
                <a:moveTo>
                  <a:pt x="35719" y="209848"/>
                </a:moveTo>
                <a:cubicBezTo>
                  <a:pt x="48040" y="209848"/>
                  <a:pt x="58043" y="219851"/>
                  <a:pt x="58043" y="232172"/>
                </a:cubicBezTo>
                <a:cubicBezTo>
                  <a:pt x="58043" y="244493"/>
                  <a:pt x="48040" y="254496"/>
                  <a:pt x="35719" y="254496"/>
                </a:cubicBezTo>
                <a:cubicBezTo>
                  <a:pt x="23398" y="254496"/>
                  <a:pt x="13395" y="244493"/>
                  <a:pt x="13395" y="232172"/>
                </a:cubicBezTo>
                <a:cubicBezTo>
                  <a:pt x="13395" y="219851"/>
                  <a:pt x="23398" y="209848"/>
                  <a:pt x="35719" y="20984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2"/>
          <p:cNvSpPr/>
          <p:nvPr/>
        </p:nvSpPr>
        <p:spPr>
          <a:xfrm>
            <a:off x="1143000" y="457200"/>
            <a:ext cx="5876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269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Our Progress at a Glance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381000" y="1219200"/>
            <a:ext cx="11430000" cy="4610100"/>
          </a:xfrm>
          <a:custGeom>
            <a:avLst/>
            <a:gdLst/>
            <a:ahLst/>
            <a:cxnLst/>
            <a:rect l="l" t="t" r="r" b="b"/>
            <a:pathLst>
              <a:path w="11430000" h="4610100">
                <a:moveTo>
                  <a:pt x="228615" y="0"/>
                </a:moveTo>
                <a:lnTo>
                  <a:pt x="11201385" y="0"/>
                </a:lnTo>
                <a:cubicBezTo>
                  <a:pt x="11327646" y="0"/>
                  <a:pt x="11430000" y="102354"/>
                  <a:pt x="11430000" y="228615"/>
                </a:cubicBezTo>
                <a:lnTo>
                  <a:pt x="11430000" y="4381485"/>
                </a:lnTo>
                <a:cubicBezTo>
                  <a:pt x="11430000" y="4507746"/>
                  <a:pt x="11327646" y="4610100"/>
                  <a:pt x="11201385" y="4610100"/>
                </a:cubicBezTo>
                <a:lnTo>
                  <a:pt x="228615" y="4610100"/>
                </a:lnTo>
                <a:cubicBezTo>
                  <a:pt x="102354" y="4610100"/>
                  <a:pt x="0" y="4507746"/>
                  <a:pt x="0" y="4381485"/>
                </a:cubicBezTo>
                <a:lnTo>
                  <a:pt x="0" y="228615"/>
                </a:lnTo>
                <a:cubicBezTo>
                  <a:pt x="0" y="102439"/>
                  <a:pt x="102439" y="0"/>
                  <a:pt x="22861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447800"/>
          <a:ext cx="10972800" cy="3409950"/>
        </p:xfrm>
        <a:graphic>
          <a:graphicData uri="http://schemas.openxmlformats.org/drawingml/2006/table">
            <a:tbl>
              <a:tblPr/>
              <a:tblGrid>
                <a:gridCol w="788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199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Completed Task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269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Team Member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269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990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5D40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 collection, dataset preparation &amp; ML model training in Colab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FF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>
                          <a:solidFill>
                            <a:srgbClr val="5D40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Nafia Haque Muskan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FF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1990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5D40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Integrated Gemini API for AI assistant functionality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>
                          <a:solidFill>
                            <a:srgbClr val="5D40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Rishat Bin Sultan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990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5D40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Implemented trained ML model in Django backend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>
                          <a:solidFill>
                            <a:srgbClr val="5D40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Fariha Islam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1990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5D40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Smoothed AI assistant frontend for seamless UX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>
                          <a:solidFill>
                            <a:srgbClr val="5D40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MD Tamim Hasan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28600" marR="2286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3720405" y="5981700"/>
            <a:ext cx="2514600" cy="495300"/>
          </a:xfrm>
          <a:custGeom>
            <a:avLst/>
            <a:gdLst/>
            <a:ahLst/>
            <a:cxnLst/>
            <a:rect l="l" t="t" r="r" b="b"/>
            <a:pathLst>
              <a:path w="2514600" h="495300">
                <a:moveTo>
                  <a:pt x="152399" y="0"/>
                </a:moveTo>
                <a:lnTo>
                  <a:pt x="2362201" y="0"/>
                </a:lnTo>
                <a:cubicBezTo>
                  <a:pt x="2446369" y="0"/>
                  <a:pt x="2514600" y="68231"/>
                  <a:pt x="2514600" y="152399"/>
                </a:cubicBezTo>
                <a:lnTo>
                  <a:pt x="2514600" y="342901"/>
                </a:lnTo>
                <a:cubicBezTo>
                  <a:pt x="2514600" y="427069"/>
                  <a:pt x="2446369" y="495300"/>
                  <a:pt x="2362201" y="495300"/>
                </a:cubicBezTo>
                <a:lnTo>
                  <a:pt x="152399" y="495300"/>
                </a:lnTo>
                <a:cubicBezTo>
                  <a:pt x="68231" y="495300"/>
                  <a:pt x="0" y="427069"/>
                  <a:pt x="0" y="34290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rgbClr val="D2691E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3949005" y="61341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6"/>
          <p:cNvSpPr/>
          <p:nvPr/>
        </p:nvSpPr>
        <p:spPr>
          <a:xfrm>
            <a:off x="4263330" y="6096000"/>
            <a:ext cx="182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Equal task distribution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387307" y="5981700"/>
            <a:ext cx="2085975" cy="495300"/>
          </a:xfrm>
          <a:custGeom>
            <a:avLst/>
            <a:gdLst/>
            <a:ahLst/>
            <a:cxnLst/>
            <a:rect l="l" t="t" r="r" b="b"/>
            <a:pathLst>
              <a:path w="2085975" h="495300">
                <a:moveTo>
                  <a:pt x="152399" y="0"/>
                </a:moveTo>
                <a:lnTo>
                  <a:pt x="1933576" y="0"/>
                </a:lnTo>
                <a:cubicBezTo>
                  <a:pt x="2017744" y="0"/>
                  <a:pt x="2085975" y="68231"/>
                  <a:pt x="2085975" y="152399"/>
                </a:cubicBezTo>
                <a:lnTo>
                  <a:pt x="2085975" y="342901"/>
                </a:lnTo>
                <a:cubicBezTo>
                  <a:pt x="2085975" y="427069"/>
                  <a:pt x="2017744" y="495300"/>
                  <a:pt x="1933576" y="495300"/>
                </a:cubicBezTo>
                <a:lnTo>
                  <a:pt x="152399" y="495300"/>
                </a:lnTo>
                <a:cubicBezTo>
                  <a:pt x="68231" y="495300"/>
                  <a:pt x="0" y="427069"/>
                  <a:pt x="0" y="34290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rgbClr val="FFD700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6627813" y="61341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5D4037"/>
          </a:solidFill>
          <a:ln/>
        </p:spPr>
      </p:sp>
      <p:sp>
        <p:nvSpPr>
          <p:cNvPr id="14" name="Text 9"/>
          <p:cNvSpPr/>
          <p:nvPr/>
        </p:nvSpPr>
        <p:spPr>
          <a:xfrm>
            <a:off x="6930232" y="6096000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Great teamwork!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-38100" y="6477000"/>
            <a:ext cx="1226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Nafia Haque Muskan, MD Tamim Hasan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0acf99a43e2ed6a6310a2023acf73b8eeac7b03d.jp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152400" y="152400"/>
            <a:ext cx="1066800" cy="10668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4A460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504825" y="5334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1066800" y="457200"/>
            <a:ext cx="4867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D269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Meet Your AI Vet Assistant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200" b="1" dirty="0">
                <a:solidFill>
                  <a:srgbClr val="5D4037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Smart Vet Assistant - Welcome Screen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52400" y="1066800"/>
            <a:ext cx="8486105" cy="5410200"/>
          </a:xfrm>
          <a:custGeom>
            <a:avLst/>
            <a:gdLst/>
            <a:ahLst/>
            <a:cxnLst/>
            <a:rect l="l" t="t" r="r" b="b"/>
            <a:pathLst>
              <a:path w="8486105" h="5410200">
                <a:moveTo>
                  <a:pt x="308093" y="0"/>
                </a:moveTo>
                <a:lnTo>
                  <a:pt x="8178012" y="0"/>
                </a:lnTo>
                <a:cubicBezTo>
                  <a:pt x="8348167" y="0"/>
                  <a:pt x="8486105" y="102339"/>
                  <a:pt x="8486105" y="228581"/>
                </a:cubicBezTo>
                <a:lnTo>
                  <a:pt x="8486105" y="5181619"/>
                </a:lnTo>
                <a:cubicBezTo>
                  <a:pt x="8486105" y="5307861"/>
                  <a:pt x="8348167" y="5410200"/>
                  <a:pt x="8178012" y="5410200"/>
                </a:cubicBezTo>
                <a:lnTo>
                  <a:pt x="308093" y="5410200"/>
                </a:lnTo>
                <a:cubicBezTo>
                  <a:pt x="137938" y="5410200"/>
                  <a:pt x="0" y="5307861"/>
                  <a:pt x="0" y="5181619"/>
                </a:cubicBezTo>
                <a:lnTo>
                  <a:pt x="0" y="228581"/>
                </a:lnTo>
                <a:cubicBezTo>
                  <a:pt x="0" y="102424"/>
                  <a:pt x="138052" y="0"/>
                  <a:pt x="3080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758233" y="1066800"/>
            <a:ext cx="3281367" cy="1695450"/>
          </a:xfrm>
          <a:custGeom>
            <a:avLst/>
            <a:gdLst/>
            <a:ahLst/>
            <a:cxnLst/>
            <a:rect l="l" t="t" r="r" b="b"/>
            <a:pathLst>
              <a:path w="3281367" h="1695450">
                <a:moveTo>
                  <a:pt x="152916" y="0"/>
                </a:moveTo>
                <a:lnTo>
                  <a:pt x="3128450" y="0"/>
                </a:lnTo>
                <a:cubicBezTo>
                  <a:pt x="3212904" y="0"/>
                  <a:pt x="3281367" y="102347"/>
                  <a:pt x="3281367" y="228598"/>
                </a:cubicBezTo>
                <a:lnTo>
                  <a:pt x="3281367" y="1466852"/>
                </a:lnTo>
                <a:cubicBezTo>
                  <a:pt x="3281367" y="1593103"/>
                  <a:pt x="3212904" y="1695450"/>
                  <a:pt x="3128450" y="1695450"/>
                </a:cubicBezTo>
                <a:lnTo>
                  <a:pt x="152916" y="1695450"/>
                </a:lnTo>
                <a:cubicBezTo>
                  <a:pt x="68520" y="1695450"/>
                  <a:pt x="0" y="1593019"/>
                  <a:pt x="0" y="1466852"/>
                </a:cubicBezTo>
                <a:lnTo>
                  <a:pt x="0" y="228598"/>
                </a:lnTo>
                <a:cubicBezTo>
                  <a:pt x="0" y="102431"/>
                  <a:pt x="68520" y="0"/>
                  <a:pt x="152916" y="0"/>
                </a:cubicBezTo>
                <a:close/>
              </a:path>
            </a:pathLst>
          </a:custGeom>
          <a:solidFill>
            <a:srgbClr val="D2691E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977308" y="130810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7603" y="38889"/>
                </a:moveTo>
                <a:lnTo>
                  <a:pt x="114300" y="48131"/>
                </a:lnTo>
                <a:lnTo>
                  <a:pt x="120997" y="38889"/>
                </a:lnTo>
                <a:cubicBezTo>
                  <a:pt x="132159" y="23440"/>
                  <a:pt x="150108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ubicBezTo>
                  <a:pt x="78492" y="14288"/>
                  <a:pt x="96441" y="23440"/>
                  <a:pt x="107603" y="3888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9291633" y="1257300"/>
            <a:ext cx="24450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Friendly Interface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948733" y="1676400"/>
            <a:ext cx="2951079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Warm greeting message welcomes users: </a:t>
            </a:r>
            <a:r>
              <a:rPr lang="en-US" sz="1200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"Hello! I am your AI Veterinary Assistant. How can I help your pet today?"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758233" y="2928761"/>
            <a:ext cx="3281367" cy="3139010"/>
          </a:xfrm>
          <a:custGeom>
            <a:avLst/>
            <a:gdLst/>
            <a:ahLst/>
            <a:cxnLst/>
            <a:rect l="l" t="t" r="r" b="b"/>
            <a:pathLst>
              <a:path w="3281367" h="3139010">
                <a:moveTo>
                  <a:pt x="152915" y="0"/>
                </a:moveTo>
                <a:lnTo>
                  <a:pt x="3128452" y="0"/>
                </a:lnTo>
                <a:cubicBezTo>
                  <a:pt x="3212848" y="0"/>
                  <a:pt x="3281367" y="90258"/>
                  <a:pt x="3281367" y="201430"/>
                </a:cubicBezTo>
                <a:lnTo>
                  <a:pt x="3281367" y="2937580"/>
                </a:lnTo>
                <a:cubicBezTo>
                  <a:pt x="3281367" y="3048752"/>
                  <a:pt x="3212848" y="3139010"/>
                  <a:pt x="3128452" y="3139010"/>
                </a:cubicBezTo>
                <a:lnTo>
                  <a:pt x="152915" y="3139010"/>
                </a:lnTo>
                <a:cubicBezTo>
                  <a:pt x="68519" y="3139010"/>
                  <a:pt x="0" y="3048752"/>
                  <a:pt x="0" y="2937580"/>
                </a:cubicBezTo>
                <a:lnTo>
                  <a:pt x="0" y="201430"/>
                </a:lnTo>
                <a:cubicBezTo>
                  <a:pt x="0" y="90258"/>
                  <a:pt x="68519" y="0"/>
                  <a:pt x="152915" y="0"/>
                </a:cubicBezTo>
                <a:close/>
              </a:path>
            </a:pathLst>
          </a:custGeom>
          <a:solidFill>
            <a:srgbClr val="FFD700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977308" y="31700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7924" y="5447"/>
                </a:moveTo>
                <a:lnTo>
                  <a:pt x="138544" y="44827"/>
                </a:lnTo>
                <a:lnTo>
                  <a:pt x="183773" y="90056"/>
                </a:lnTo>
                <a:lnTo>
                  <a:pt x="223153" y="50676"/>
                </a:lnTo>
                <a:cubicBezTo>
                  <a:pt x="226635" y="47149"/>
                  <a:pt x="228600" y="42416"/>
                  <a:pt x="228600" y="37505"/>
                </a:cubicBezTo>
                <a:cubicBezTo>
                  <a:pt x="228600" y="32593"/>
                  <a:pt x="226635" y="27861"/>
                  <a:pt x="223153" y="24333"/>
                </a:cubicBezTo>
                <a:lnTo>
                  <a:pt x="204267" y="5447"/>
                </a:lnTo>
                <a:cubicBezTo>
                  <a:pt x="200739" y="1965"/>
                  <a:pt x="196007" y="0"/>
                  <a:pt x="191095" y="0"/>
                </a:cubicBezTo>
                <a:cubicBezTo>
                  <a:pt x="186184" y="0"/>
                  <a:pt x="181451" y="1965"/>
                  <a:pt x="177924" y="5447"/>
                </a:cubicBezTo>
                <a:close/>
                <a:moveTo>
                  <a:pt x="123408" y="59963"/>
                </a:moveTo>
                <a:lnTo>
                  <a:pt x="5447" y="177924"/>
                </a:lnTo>
                <a:cubicBezTo>
                  <a:pt x="1965" y="181451"/>
                  <a:pt x="0" y="186184"/>
                  <a:pt x="0" y="191095"/>
                </a:cubicBezTo>
                <a:cubicBezTo>
                  <a:pt x="0" y="196007"/>
                  <a:pt x="1965" y="200739"/>
                  <a:pt x="5447" y="204267"/>
                </a:cubicBezTo>
                <a:lnTo>
                  <a:pt x="24333" y="223153"/>
                </a:lnTo>
                <a:cubicBezTo>
                  <a:pt x="27861" y="226635"/>
                  <a:pt x="32593" y="228600"/>
                  <a:pt x="37505" y="228600"/>
                </a:cubicBezTo>
                <a:cubicBezTo>
                  <a:pt x="42416" y="228600"/>
                  <a:pt x="47149" y="226635"/>
                  <a:pt x="50676" y="223153"/>
                </a:cubicBezTo>
                <a:lnTo>
                  <a:pt x="168637" y="105192"/>
                </a:lnTo>
                <a:lnTo>
                  <a:pt x="123408" y="59963"/>
                </a:lnTo>
                <a:close/>
              </a:path>
            </a:pathLst>
          </a:custGeom>
          <a:solidFill>
            <a:srgbClr val="5D4037"/>
          </a:solidFill>
          <a:ln/>
        </p:spPr>
      </p:sp>
      <p:sp>
        <p:nvSpPr>
          <p:cNvPr id="13" name="Text 10"/>
          <p:cNvSpPr/>
          <p:nvPr/>
        </p:nvSpPr>
        <p:spPr>
          <a:xfrm>
            <a:off x="9291633" y="3119261"/>
            <a:ext cx="22637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D4037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948733" y="3538361"/>
            <a:ext cx="2951079" cy="609600"/>
          </a:xfrm>
          <a:custGeom>
            <a:avLst/>
            <a:gdLst/>
            <a:ahLst/>
            <a:cxnLst/>
            <a:rect l="l" t="t" r="r" b="b"/>
            <a:pathLst>
              <a:path w="2951079" h="609600">
                <a:moveTo>
                  <a:pt x="74554" y="0"/>
                </a:moveTo>
                <a:lnTo>
                  <a:pt x="2876526" y="0"/>
                </a:lnTo>
                <a:cubicBezTo>
                  <a:pt x="2917673" y="0"/>
                  <a:pt x="2951079" y="51216"/>
                  <a:pt x="2951079" y="114300"/>
                </a:cubicBezTo>
                <a:lnTo>
                  <a:pt x="2951079" y="495300"/>
                </a:lnTo>
                <a:cubicBezTo>
                  <a:pt x="2951079" y="558384"/>
                  <a:pt x="2917673" y="609600"/>
                  <a:pt x="2876526" y="609600"/>
                </a:cubicBezTo>
                <a:lnTo>
                  <a:pt x="74554" y="609600"/>
                </a:lnTo>
                <a:cubicBezTo>
                  <a:pt x="3340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33406" y="0"/>
                  <a:pt x="74554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9063033" y="365266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16" name="Shape 13"/>
          <p:cNvSpPr/>
          <p:nvPr/>
        </p:nvSpPr>
        <p:spPr>
          <a:xfrm>
            <a:off x="9167808" y="376696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9558333" y="3728861"/>
            <a:ext cx="20827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Chat-based interaction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948733" y="4262261"/>
            <a:ext cx="2951079" cy="609600"/>
          </a:xfrm>
          <a:custGeom>
            <a:avLst/>
            <a:gdLst/>
            <a:ahLst/>
            <a:cxnLst/>
            <a:rect l="l" t="t" r="r" b="b"/>
            <a:pathLst>
              <a:path w="2951079" h="609600">
                <a:moveTo>
                  <a:pt x="74554" y="0"/>
                </a:moveTo>
                <a:lnTo>
                  <a:pt x="2876526" y="0"/>
                </a:lnTo>
                <a:cubicBezTo>
                  <a:pt x="2917673" y="0"/>
                  <a:pt x="2951079" y="51216"/>
                  <a:pt x="2951079" y="114300"/>
                </a:cubicBezTo>
                <a:lnTo>
                  <a:pt x="2951079" y="495300"/>
                </a:lnTo>
                <a:cubicBezTo>
                  <a:pt x="2951079" y="558384"/>
                  <a:pt x="2917673" y="609600"/>
                  <a:pt x="2876526" y="609600"/>
                </a:cubicBezTo>
                <a:lnTo>
                  <a:pt x="74554" y="609600"/>
                </a:lnTo>
                <a:cubicBezTo>
                  <a:pt x="3340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33406" y="0"/>
                  <a:pt x="74554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9063033" y="437656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4A460"/>
          </a:solidFill>
          <a:ln/>
        </p:spPr>
      </p:sp>
      <p:sp>
        <p:nvSpPr>
          <p:cNvPr id="20" name="Shape 17"/>
          <p:cNvSpPr/>
          <p:nvPr/>
        </p:nvSpPr>
        <p:spPr>
          <a:xfrm>
            <a:off x="9186858" y="449086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9558333" y="4452761"/>
            <a:ext cx="2178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Powered by Gemini API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948733" y="4986161"/>
            <a:ext cx="2951079" cy="609600"/>
          </a:xfrm>
          <a:custGeom>
            <a:avLst/>
            <a:gdLst/>
            <a:ahLst/>
            <a:cxnLst/>
            <a:rect l="l" t="t" r="r" b="b"/>
            <a:pathLst>
              <a:path w="2951079" h="609600">
                <a:moveTo>
                  <a:pt x="74554" y="0"/>
                </a:moveTo>
                <a:lnTo>
                  <a:pt x="2876526" y="0"/>
                </a:lnTo>
                <a:cubicBezTo>
                  <a:pt x="2917673" y="0"/>
                  <a:pt x="2951079" y="51216"/>
                  <a:pt x="2951079" y="114300"/>
                </a:cubicBezTo>
                <a:lnTo>
                  <a:pt x="2951079" y="495300"/>
                </a:lnTo>
                <a:cubicBezTo>
                  <a:pt x="2951079" y="558384"/>
                  <a:pt x="2917673" y="609600"/>
                  <a:pt x="2876526" y="609600"/>
                </a:cubicBezTo>
                <a:lnTo>
                  <a:pt x="74554" y="609600"/>
                </a:lnTo>
                <a:cubicBezTo>
                  <a:pt x="3340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33406" y="0"/>
                  <a:pt x="74554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9063033" y="510046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24" name="Shape 21"/>
          <p:cNvSpPr/>
          <p:nvPr/>
        </p:nvSpPr>
        <p:spPr>
          <a:xfrm>
            <a:off x="9177333" y="52147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800" y="27652"/>
                </a:moveTo>
                <a:cubicBezTo>
                  <a:pt x="74057" y="40422"/>
                  <a:pt x="69711" y="53310"/>
                  <a:pt x="60097" y="56465"/>
                </a:cubicBezTo>
                <a:cubicBezTo>
                  <a:pt x="50483" y="59621"/>
                  <a:pt x="39231" y="51822"/>
                  <a:pt x="34975" y="39052"/>
                </a:cubicBezTo>
                <a:cubicBezTo>
                  <a:pt x="30718" y="26283"/>
                  <a:pt x="35064" y="13395"/>
                  <a:pt x="44678" y="10239"/>
                </a:cubicBezTo>
                <a:cubicBezTo>
                  <a:pt x="54293" y="7084"/>
                  <a:pt x="65544" y="14883"/>
                  <a:pt x="69800" y="27652"/>
                </a:cubicBezTo>
                <a:close/>
                <a:moveTo>
                  <a:pt x="29885" y="59115"/>
                </a:moveTo>
                <a:cubicBezTo>
                  <a:pt x="35510" y="68759"/>
                  <a:pt x="34141" y="79980"/>
                  <a:pt x="26849" y="84147"/>
                </a:cubicBezTo>
                <a:cubicBezTo>
                  <a:pt x="19556" y="88315"/>
                  <a:pt x="9079" y="83880"/>
                  <a:pt x="3483" y="74235"/>
                </a:cubicBezTo>
                <a:cubicBezTo>
                  <a:pt x="-2113" y="64591"/>
                  <a:pt x="-774" y="53370"/>
                  <a:pt x="6519" y="49203"/>
                </a:cubicBezTo>
                <a:cubicBezTo>
                  <a:pt x="13811" y="45035"/>
                  <a:pt x="24289" y="49470"/>
                  <a:pt x="29885" y="59115"/>
                </a:cubicBezTo>
                <a:close/>
                <a:moveTo>
                  <a:pt x="20598" y="119420"/>
                </a:moveTo>
                <a:cubicBezTo>
                  <a:pt x="36195" y="77361"/>
                  <a:pt x="63907" y="66675"/>
                  <a:pt x="76200" y="66675"/>
                </a:cubicBezTo>
                <a:cubicBezTo>
                  <a:pt x="88493" y="66675"/>
                  <a:pt x="116205" y="77361"/>
                  <a:pt x="131802" y="119420"/>
                </a:cubicBezTo>
                <a:cubicBezTo>
                  <a:pt x="132874" y="122307"/>
                  <a:pt x="133350" y="125403"/>
                  <a:pt x="133350" y="128498"/>
                </a:cubicBezTo>
                <a:lnTo>
                  <a:pt x="133350" y="128974"/>
                </a:lnTo>
                <a:cubicBezTo>
                  <a:pt x="133350" y="136654"/>
                  <a:pt x="127129" y="142875"/>
                  <a:pt x="119449" y="142875"/>
                </a:cubicBezTo>
                <a:cubicBezTo>
                  <a:pt x="116026" y="142875"/>
                  <a:pt x="112633" y="142458"/>
                  <a:pt x="109329" y="141625"/>
                </a:cubicBezTo>
                <a:lnTo>
                  <a:pt x="83135" y="135076"/>
                </a:lnTo>
                <a:cubicBezTo>
                  <a:pt x="78581" y="133945"/>
                  <a:pt x="73819" y="133945"/>
                  <a:pt x="69265" y="135076"/>
                </a:cubicBezTo>
                <a:lnTo>
                  <a:pt x="43071" y="141625"/>
                </a:lnTo>
                <a:cubicBezTo>
                  <a:pt x="39767" y="142458"/>
                  <a:pt x="36374" y="142875"/>
                  <a:pt x="32951" y="142875"/>
                </a:cubicBezTo>
                <a:cubicBezTo>
                  <a:pt x="25271" y="142875"/>
                  <a:pt x="19050" y="136654"/>
                  <a:pt x="19050" y="128974"/>
                </a:cubicBezTo>
                <a:lnTo>
                  <a:pt x="19050" y="128498"/>
                </a:lnTo>
                <a:cubicBezTo>
                  <a:pt x="19050" y="125403"/>
                  <a:pt x="19526" y="122307"/>
                  <a:pt x="20598" y="119420"/>
                </a:cubicBezTo>
                <a:close/>
                <a:moveTo>
                  <a:pt x="125551" y="84147"/>
                </a:moveTo>
                <a:cubicBezTo>
                  <a:pt x="118259" y="79980"/>
                  <a:pt x="116890" y="68759"/>
                  <a:pt x="122515" y="59115"/>
                </a:cubicBezTo>
                <a:cubicBezTo>
                  <a:pt x="128141" y="49470"/>
                  <a:pt x="138589" y="45035"/>
                  <a:pt x="145881" y="49203"/>
                </a:cubicBezTo>
                <a:cubicBezTo>
                  <a:pt x="153174" y="53370"/>
                  <a:pt x="154543" y="64591"/>
                  <a:pt x="148917" y="74235"/>
                </a:cubicBezTo>
                <a:cubicBezTo>
                  <a:pt x="143292" y="83880"/>
                  <a:pt x="132844" y="88315"/>
                  <a:pt x="125551" y="84147"/>
                </a:cubicBezTo>
                <a:close/>
                <a:moveTo>
                  <a:pt x="92303" y="56465"/>
                </a:moveTo>
                <a:cubicBezTo>
                  <a:pt x="82689" y="53310"/>
                  <a:pt x="78343" y="40422"/>
                  <a:pt x="82600" y="27652"/>
                </a:cubicBezTo>
                <a:cubicBezTo>
                  <a:pt x="86856" y="14883"/>
                  <a:pt x="98108" y="7084"/>
                  <a:pt x="107722" y="10239"/>
                </a:cubicBezTo>
                <a:cubicBezTo>
                  <a:pt x="117336" y="13395"/>
                  <a:pt x="121682" y="26283"/>
                  <a:pt x="117425" y="39052"/>
                </a:cubicBezTo>
                <a:cubicBezTo>
                  <a:pt x="113169" y="51822"/>
                  <a:pt x="101918" y="59621"/>
                  <a:pt x="92303" y="564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9558333" y="5176661"/>
            <a:ext cx="1997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Pet-focused design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-38100" y="6477000"/>
            <a:ext cx="1226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Nafia Haque Muskan, MD Tamim Hasan</a:t>
            </a:r>
            <a:endParaRPr lang="en-US" sz="1600" dirty="0"/>
          </a:p>
        </p:txBody>
      </p:sp>
      <p:pic>
        <p:nvPicPr>
          <p:cNvPr id="27" name="Image 1" descr="https://kimi-web-img.moonshot.cn/img/static.vecteezy.com/f8ebfba9e19553c507393d2071031c6bcbc6b979.jp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11125200" y="5791200"/>
            <a:ext cx="914400" cy="914400"/>
          </a:xfrm>
          <a:prstGeom prst="roundRect">
            <a:avLst>
              <a:gd name="adj" fmla="val 0"/>
            </a:avLst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17E9C14-B23B-464C-8407-943D257B5A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178" t="14779" r="6697"/>
          <a:stretch>
            <a:fillRect/>
          </a:stretch>
        </p:blipFill>
        <p:spPr>
          <a:xfrm>
            <a:off x="166353" y="1066800"/>
            <a:ext cx="8486105" cy="541019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e097f5e8b604d76b5471e7a8a4867a3ca587efdc.jp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10972800" y="152400"/>
            <a:ext cx="1066800" cy="1066800"/>
          </a:xfrm>
          <a:prstGeom prst="roundRect">
            <a:avLst>
              <a:gd name="adj" fmla="val 0"/>
            </a:avLst>
          </a:prstGeom>
        </p:spPr>
      </p:pic>
      <p:pic>
        <p:nvPicPr>
          <p:cNvPr id="3" name="Image 1" descr="https://kimi-web-img.moonshot.cn/img/img.freepik.com/14270208070730305fe92d1558bbc96d5e8ac5d4.jp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190500" y="152400"/>
            <a:ext cx="914400" cy="9144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0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D700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519113" y="5334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28600" y="200025"/>
                </a:lnTo>
                <a:cubicBezTo>
                  <a:pt x="244361" y="200025"/>
                  <a:pt x="257175" y="187211"/>
                  <a:pt x="257175" y="171450"/>
                </a:cubicBezTo>
                <a:lnTo>
                  <a:pt x="257175" y="57150"/>
                </a:lnTo>
                <a:cubicBezTo>
                  <a:pt x="257175" y="41389"/>
                  <a:pt x="244361" y="28575"/>
                  <a:pt x="228600" y="28575"/>
                </a:cubicBezTo>
                <a:lnTo>
                  <a:pt x="28575" y="28575"/>
                </a:lnTo>
                <a:close/>
                <a:moveTo>
                  <a:pt x="35719" y="57150"/>
                </a:moveTo>
                <a:lnTo>
                  <a:pt x="50006" y="57150"/>
                </a:lnTo>
                <a:cubicBezTo>
                  <a:pt x="53935" y="57150"/>
                  <a:pt x="57150" y="60365"/>
                  <a:pt x="57150" y="64294"/>
                </a:cubicBezTo>
                <a:lnTo>
                  <a:pt x="57150" y="78581"/>
                </a:lnTo>
                <a:cubicBezTo>
                  <a:pt x="57150" y="82510"/>
                  <a:pt x="53935" y="85725"/>
                  <a:pt x="50006" y="85725"/>
                </a:cubicBezTo>
                <a:lnTo>
                  <a:pt x="35719" y="85725"/>
                </a:lnTo>
                <a:cubicBezTo>
                  <a:pt x="31790" y="85725"/>
                  <a:pt x="28575" y="82510"/>
                  <a:pt x="28575" y="78581"/>
                </a:cubicBezTo>
                <a:lnTo>
                  <a:pt x="28575" y="64294"/>
                </a:lnTo>
                <a:cubicBezTo>
                  <a:pt x="28575" y="60365"/>
                  <a:pt x="31790" y="57150"/>
                  <a:pt x="35719" y="57150"/>
                </a:cubicBezTo>
                <a:close/>
                <a:moveTo>
                  <a:pt x="28575" y="107156"/>
                </a:moveTo>
                <a:cubicBezTo>
                  <a:pt x="28575" y="103227"/>
                  <a:pt x="31790" y="100013"/>
                  <a:pt x="35719" y="100013"/>
                </a:cubicBezTo>
                <a:lnTo>
                  <a:pt x="50006" y="100013"/>
                </a:lnTo>
                <a:cubicBezTo>
                  <a:pt x="53935" y="100013"/>
                  <a:pt x="57150" y="103227"/>
                  <a:pt x="57150" y="107156"/>
                </a:cubicBezTo>
                <a:lnTo>
                  <a:pt x="57150" y="121444"/>
                </a:lnTo>
                <a:cubicBezTo>
                  <a:pt x="57150" y="125373"/>
                  <a:pt x="53935" y="128588"/>
                  <a:pt x="50006" y="128588"/>
                </a:cubicBezTo>
                <a:lnTo>
                  <a:pt x="35719" y="128588"/>
                </a:lnTo>
                <a:cubicBezTo>
                  <a:pt x="31790" y="128588"/>
                  <a:pt x="28575" y="125373"/>
                  <a:pt x="28575" y="121444"/>
                </a:cubicBezTo>
                <a:lnTo>
                  <a:pt x="28575" y="107156"/>
                </a:lnTo>
                <a:close/>
                <a:moveTo>
                  <a:pt x="78581" y="57150"/>
                </a:moveTo>
                <a:lnTo>
                  <a:pt x="92869" y="57150"/>
                </a:lnTo>
                <a:cubicBezTo>
                  <a:pt x="96798" y="57150"/>
                  <a:pt x="100013" y="60365"/>
                  <a:pt x="100013" y="64294"/>
                </a:cubicBezTo>
                <a:lnTo>
                  <a:pt x="100013" y="78581"/>
                </a:lnTo>
                <a:cubicBezTo>
                  <a:pt x="100013" y="82510"/>
                  <a:pt x="96798" y="85725"/>
                  <a:pt x="92869" y="85725"/>
                </a:cubicBezTo>
                <a:lnTo>
                  <a:pt x="78581" y="85725"/>
                </a:lnTo>
                <a:cubicBezTo>
                  <a:pt x="74652" y="85725"/>
                  <a:pt x="71438" y="82510"/>
                  <a:pt x="71438" y="78581"/>
                </a:cubicBezTo>
                <a:lnTo>
                  <a:pt x="71438" y="64294"/>
                </a:lnTo>
                <a:cubicBezTo>
                  <a:pt x="71438" y="60365"/>
                  <a:pt x="74652" y="57150"/>
                  <a:pt x="78581" y="57150"/>
                </a:cubicBezTo>
                <a:close/>
                <a:moveTo>
                  <a:pt x="71438" y="107156"/>
                </a:moveTo>
                <a:cubicBezTo>
                  <a:pt x="71438" y="103227"/>
                  <a:pt x="74652" y="100013"/>
                  <a:pt x="78581" y="100013"/>
                </a:cubicBezTo>
                <a:lnTo>
                  <a:pt x="92869" y="100013"/>
                </a:lnTo>
                <a:cubicBezTo>
                  <a:pt x="96798" y="100013"/>
                  <a:pt x="100013" y="103227"/>
                  <a:pt x="100013" y="107156"/>
                </a:cubicBezTo>
                <a:lnTo>
                  <a:pt x="100013" y="121444"/>
                </a:lnTo>
                <a:cubicBezTo>
                  <a:pt x="100013" y="125373"/>
                  <a:pt x="96798" y="128588"/>
                  <a:pt x="92869" y="128588"/>
                </a:cubicBezTo>
                <a:lnTo>
                  <a:pt x="78581" y="128588"/>
                </a:lnTo>
                <a:cubicBezTo>
                  <a:pt x="74652" y="128588"/>
                  <a:pt x="71438" y="125373"/>
                  <a:pt x="71438" y="121444"/>
                </a:cubicBezTo>
                <a:lnTo>
                  <a:pt x="71438" y="107156"/>
                </a:lnTo>
                <a:close/>
                <a:moveTo>
                  <a:pt x="78581" y="142875"/>
                </a:moveTo>
                <a:lnTo>
                  <a:pt x="178594" y="142875"/>
                </a:lnTo>
                <a:cubicBezTo>
                  <a:pt x="182523" y="142875"/>
                  <a:pt x="185738" y="146090"/>
                  <a:pt x="185738" y="150019"/>
                </a:cubicBezTo>
                <a:lnTo>
                  <a:pt x="185738" y="164306"/>
                </a:lnTo>
                <a:cubicBezTo>
                  <a:pt x="185738" y="168235"/>
                  <a:pt x="182523" y="171450"/>
                  <a:pt x="178594" y="171450"/>
                </a:cubicBezTo>
                <a:lnTo>
                  <a:pt x="78581" y="171450"/>
                </a:lnTo>
                <a:cubicBezTo>
                  <a:pt x="74652" y="171450"/>
                  <a:pt x="71438" y="168235"/>
                  <a:pt x="71438" y="164306"/>
                </a:cubicBezTo>
                <a:lnTo>
                  <a:pt x="71438" y="150019"/>
                </a:lnTo>
                <a:cubicBezTo>
                  <a:pt x="71438" y="146090"/>
                  <a:pt x="74652" y="142875"/>
                  <a:pt x="78581" y="142875"/>
                </a:cubicBezTo>
                <a:close/>
                <a:moveTo>
                  <a:pt x="114300" y="64294"/>
                </a:moveTo>
                <a:cubicBezTo>
                  <a:pt x="114300" y="60365"/>
                  <a:pt x="117515" y="57150"/>
                  <a:pt x="121444" y="57150"/>
                </a:cubicBezTo>
                <a:lnTo>
                  <a:pt x="135731" y="57150"/>
                </a:lnTo>
                <a:cubicBezTo>
                  <a:pt x="139660" y="57150"/>
                  <a:pt x="142875" y="60365"/>
                  <a:pt x="142875" y="64294"/>
                </a:cubicBezTo>
                <a:lnTo>
                  <a:pt x="142875" y="78581"/>
                </a:lnTo>
                <a:cubicBezTo>
                  <a:pt x="142875" y="82510"/>
                  <a:pt x="139660" y="85725"/>
                  <a:pt x="135731" y="85725"/>
                </a:cubicBezTo>
                <a:lnTo>
                  <a:pt x="121444" y="85725"/>
                </a:lnTo>
                <a:cubicBezTo>
                  <a:pt x="117515" y="85725"/>
                  <a:pt x="114300" y="82510"/>
                  <a:pt x="114300" y="78581"/>
                </a:cubicBezTo>
                <a:lnTo>
                  <a:pt x="114300" y="64294"/>
                </a:lnTo>
                <a:close/>
                <a:moveTo>
                  <a:pt x="121444" y="100013"/>
                </a:moveTo>
                <a:lnTo>
                  <a:pt x="135731" y="100013"/>
                </a:lnTo>
                <a:cubicBezTo>
                  <a:pt x="13966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39660" y="128588"/>
                  <a:pt x="135731" y="128588"/>
                </a:cubicBezTo>
                <a:lnTo>
                  <a:pt x="121444" y="128588"/>
                </a:lnTo>
                <a:cubicBezTo>
                  <a:pt x="11751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7515" y="100013"/>
                  <a:pt x="121444" y="100013"/>
                </a:cubicBezTo>
                <a:close/>
                <a:moveTo>
                  <a:pt x="157163" y="64294"/>
                </a:moveTo>
                <a:cubicBezTo>
                  <a:pt x="157163" y="60365"/>
                  <a:pt x="160377" y="57150"/>
                  <a:pt x="164306" y="57150"/>
                </a:cubicBezTo>
                <a:lnTo>
                  <a:pt x="178594" y="57150"/>
                </a:lnTo>
                <a:cubicBezTo>
                  <a:pt x="182523" y="57150"/>
                  <a:pt x="185738" y="60365"/>
                  <a:pt x="185738" y="64294"/>
                </a:cubicBezTo>
                <a:lnTo>
                  <a:pt x="185738" y="78581"/>
                </a:lnTo>
                <a:cubicBezTo>
                  <a:pt x="185738" y="82510"/>
                  <a:pt x="182523" y="85725"/>
                  <a:pt x="178594" y="85725"/>
                </a:cubicBezTo>
                <a:lnTo>
                  <a:pt x="164306" y="85725"/>
                </a:lnTo>
                <a:cubicBezTo>
                  <a:pt x="160377" y="85725"/>
                  <a:pt x="157163" y="82510"/>
                  <a:pt x="157163" y="78581"/>
                </a:cubicBezTo>
                <a:lnTo>
                  <a:pt x="157163" y="64294"/>
                </a:lnTo>
                <a:close/>
                <a:moveTo>
                  <a:pt x="164306" y="100013"/>
                </a:moveTo>
                <a:lnTo>
                  <a:pt x="178594" y="100013"/>
                </a:lnTo>
                <a:cubicBezTo>
                  <a:pt x="182523" y="100013"/>
                  <a:pt x="185738" y="103227"/>
                  <a:pt x="185738" y="107156"/>
                </a:cubicBezTo>
                <a:lnTo>
                  <a:pt x="185738" y="121444"/>
                </a:lnTo>
                <a:cubicBezTo>
                  <a:pt x="185738" y="125373"/>
                  <a:pt x="182523" y="128588"/>
                  <a:pt x="178594" y="128588"/>
                </a:cubicBezTo>
                <a:lnTo>
                  <a:pt x="164306" y="128588"/>
                </a:lnTo>
                <a:cubicBezTo>
                  <a:pt x="160377" y="128588"/>
                  <a:pt x="157163" y="125373"/>
                  <a:pt x="157163" y="121444"/>
                </a:cubicBezTo>
                <a:lnTo>
                  <a:pt x="157163" y="107156"/>
                </a:lnTo>
                <a:cubicBezTo>
                  <a:pt x="157163" y="103227"/>
                  <a:pt x="160377" y="100013"/>
                  <a:pt x="164306" y="100013"/>
                </a:cubicBezTo>
                <a:close/>
                <a:moveTo>
                  <a:pt x="200025" y="64294"/>
                </a:moveTo>
                <a:cubicBezTo>
                  <a:pt x="200025" y="60365"/>
                  <a:pt x="203240" y="57150"/>
                  <a:pt x="207169" y="57150"/>
                </a:cubicBezTo>
                <a:lnTo>
                  <a:pt x="221456" y="57150"/>
                </a:lnTo>
                <a:cubicBezTo>
                  <a:pt x="225385" y="57150"/>
                  <a:pt x="228600" y="60365"/>
                  <a:pt x="228600" y="64294"/>
                </a:cubicBezTo>
                <a:lnTo>
                  <a:pt x="228600" y="78581"/>
                </a:lnTo>
                <a:cubicBezTo>
                  <a:pt x="228600" y="82510"/>
                  <a:pt x="225385" y="85725"/>
                  <a:pt x="221456" y="85725"/>
                </a:cubicBezTo>
                <a:lnTo>
                  <a:pt x="207169" y="85725"/>
                </a:lnTo>
                <a:cubicBezTo>
                  <a:pt x="203240" y="85725"/>
                  <a:pt x="200025" y="82510"/>
                  <a:pt x="200025" y="78581"/>
                </a:cubicBezTo>
                <a:lnTo>
                  <a:pt x="200025" y="64294"/>
                </a:lnTo>
                <a:close/>
                <a:moveTo>
                  <a:pt x="207169" y="100013"/>
                </a:moveTo>
                <a:lnTo>
                  <a:pt x="221456" y="100013"/>
                </a:lnTo>
                <a:cubicBezTo>
                  <a:pt x="225385" y="100013"/>
                  <a:pt x="228600" y="103227"/>
                  <a:pt x="228600" y="107156"/>
                </a:cubicBezTo>
                <a:lnTo>
                  <a:pt x="228600" y="121444"/>
                </a:lnTo>
                <a:cubicBezTo>
                  <a:pt x="228600" y="125373"/>
                  <a:pt x="225385" y="128588"/>
                  <a:pt x="221456" y="128588"/>
                </a:cubicBezTo>
                <a:lnTo>
                  <a:pt x="207169" y="128588"/>
                </a:lnTo>
                <a:cubicBezTo>
                  <a:pt x="203240" y="128588"/>
                  <a:pt x="200025" y="125373"/>
                  <a:pt x="200025" y="121444"/>
                </a:cubicBezTo>
                <a:lnTo>
                  <a:pt x="200025" y="107156"/>
                </a:lnTo>
                <a:cubicBezTo>
                  <a:pt x="200025" y="103227"/>
                  <a:pt x="203240" y="100013"/>
                  <a:pt x="207169" y="100013"/>
                </a:cubicBezTo>
                <a:close/>
              </a:path>
            </a:pathLst>
          </a:custGeom>
          <a:solidFill>
            <a:srgbClr val="5D4037"/>
          </a:solidFill>
          <a:ln/>
        </p:spPr>
      </p:sp>
      <p:sp>
        <p:nvSpPr>
          <p:cNvPr id="6" name="Text 2"/>
          <p:cNvSpPr/>
          <p:nvPr/>
        </p:nvSpPr>
        <p:spPr>
          <a:xfrm>
            <a:off x="1066800" y="457200"/>
            <a:ext cx="3438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D269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How Users Interact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200" b="1" dirty="0">
                <a:solidFill>
                  <a:srgbClr val="5D4037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User Prompt Example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90500" y="1066800"/>
            <a:ext cx="8550199" cy="5410200"/>
          </a:xfrm>
          <a:custGeom>
            <a:avLst/>
            <a:gdLst/>
            <a:ahLst/>
            <a:cxnLst/>
            <a:rect l="l" t="t" r="r" b="b"/>
            <a:pathLst>
              <a:path w="8550199" h="5410200">
                <a:moveTo>
                  <a:pt x="310420" y="0"/>
                </a:moveTo>
                <a:lnTo>
                  <a:pt x="8239778" y="0"/>
                </a:lnTo>
                <a:cubicBezTo>
                  <a:pt x="8411219" y="0"/>
                  <a:pt x="8550199" y="102339"/>
                  <a:pt x="8550199" y="228581"/>
                </a:cubicBezTo>
                <a:lnTo>
                  <a:pt x="8550199" y="5181619"/>
                </a:lnTo>
                <a:cubicBezTo>
                  <a:pt x="8550199" y="5307861"/>
                  <a:pt x="8411219" y="5410200"/>
                  <a:pt x="8239778" y="5410200"/>
                </a:cubicBezTo>
                <a:lnTo>
                  <a:pt x="310420" y="5410200"/>
                </a:lnTo>
                <a:cubicBezTo>
                  <a:pt x="138980" y="5410200"/>
                  <a:pt x="0" y="5307861"/>
                  <a:pt x="0" y="5181619"/>
                </a:cubicBezTo>
                <a:lnTo>
                  <a:pt x="0" y="228581"/>
                </a:lnTo>
                <a:cubicBezTo>
                  <a:pt x="0" y="102424"/>
                  <a:pt x="139095" y="0"/>
                  <a:pt x="3104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884034" y="1219200"/>
            <a:ext cx="3155566" cy="1619250"/>
          </a:xfrm>
          <a:custGeom>
            <a:avLst/>
            <a:gdLst/>
            <a:ahLst/>
            <a:cxnLst/>
            <a:rect l="l" t="t" r="r" b="b"/>
            <a:pathLst>
              <a:path w="3155566" h="1619250">
                <a:moveTo>
                  <a:pt x="147059" y="0"/>
                </a:moveTo>
                <a:lnTo>
                  <a:pt x="3008506" y="0"/>
                </a:lnTo>
                <a:cubicBezTo>
                  <a:pt x="3089671" y="0"/>
                  <a:pt x="3155566" y="102435"/>
                  <a:pt x="3155566" y="228606"/>
                </a:cubicBezTo>
                <a:lnTo>
                  <a:pt x="3155566" y="1390644"/>
                </a:lnTo>
                <a:cubicBezTo>
                  <a:pt x="3155566" y="1516815"/>
                  <a:pt x="3089671" y="1619250"/>
                  <a:pt x="3008506" y="1619250"/>
                </a:cubicBezTo>
                <a:lnTo>
                  <a:pt x="147059" y="1619250"/>
                </a:lnTo>
                <a:cubicBezTo>
                  <a:pt x="65895" y="1619250"/>
                  <a:pt x="0" y="1516815"/>
                  <a:pt x="0" y="1390644"/>
                </a:cubicBezTo>
                <a:lnTo>
                  <a:pt x="0" y="228606"/>
                </a:lnTo>
                <a:cubicBezTo>
                  <a:pt x="0" y="102435"/>
                  <a:pt x="65895" y="0"/>
                  <a:pt x="147059" y="0"/>
                </a:cubicBezTo>
                <a:close/>
              </a:path>
            </a:pathLst>
          </a:custGeom>
          <a:solidFill>
            <a:srgbClr val="F4A460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9188834" y="1352551"/>
            <a:ext cx="200025" cy="254000"/>
          </a:xfrm>
          <a:custGeom>
            <a:avLst/>
            <a:gdLst/>
            <a:ahLst/>
            <a:cxnLst/>
            <a:rect l="l" t="t" r="r" b="b"/>
            <a:pathLst>
              <a:path w="200025" h="254000">
                <a:moveTo>
                  <a:pt x="100013" y="123031"/>
                </a:moveTo>
                <a:cubicBezTo>
                  <a:pt x="129583" y="123031"/>
                  <a:pt x="153591" y="96356"/>
                  <a:pt x="153591" y="63500"/>
                </a:cubicBezTo>
                <a:cubicBezTo>
                  <a:pt x="153591" y="30644"/>
                  <a:pt x="129583" y="3969"/>
                  <a:pt x="100013" y="3969"/>
                </a:cubicBezTo>
                <a:cubicBezTo>
                  <a:pt x="70442" y="3969"/>
                  <a:pt x="46434" y="30644"/>
                  <a:pt x="46434" y="63500"/>
                </a:cubicBezTo>
                <a:cubicBezTo>
                  <a:pt x="46434" y="96356"/>
                  <a:pt x="70442" y="123031"/>
                  <a:pt x="100012" y="123031"/>
                </a:cubicBezTo>
                <a:close/>
                <a:moveTo>
                  <a:pt x="86752" y="150813"/>
                </a:moveTo>
                <a:cubicBezTo>
                  <a:pt x="42773" y="150813"/>
                  <a:pt x="7144" y="190401"/>
                  <a:pt x="7144" y="239266"/>
                </a:cubicBezTo>
                <a:cubicBezTo>
                  <a:pt x="7144" y="247402"/>
                  <a:pt x="13082" y="254000"/>
                  <a:pt x="20404" y="254000"/>
                </a:cubicBezTo>
                <a:lnTo>
                  <a:pt x="179621" y="254000"/>
                </a:lnTo>
                <a:cubicBezTo>
                  <a:pt x="186943" y="254000"/>
                  <a:pt x="192881" y="247402"/>
                  <a:pt x="192881" y="239266"/>
                </a:cubicBezTo>
                <a:cubicBezTo>
                  <a:pt x="192881" y="190401"/>
                  <a:pt x="157252" y="150813"/>
                  <a:pt x="113273" y="150813"/>
                </a:cubicBezTo>
                <a:lnTo>
                  <a:pt x="86752" y="15081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6"/>
          <p:cNvSpPr/>
          <p:nvPr/>
        </p:nvSpPr>
        <p:spPr>
          <a:xfrm>
            <a:off x="9474584" y="1308102"/>
            <a:ext cx="22003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User Input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9074534" y="1568450"/>
            <a:ext cx="287334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describes their pet's symptoms in natural language: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9074534" y="2190750"/>
            <a:ext cx="2873345" cy="555980"/>
          </a:xfrm>
          <a:custGeom>
            <a:avLst/>
            <a:gdLst/>
            <a:ahLst/>
            <a:cxnLst/>
            <a:rect l="l" t="t" r="r" b="b"/>
            <a:pathLst>
              <a:path w="2873345" h="555980">
                <a:moveTo>
                  <a:pt x="72590" y="0"/>
                </a:moveTo>
                <a:lnTo>
                  <a:pt x="2800755" y="0"/>
                </a:lnTo>
                <a:cubicBezTo>
                  <a:pt x="2840819" y="0"/>
                  <a:pt x="2873345" y="62282"/>
                  <a:pt x="2873345" y="138995"/>
                </a:cubicBezTo>
                <a:lnTo>
                  <a:pt x="2873345" y="416985"/>
                </a:lnTo>
                <a:cubicBezTo>
                  <a:pt x="2873345" y="493698"/>
                  <a:pt x="2840819" y="555980"/>
                  <a:pt x="2800755" y="555980"/>
                </a:cubicBezTo>
                <a:lnTo>
                  <a:pt x="72590" y="555980"/>
                </a:lnTo>
                <a:cubicBezTo>
                  <a:pt x="32526" y="555980"/>
                  <a:pt x="0" y="493698"/>
                  <a:pt x="0" y="416985"/>
                </a:cubicBezTo>
                <a:lnTo>
                  <a:pt x="0" y="138995"/>
                </a:lnTo>
                <a:cubicBezTo>
                  <a:pt x="0" y="62282"/>
                  <a:pt x="32526" y="0"/>
                  <a:pt x="7259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9188834" y="2305050"/>
            <a:ext cx="26927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"My cat is vomiting and has a fever. It started one day ago..."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903084" y="3219450"/>
            <a:ext cx="3136516" cy="2359726"/>
          </a:xfrm>
          <a:custGeom>
            <a:avLst/>
            <a:gdLst/>
            <a:ahLst/>
            <a:cxnLst/>
            <a:rect l="l" t="t" r="r" b="b"/>
            <a:pathLst>
              <a:path w="3136516" h="2359726">
                <a:moveTo>
                  <a:pt x="147307" y="0"/>
                </a:moveTo>
                <a:lnTo>
                  <a:pt x="2989208" y="0"/>
                </a:lnTo>
                <a:cubicBezTo>
                  <a:pt x="3070509" y="0"/>
                  <a:pt x="3136516" y="67132"/>
                  <a:pt x="3136516" y="149819"/>
                </a:cubicBezTo>
                <a:lnTo>
                  <a:pt x="3136516" y="2209907"/>
                </a:lnTo>
                <a:cubicBezTo>
                  <a:pt x="3136516" y="2292594"/>
                  <a:pt x="3070509" y="2359726"/>
                  <a:pt x="2989208" y="2359726"/>
                </a:cubicBezTo>
                <a:lnTo>
                  <a:pt x="147307" y="2359726"/>
                </a:lnTo>
                <a:cubicBezTo>
                  <a:pt x="66006" y="2359726"/>
                  <a:pt x="0" y="2292594"/>
                  <a:pt x="0" y="2209907"/>
                </a:cubicBezTo>
                <a:lnTo>
                  <a:pt x="0" y="149819"/>
                </a:lnTo>
                <a:cubicBezTo>
                  <a:pt x="0" y="67132"/>
                  <a:pt x="66006" y="0"/>
                  <a:pt x="147307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D2691E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1209" y="347980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16" name="Text 12"/>
          <p:cNvSpPr/>
          <p:nvPr/>
        </p:nvSpPr>
        <p:spPr>
          <a:xfrm>
            <a:off x="9523408" y="3467100"/>
            <a:ext cx="25161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269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Symptoms Detected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9136447" y="3867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18" name="Text 14"/>
          <p:cNvSpPr/>
          <p:nvPr/>
        </p:nvSpPr>
        <p:spPr>
          <a:xfrm>
            <a:off x="9426959" y="3848100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Vomiting (3 times)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9136447" y="4171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20" name="Text 16"/>
          <p:cNvSpPr/>
          <p:nvPr/>
        </p:nvSpPr>
        <p:spPr>
          <a:xfrm>
            <a:off x="9426959" y="4152900"/>
            <a:ext cx="46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Fever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9136447" y="4476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22" name="Text 18"/>
          <p:cNvSpPr/>
          <p:nvPr/>
        </p:nvSpPr>
        <p:spPr>
          <a:xfrm>
            <a:off x="9426959" y="4457700"/>
            <a:ext cx="69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Lethargy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9136447" y="4781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24" name="Text 20"/>
          <p:cNvSpPr/>
          <p:nvPr/>
        </p:nvSpPr>
        <p:spPr>
          <a:xfrm>
            <a:off x="9426959" y="4762500"/>
            <a:ext cx="80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 eating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9136447" y="5086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26" name="Text 22"/>
          <p:cNvSpPr/>
          <p:nvPr/>
        </p:nvSpPr>
        <p:spPr>
          <a:xfrm>
            <a:off x="9426959" y="5067300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Pink gums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-38100" y="6477000"/>
            <a:ext cx="1226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Nafia Haque Muskan, MD Tamim Hasan</a:t>
            </a:r>
            <a:endParaRPr lang="en-US" sz="16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D14350D-13F4-A176-B17E-F03D9EA62D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851" t="15313" r="6785" b="3750"/>
          <a:stretch>
            <a:fillRect/>
          </a:stretch>
        </p:blipFill>
        <p:spPr>
          <a:xfrm>
            <a:off x="190500" y="1066801"/>
            <a:ext cx="8550199" cy="5410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f776ae6d2b1c3ede63e90729e48313ebabb44cfc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33047" r="33047"/>
          <a:stretch/>
        </p:blipFill>
        <p:spPr>
          <a:xfrm>
            <a:off x="3470152" y="114300"/>
            <a:ext cx="1066800" cy="1066800"/>
          </a:xfrm>
          <a:prstGeom prst="roundRect">
            <a:avLst>
              <a:gd name="adj" fmla="val 0"/>
            </a:avLst>
          </a:prstGeom>
        </p:spPr>
      </p:pic>
      <p:pic>
        <p:nvPicPr>
          <p:cNvPr id="3" name="Image 1" descr="https://kimi-web-img.moonshot.cn/img/www.shutterstock.com/f18c4f4cbd230f74c093a0bef127185dc1676a61.jp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1125200" y="5791200"/>
            <a:ext cx="914400" cy="9144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0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2691E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533400" y="53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2"/>
          <p:cNvSpPr/>
          <p:nvPr/>
        </p:nvSpPr>
        <p:spPr>
          <a:xfrm>
            <a:off x="1066800" y="457200"/>
            <a:ext cx="3381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D269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Smart AI Response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20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Assistant Response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52400" y="1066800"/>
            <a:ext cx="8302559" cy="5410200"/>
          </a:xfrm>
          <a:custGeom>
            <a:avLst/>
            <a:gdLst/>
            <a:ahLst/>
            <a:cxnLst/>
            <a:rect l="l" t="t" r="r" b="b"/>
            <a:pathLst>
              <a:path w="8302559" h="5410200">
                <a:moveTo>
                  <a:pt x="301429" y="0"/>
                </a:moveTo>
                <a:lnTo>
                  <a:pt x="8001130" y="0"/>
                </a:lnTo>
                <a:cubicBezTo>
                  <a:pt x="8167605" y="0"/>
                  <a:pt x="8302559" y="102339"/>
                  <a:pt x="8302559" y="228581"/>
                </a:cubicBezTo>
                <a:lnTo>
                  <a:pt x="8302559" y="5181619"/>
                </a:lnTo>
                <a:cubicBezTo>
                  <a:pt x="8302559" y="5307861"/>
                  <a:pt x="8167605" y="5410200"/>
                  <a:pt x="8001130" y="5410200"/>
                </a:cubicBezTo>
                <a:lnTo>
                  <a:pt x="301429" y="5410200"/>
                </a:lnTo>
                <a:cubicBezTo>
                  <a:pt x="134955" y="5410200"/>
                  <a:pt x="0" y="5307861"/>
                  <a:pt x="0" y="5181619"/>
                </a:cubicBezTo>
                <a:lnTo>
                  <a:pt x="0" y="228581"/>
                </a:lnTo>
                <a:cubicBezTo>
                  <a:pt x="0" y="102424"/>
                  <a:pt x="135066" y="0"/>
                  <a:pt x="30142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594671" y="1066800"/>
            <a:ext cx="3444929" cy="1638300"/>
          </a:xfrm>
          <a:custGeom>
            <a:avLst/>
            <a:gdLst/>
            <a:ahLst/>
            <a:cxnLst/>
            <a:rect l="l" t="t" r="r" b="b"/>
            <a:pathLst>
              <a:path w="3444929" h="1638300">
                <a:moveTo>
                  <a:pt x="160535" y="0"/>
                </a:moveTo>
                <a:lnTo>
                  <a:pt x="3284394" y="0"/>
                </a:lnTo>
                <a:cubicBezTo>
                  <a:pt x="3373055" y="0"/>
                  <a:pt x="3444929" y="102344"/>
                  <a:pt x="3444929" y="228592"/>
                </a:cubicBezTo>
                <a:lnTo>
                  <a:pt x="3444929" y="1409708"/>
                </a:lnTo>
                <a:cubicBezTo>
                  <a:pt x="3444929" y="1535956"/>
                  <a:pt x="3373055" y="1638300"/>
                  <a:pt x="3284394" y="1638300"/>
                </a:cubicBezTo>
                <a:lnTo>
                  <a:pt x="160535" y="1638300"/>
                </a:lnTo>
                <a:cubicBezTo>
                  <a:pt x="71874" y="1638300"/>
                  <a:pt x="0" y="1535956"/>
                  <a:pt x="0" y="1409708"/>
                </a:cubicBezTo>
                <a:lnTo>
                  <a:pt x="0" y="228592"/>
                </a:lnTo>
                <a:cubicBezTo>
                  <a:pt x="0" y="102344"/>
                  <a:pt x="71874" y="0"/>
                  <a:pt x="160535" y="0"/>
                </a:cubicBezTo>
                <a:close/>
              </a:path>
            </a:pathLst>
          </a:custGeom>
          <a:solidFill>
            <a:srgbClr val="D2691E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842321" y="130810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123408" y="116398"/>
                </a:moveTo>
                <a:cubicBezTo>
                  <a:pt x="126534" y="111398"/>
                  <a:pt x="125016" y="104790"/>
                  <a:pt x="120015" y="101620"/>
                </a:cubicBezTo>
                <a:cubicBezTo>
                  <a:pt x="115014" y="98450"/>
                  <a:pt x="108406" y="100013"/>
                  <a:pt x="105236" y="105013"/>
                </a:cubicBezTo>
                <a:lnTo>
                  <a:pt x="77822" y="148903"/>
                </a:lnTo>
                <a:lnTo>
                  <a:pt x="65767" y="132829"/>
                </a:lnTo>
                <a:cubicBezTo>
                  <a:pt x="62195" y="128096"/>
                  <a:pt x="55498" y="127114"/>
                  <a:pt x="50765" y="130686"/>
                </a:cubicBezTo>
                <a:cubicBezTo>
                  <a:pt x="46033" y="134258"/>
                  <a:pt x="45050" y="140955"/>
                  <a:pt x="48622" y="145688"/>
                </a:cubicBezTo>
                <a:lnTo>
                  <a:pt x="70053" y="174263"/>
                </a:lnTo>
                <a:cubicBezTo>
                  <a:pt x="72152" y="177076"/>
                  <a:pt x="75545" y="178683"/>
                  <a:pt x="79072" y="178549"/>
                </a:cubicBezTo>
                <a:cubicBezTo>
                  <a:pt x="82600" y="178415"/>
                  <a:pt x="85814" y="176540"/>
                  <a:pt x="87690" y="173504"/>
                </a:cubicBezTo>
                <a:lnTo>
                  <a:pt x="123408" y="11635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6"/>
          <p:cNvSpPr/>
          <p:nvPr/>
        </p:nvSpPr>
        <p:spPr>
          <a:xfrm>
            <a:off x="9128071" y="1257300"/>
            <a:ext cx="26607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Analysis Quality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794696" y="17145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12" name="Text 8"/>
          <p:cNvSpPr/>
          <p:nvPr/>
        </p:nvSpPr>
        <p:spPr>
          <a:xfrm>
            <a:off x="9051871" y="1676400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Empathetic tone &amp; acknowledgment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794696" y="20193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14" name="Text 10"/>
          <p:cNvSpPr/>
          <p:nvPr/>
        </p:nvSpPr>
        <p:spPr>
          <a:xfrm>
            <a:off x="9051871" y="1981200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Detailed symptom breakdown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794696" y="23241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16" name="Text 12"/>
          <p:cNvSpPr/>
          <p:nvPr/>
        </p:nvSpPr>
        <p:spPr>
          <a:xfrm>
            <a:off x="9051871" y="22860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Clear observation guidelines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594671" y="3000370"/>
            <a:ext cx="3444929" cy="2365421"/>
          </a:xfrm>
          <a:custGeom>
            <a:avLst/>
            <a:gdLst/>
            <a:ahLst/>
            <a:cxnLst/>
            <a:rect l="l" t="t" r="r" b="b"/>
            <a:pathLst>
              <a:path w="3444929" h="2365421">
                <a:moveTo>
                  <a:pt x="160546" y="0"/>
                </a:moveTo>
                <a:lnTo>
                  <a:pt x="3284383" y="0"/>
                </a:lnTo>
                <a:cubicBezTo>
                  <a:pt x="3373050" y="0"/>
                  <a:pt x="3444929" y="66889"/>
                  <a:pt x="3444929" y="149400"/>
                </a:cubicBezTo>
                <a:lnTo>
                  <a:pt x="3444929" y="2216021"/>
                </a:lnTo>
                <a:cubicBezTo>
                  <a:pt x="3444929" y="2298533"/>
                  <a:pt x="3373050" y="2365421"/>
                  <a:pt x="3284383" y="2365421"/>
                </a:cubicBezTo>
                <a:lnTo>
                  <a:pt x="160546" y="2365421"/>
                </a:lnTo>
                <a:cubicBezTo>
                  <a:pt x="71879" y="2365421"/>
                  <a:pt x="0" y="2298533"/>
                  <a:pt x="0" y="2216021"/>
                </a:cubicBezTo>
                <a:lnTo>
                  <a:pt x="0" y="149400"/>
                </a:lnTo>
                <a:cubicBezTo>
                  <a:pt x="0" y="66944"/>
                  <a:pt x="71938" y="0"/>
                  <a:pt x="160546" y="0"/>
                </a:cubicBezTo>
                <a:close/>
              </a:path>
            </a:pathLst>
          </a:custGeom>
          <a:solidFill>
            <a:srgbClr val="FFD700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813746" y="324167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5D4037"/>
          </a:solidFill>
          <a:ln/>
        </p:spPr>
      </p:sp>
      <p:sp>
        <p:nvSpPr>
          <p:cNvPr id="19" name="Text 15"/>
          <p:cNvSpPr/>
          <p:nvPr/>
        </p:nvSpPr>
        <p:spPr>
          <a:xfrm>
            <a:off x="9128071" y="3190870"/>
            <a:ext cx="28035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D4037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Urgent Recommendation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8785171" y="3609970"/>
            <a:ext cx="3146470" cy="609600"/>
          </a:xfrm>
          <a:custGeom>
            <a:avLst/>
            <a:gdLst/>
            <a:ahLst/>
            <a:cxnLst/>
            <a:rect l="l" t="t" r="r" b="b"/>
            <a:pathLst>
              <a:path w="3146470" h="609600">
                <a:moveTo>
                  <a:pt x="105986" y="0"/>
                </a:moveTo>
                <a:lnTo>
                  <a:pt x="3040483" y="0"/>
                </a:lnTo>
                <a:cubicBezTo>
                  <a:pt x="3098979" y="0"/>
                  <a:pt x="3146470" y="68288"/>
                  <a:pt x="3146470" y="152400"/>
                </a:cubicBezTo>
                <a:lnTo>
                  <a:pt x="3146470" y="457200"/>
                </a:lnTo>
                <a:cubicBezTo>
                  <a:pt x="3146470" y="541312"/>
                  <a:pt x="3098979" y="609600"/>
                  <a:pt x="3040483" y="609600"/>
                </a:cubicBezTo>
                <a:lnTo>
                  <a:pt x="105986" y="609600"/>
                </a:lnTo>
                <a:cubicBezTo>
                  <a:pt x="47491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47491" y="0"/>
                  <a:pt x="105986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9013771" y="380047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57150" y="28575"/>
                </a:moveTo>
                <a:cubicBezTo>
                  <a:pt x="57150" y="12814"/>
                  <a:pt x="69964" y="0"/>
                  <a:pt x="85725" y="0"/>
                </a:cubicBezTo>
                <a:lnTo>
                  <a:pt x="171450" y="0"/>
                </a:lnTo>
                <a:cubicBezTo>
                  <a:pt x="187211" y="0"/>
                  <a:pt x="200025" y="12814"/>
                  <a:pt x="200025" y="28575"/>
                </a:cubicBezTo>
                <a:lnTo>
                  <a:pt x="200025" y="57150"/>
                </a:lnTo>
                <a:lnTo>
                  <a:pt x="228600" y="57150"/>
                </a:lnTo>
                <a:cubicBezTo>
                  <a:pt x="244361" y="57150"/>
                  <a:pt x="257175" y="69964"/>
                  <a:pt x="257175" y="85725"/>
                </a:cubicBezTo>
                <a:lnTo>
                  <a:pt x="257175" y="200025"/>
                </a:lnTo>
                <a:cubicBezTo>
                  <a:pt x="257175" y="215786"/>
                  <a:pt x="244361" y="228600"/>
                  <a:pt x="228600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85725"/>
                </a:lnTo>
                <a:cubicBezTo>
                  <a:pt x="0" y="69964"/>
                  <a:pt x="12814" y="57150"/>
                  <a:pt x="28575" y="57150"/>
                </a:cubicBezTo>
                <a:lnTo>
                  <a:pt x="57150" y="57150"/>
                </a:lnTo>
                <a:lnTo>
                  <a:pt x="57150" y="28575"/>
                </a:lnTo>
                <a:close/>
                <a:moveTo>
                  <a:pt x="121444" y="157163"/>
                </a:moveTo>
                <a:cubicBezTo>
                  <a:pt x="113541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150019" y="207169"/>
                </a:lnTo>
                <a:lnTo>
                  <a:pt x="150019" y="171450"/>
                </a:lnTo>
                <a:cubicBezTo>
                  <a:pt x="150019" y="163547"/>
                  <a:pt x="143634" y="157163"/>
                  <a:pt x="135731" y="157163"/>
                </a:cubicBezTo>
                <a:lnTo>
                  <a:pt x="121444" y="157163"/>
                </a:lnTo>
                <a:close/>
                <a:moveTo>
                  <a:pt x="57150" y="164306"/>
                </a:moveTo>
                <a:lnTo>
                  <a:pt x="57150" y="150019"/>
                </a:lnTo>
                <a:cubicBezTo>
                  <a:pt x="57150" y="146090"/>
                  <a:pt x="53935" y="142875"/>
                  <a:pt x="50006" y="142875"/>
                </a:cubicBezTo>
                <a:lnTo>
                  <a:pt x="35719" y="142875"/>
                </a:lnTo>
                <a:cubicBezTo>
                  <a:pt x="31790" y="142875"/>
                  <a:pt x="28575" y="146090"/>
                  <a:pt x="28575" y="150019"/>
                </a:cubicBezTo>
                <a:lnTo>
                  <a:pt x="28575" y="164306"/>
                </a:lnTo>
                <a:cubicBezTo>
                  <a:pt x="28575" y="168235"/>
                  <a:pt x="31790" y="171450"/>
                  <a:pt x="35719" y="171450"/>
                </a:cubicBezTo>
                <a:lnTo>
                  <a:pt x="50006" y="171450"/>
                </a:lnTo>
                <a:cubicBezTo>
                  <a:pt x="53935" y="171450"/>
                  <a:pt x="57150" y="168235"/>
                  <a:pt x="57150" y="164306"/>
                </a:cubicBezTo>
                <a:close/>
                <a:moveTo>
                  <a:pt x="50006" y="114300"/>
                </a:moveTo>
                <a:cubicBezTo>
                  <a:pt x="53935" y="114300"/>
                  <a:pt x="57150" y="111085"/>
                  <a:pt x="57150" y="107156"/>
                </a:cubicBezTo>
                <a:lnTo>
                  <a:pt x="57150" y="92869"/>
                </a:lnTo>
                <a:cubicBezTo>
                  <a:pt x="57150" y="88940"/>
                  <a:pt x="53935" y="85725"/>
                  <a:pt x="50006" y="85725"/>
                </a:cubicBezTo>
                <a:lnTo>
                  <a:pt x="35719" y="85725"/>
                </a:lnTo>
                <a:cubicBezTo>
                  <a:pt x="31790" y="85725"/>
                  <a:pt x="28575" y="88940"/>
                  <a:pt x="28575" y="92869"/>
                </a:cubicBezTo>
                <a:lnTo>
                  <a:pt x="28575" y="107156"/>
                </a:lnTo>
                <a:cubicBezTo>
                  <a:pt x="28575" y="111085"/>
                  <a:pt x="31790" y="114300"/>
                  <a:pt x="35719" y="114300"/>
                </a:cubicBezTo>
                <a:lnTo>
                  <a:pt x="50006" y="114300"/>
                </a:lnTo>
                <a:close/>
                <a:moveTo>
                  <a:pt x="228600" y="164306"/>
                </a:moveTo>
                <a:lnTo>
                  <a:pt x="228600" y="150019"/>
                </a:lnTo>
                <a:cubicBezTo>
                  <a:pt x="228600" y="146090"/>
                  <a:pt x="225385" y="142875"/>
                  <a:pt x="221456" y="142875"/>
                </a:cubicBezTo>
                <a:lnTo>
                  <a:pt x="207169" y="142875"/>
                </a:lnTo>
                <a:cubicBezTo>
                  <a:pt x="203240" y="142875"/>
                  <a:pt x="200025" y="146090"/>
                  <a:pt x="200025" y="150019"/>
                </a:cubicBezTo>
                <a:lnTo>
                  <a:pt x="200025" y="164306"/>
                </a:lnTo>
                <a:cubicBezTo>
                  <a:pt x="200025" y="168235"/>
                  <a:pt x="203240" y="171450"/>
                  <a:pt x="207169" y="171450"/>
                </a:cubicBezTo>
                <a:lnTo>
                  <a:pt x="221456" y="171450"/>
                </a:lnTo>
                <a:cubicBezTo>
                  <a:pt x="225385" y="171450"/>
                  <a:pt x="228600" y="168235"/>
                  <a:pt x="228600" y="164306"/>
                </a:cubicBezTo>
                <a:close/>
                <a:moveTo>
                  <a:pt x="221456" y="114300"/>
                </a:moveTo>
                <a:cubicBezTo>
                  <a:pt x="225385" y="114300"/>
                  <a:pt x="228600" y="111085"/>
                  <a:pt x="228600" y="107156"/>
                </a:cubicBezTo>
                <a:lnTo>
                  <a:pt x="228600" y="92869"/>
                </a:lnTo>
                <a:cubicBezTo>
                  <a:pt x="228600" y="88940"/>
                  <a:pt x="225385" y="85725"/>
                  <a:pt x="221456" y="85725"/>
                </a:cubicBezTo>
                <a:lnTo>
                  <a:pt x="207169" y="85725"/>
                </a:lnTo>
                <a:cubicBezTo>
                  <a:pt x="203240" y="85725"/>
                  <a:pt x="200025" y="88940"/>
                  <a:pt x="200025" y="92869"/>
                </a:cubicBezTo>
                <a:lnTo>
                  <a:pt x="200025" y="107156"/>
                </a:lnTo>
                <a:cubicBezTo>
                  <a:pt x="200025" y="111085"/>
                  <a:pt x="203240" y="114300"/>
                  <a:pt x="207169" y="114300"/>
                </a:cubicBezTo>
                <a:lnTo>
                  <a:pt x="221456" y="114300"/>
                </a:lnTo>
                <a:close/>
                <a:moveTo>
                  <a:pt x="117872" y="46434"/>
                </a:moveTo>
                <a:lnTo>
                  <a:pt x="117872" y="60722"/>
                </a:lnTo>
                <a:lnTo>
                  <a:pt x="103584" y="60722"/>
                </a:lnTo>
                <a:cubicBezTo>
                  <a:pt x="99655" y="60722"/>
                  <a:pt x="96441" y="63937"/>
                  <a:pt x="96441" y="67866"/>
                </a:cubicBezTo>
                <a:lnTo>
                  <a:pt x="96441" y="75009"/>
                </a:lnTo>
                <a:cubicBezTo>
                  <a:pt x="96441" y="78938"/>
                  <a:pt x="99655" y="82153"/>
                  <a:pt x="103584" y="82153"/>
                </a:cubicBezTo>
                <a:lnTo>
                  <a:pt x="117872" y="82153"/>
                </a:lnTo>
                <a:lnTo>
                  <a:pt x="117872" y="96441"/>
                </a:lnTo>
                <a:cubicBezTo>
                  <a:pt x="117872" y="100370"/>
                  <a:pt x="121087" y="103584"/>
                  <a:pt x="125016" y="103584"/>
                </a:cubicBezTo>
                <a:lnTo>
                  <a:pt x="132159" y="103584"/>
                </a:lnTo>
                <a:cubicBezTo>
                  <a:pt x="136088" y="103584"/>
                  <a:pt x="139303" y="100370"/>
                  <a:pt x="139303" y="96441"/>
                </a:cubicBezTo>
                <a:lnTo>
                  <a:pt x="139303" y="82153"/>
                </a:lnTo>
                <a:lnTo>
                  <a:pt x="153591" y="82153"/>
                </a:lnTo>
                <a:cubicBezTo>
                  <a:pt x="157520" y="82153"/>
                  <a:pt x="160734" y="78938"/>
                  <a:pt x="160734" y="75009"/>
                </a:cubicBezTo>
                <a:lnTo>
                  <a:pt x="160734" y="67866"/>
                </a:lnTo>
                <a:cubicBezTo>
                  <a:pt x="160734" y="63937"/>
                  <a:pt x="157520" y="60722"/>
                  <a:pt x="153591" y="60722"/>
                </a:cubicBezTo>
                <a:lnTo>
                  <a:pt x="139303" y="60722"/>
                </a:lnTo>
                <a:lnTo>
                  <a:pt x="139303" y="46434"/>
                </a:lnTo>
                <a:cubicBezTo>
                  <a:pt x="139303" y="42505"/>
                  <a:pt x="136088" y="39291"/>
                  <a:pt x="132159" y="39291"/>
                </a:cubicBezTo>
                <a:lnTo>
                  <a:pt x="125016" y="39291"/>
                </a:lnTo>
                <a:cubicBezTo>
                  <a:pt x="121087" y="39291"/>
                  <a:pt x="117872" y="42505"/>
                  <a:pt x="117872" y="46434"/>
                </a:cubicBez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22" name="Text 18"/>
          <p:cNvSpPr/>
          <p:nvPr/>
        </p:nvSpPr>
        <p:spPr>
          <a:xfrm>
            <a:off x="9128071" y="3762370"/>
            <a:ext cx="28035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 physical vet visit is URGENT"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8785171" y="4333870"/>
            <a:ext cx="314647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clearly states when professional help is needed!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-38100" y="6477000"/>
            <a:ext cx="1226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Nafia Haque Muskan, MD Tamim Hasan</a:t>
            </a:r>
            <a:endParaRPr lang="en-US" sz="16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F9351F7-E7A1-65C3-8D62-202F7E9156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911" t="14682" r="6697" b="2909"/>
          <a:stretch>
            <a:fillRect/>
          </a:stretch>
        </p:blipFill>
        <p:spPr>
          <a:xfrm>
            <a:off x="152400" y="1066800"/>
            <a:ext cx="8302559" cy="541650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0acf99a43e2ed6a6310a2023acf73b8eeac7b03d.jp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114300" y="0"/>
            <a:ext cx="1066800" cy="1066800"/>
          </a:xfrm>
          <a:prstGeom prst="roundRect">
            <a:avLst>
              <a:gd name="adj" fmla="val 0"/>
            </a:avLst>
          </a:prstGeom>
        </p:spPr>
      </p:pic>
      <p:pic>
        <p:nvPicPr>
          <p:cNvPr id="3" name="Image 1" descr="https://kimi-web-img.moonshot.cn/img/www.shutterstock.com/f18c4f4cbd230f74c093a0bef127185dc1676a61.jp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11125200" y="152400"/>
            <a:ext cx="914400" cy="914400"/>
          </a:xfrm>
          <a:prstGeom prst="roundRect">
            <a:avLst>
              <a:gd name="adj" fmla="val 0"/>
            </a:avLst>
          </a:prstGeom>
        </p:spPr>
      </p:pic>
      <p:pic>
        <p:nvPicPr>
          <p:cNvPr id="4" name="Image 2" descr="https://kimi-web-img.moonshot.cn/img/www.shutterstock.com/1035ac7e16b478b03cf08e14d51580c91123dd29.jpg"/>
          <p:cNvPicPr>
            <a:picLocks noChangeAspect="1"/>
          </p:cNvPicPr>
          <p:nvPr/>
        </p:nvPicPr>
        <p:blipFill>
          <a:blip r:embed="rId5">
            <a:alphaModFix amt="50000"/>
          </a:blip>
          <a:srcRect l="27833" r="27833"/>
          <a:stretch/>
        </p:blipFill>
        <p:spPr>
          <a:xfrm>
            <a:off x="10820400" y="5638800"/>
            <a:ext cx="1066800" cy="1066800"/>
          </a:xfrm>
          <a:prstGeom prst="roundRect">
            <a:avLst>
              <a:gd name="adj" fmla="val 0"/>
            </a:avLst>
          </a:prstGeom>
        </p:spPr>
      </p:pic>
      <p:sp>
        <p:nvSpPr>
          <p:cNvPr id="5" name="Shape 0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2691E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1"/>
          <p:cNvSpPr/>
          <p:nvPr/>
        </p:nvSpPr>
        <p:spPr>
          <a:xfrm>
            <a:off x="547688" y="533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14300" y="71438"/>
                </a:moveTo>
                <a:lnTo>
                  <a:pt x="114300" y="114300"/>
                </a:lnTo>
                <a:lnTo>
                  <a:pt x="171450" y="114300"/>
                </a:lnTo>
                <a:lnTo>
                  <a:pt x="171450" y="71438"/>
                </a:lnTo>
                <a:lnTo>
                  <a:pt x="114300" y="71438"/>
                </a:lnTo>
                <a:close/>
                <a:moveTo>
                  <a:pt x="85725" y="71438"/>
                </a:moveTo>
                <a:lnTo>
                  <a:pt x="28575" y="71438"/>
                </a:lnTo>
                <a:lnTo>
                  <a:pt x="28575" y="114300"/>
                </a:lnTo>
                <a:lnTo>
                  <a:pt x="85725" y="114300"/>
                </a:lnTo>
                <a:lnTo>
                  <a:pt x="85725" y="71438"/>
                </a:lnTo>
                <a:close/>
                <a:moveTo>
                  <a:pt x="0" y="142875"/>
                </a:move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171450" y="14288"/>
                </a:lnTo>
                <a:cubicBezTo>
                  <a:pt x="187211" y="14288"/>
                  <a:pt x="200025" y="27102"/>
                  <a:pt x="200025" y="42863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142875"/>
                </a:lnTo>
                <a:close/>
                <a:moveTo>
                  <a:pt x="171450" y="142875"/>
                </a:moveTo>
                <a:lnTo>
                  <a:pt x="114300" y="142875"/>
                </a:lnTo>
                <a:lnTo>
                  <a:pt x="114300" y="185738"/>
                </a:lnTo>
                <a:lnTo>
                  <a:pt x="171450" y="185738"/>
                </a:lnTo>
                <a:lnTo>
                  <a:pt x="171450" y="142875"/>
                </a:lnTo>
                <a:close/>
                <a:moveTo>
                  <a:pt x="85725" y="185738"/>
                </a:moveTo>
                <a:lnTo>
                  <a:pt x="85725" y="142875"/>
                </a:lnTo>
                <a:lnTo>
                  <a:pt x="28575" y="142875"/>
                </a:lnTo>
                <a:lnTo>
                  <a:pt x="28575" y="185738"/>
                </a:lnTo>
                <a:lnTo>
                  <a:pt x="85725" y="18573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2"/>
          <p:cNvSpPr/>
          <p:nvPr/>
        </p:nvSpPr>
        <p:spPr>
          <a:xfrm>
            <a:off x="1066800" y="457200"/>
            <a:ext cx="41954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D269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Training Model Dataset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152400" y="1066800"/>
            <a:ext cx="8591237" cy="5410200"/>
          </a:xfrm>
          <a:custGeom>
            <a:avLst/>
            <a:gdLst/>
            <a:ahLst/>
            <a:cxnLst/>
            <a:rect l="l" t="t" r="r" b="b"/>
            <a:pathLst>
              <a:path w="8591237" h="5410200">
                <a:moveTo>
                  <a:pt x="287148" y="0"/>
                </a:moveTo>
                <a:lnTo>
                  <a:pt x="8304089" y="0"/>
                </a:lnTo>
                <a:cubicBezTo>
                  <a:pt x="8462676" y="0"/>
                  <a:pt x="8591237" y="102339"/>
                  <a:pt x="8591237" y="228581"/>
                </a:cubicBezTo>
                <a:lnTo>
                  <a:pt x="8591237" y="5181619"/>
                </a:lnTo>
                <a:cubicBezTo>
                  <a:pt x="8591237" y="5307861"/>
                  <a:pt x="8462676" y="5410200"/>
                  <a:pt x="8304089" y="5410200"/>
                </a:cubicBezTo>
                <a:lnTo>
                  <a:pt x="287148" y="5410200"/>
                </a:lnTo>
                <a:cubicBezTo>
                  <a:pt x="128561" y="5410200"/>
                  <a:pt x="0" y="5307861"/>
                  <a:pt x="0" y="5181619"/>
                </a:cubicBezTo>
                <a:lnTo>
                  <a:pt x="0" y="228581"/>
                </a:lnTo>
                <a:cubicBezTo>
                  <a:pt x="0" y="102424"/>
                  <a:pt x="128667" y="0"/>
                  <a:pt x="28714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8885546" y="1066800"/>
            <a:ext cx="3154054" cy="1638300"/>
          </a:xfrm>
          <a:custGeom>
            <a:avLst/>
            <a:gdLst/>
            <a:ahLst/>
            <a:cxnLst/>
            <a:rect l="l" t="t" r="r" b="b"/>
            <a:pathLst>
              <a:path w="3154054" h="1638300">
                <a:moveTo>
                  <a:pt x="165272" y="0"/>
                </a:moveTo>
                <a:lnTo>
                  <a:pt x="2988782" y="0"/>
                </a:lnTo>
                <a:cubicBezTo>
                  <a:pt x="3080060" y="0"/>
                  <a:pt x="3154054" y="102344"/>
                  <a:pt x="3154054" y="228592"/>
                </a:cubicBezTo>
                <a:lnTo>
                  <a:pt x="3154054" y="1409708"/>
                </a:lnTo>
                <a:cubicBezTo>
                  <a:pt x="3154054" y="1535956"/>
                  <a:pt x="3080060" y="1638300"/>
                  <a:pt x="2988782" y="1638300"/>
                </a:cubicBezTo>
                <a:lnTo>
                  <a:pt x="165272" y="1638300"/>
                </a:lnTo>
                <a:cubicBezTo>
                  <a:pt x="73995" y="1638300"/>
                  <a:pt x="0" y="1535956"/>
                  <a:pt x="0" y="1409708"/>
                </a:cubicBezTo>
                <a:lnTo>
                  <a:pt x="0" y="228592"/>
                </a:lnTo>
                <a:cubicBezTo>
                  <a:pt x="0" y="102344"/>
                  <a:pt x="73995" y="0"/>
                  <a:pt x="165272" y="0"/>
                </a:cubicBezTo>
                <a:close/>
              </a:path>
            </a:pathLst>
          </a:custGeom>
          <a:solidFill>
            <a:srgbClr val="D2691E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9104621" y="130810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6"/>
          <p:cNvSpPr/>
          <p:nvPr/>
        </p:nvSpPr>
        <p:spPr>
          <a:xfrm>
            <a:off x="9418946" y="1257300"/>
            <a:ext cx="2219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Dataset Details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9095096" y="1714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800" y="27652"/>
                </a:moveTo>
                <a:cubicBezTo>
                  <a:pt x="74057" y="40422"/>
                  <a:pt x="69711" y="53310"/>
                  <a:pt x="60097" y="56465"/>
                </a:cubicBezTo>
                <a:cubicBezTo>
                  <a:pt x="50483" y="59621"/>
                  <a:pt x="39231" y="51822"/>
                  <a:pt x="34975" y="39052"/>
                </a:cubicBezTo>
                <a:cubicBezTo>
                  <a:pt x="30718" y="26283"/>
                  <a:pt x="35064" y="13395"/>
                  <a:pt x="44678" y="10239"/>
                </a:cubicBezTo>
                <a:cubicBezTo>
                  <a:pt x="54293" y="7084"/>
                  <a:pt x="65544" y="14883"/>
                  <a:pt x="69800" y="27652"/>
                </a:cubicBezTo>
                <a:close/>
                <a:moveTo>
                  <a:pt x="29885" y="59115"/>
                </a:moveTo>
                <a:cubicBezTo>
                  <a:pt x="35510" y="68759"/>
                  <a:pt x="34141" y="79980"/>
                  <a:pt x="26849" y="84147"/>
                </a:cubicBezTo>
                <a:cubicBezTo>
                  <a:pt x="19556" y="88315"/>
                  <a:pt x="9079" y="83880"/>
                  <a:pt x="3483" y="74235"/>
                </a:cubicBezTo>
                <a:cubicBezTo>
                  <a:pt x="-2113" y="64591"/>
                  <a:pt x="-774" y="53370"/>
                  <a:pt x="6519" y="49203"/>
                </a:cubicBezTo>
                <a:cubicBezTo>
                  <a:pt x="13811" y="45035"/>
                  <a:pt x="24289" y="49470"/>
                  <a:pt x="29885" y="59115"/>
                </a:cubicBezTo>
                <a:close/>
                <a:moveTo>
                  <a:pt x="20598" y="119420"/>
                </a:moveTo>
                <a:cubicBezTo>
                  <a:pt x="36195" y="77361"/>
                  <a:pt x="63907" y="66675"/>
                  <a:pt x="76200" y="66675"/>
                </a:cubicBezTo>
                <a:cubicBezTo>
                  <a:pt x="88493" y="66675"/>
                  <a:pt x="116205" y="77361"/>
                  <a:pt x="131802" y="119420"/>
                </a:cubicBezTo>
                <a:cubicBezTo>
                  <a:pt x="132874" y="122307"/>
                  <a:pt x="133350" y="125403"/>
                  <a:pt x="133350" y="128498"/>
                </a:cubicBezTo>
                <a:lnTo>
                  <a:pt x="133350" y="128974"/>
                </a:lnTo>
                <a:cubicBezTo>
                  <a:pt x="133350" y="136654"/>
                  <a:pt x="127129" y="142875"/>
                  <a:pt x="119449" y="142875"/>
                </a:cubicBezTo>
                <a:cubicBezTo>
                  <a:pt x="116026" y="142875"/>
                  <a:pt x="112633" y="142458"/>
                  <a:pt x="109329" y="141625"/>
                </a:cubicBezTo>
                <a:lnTo>
                  <a:pt x="83135" y="135076"/>
                </a:lnTo>
                <a:cubicBezTo>
                  <a:pt x="78581" y="133945"/>
                  <a:pt x="73819" y="133945"/>
                  <a:pt x="69265" y="135076"/>
                </a:cubicBezTo>
                <a:lnTo>
                  <a:pt x="43071" y="141625"/>
                </a:lnTo>
                <a:cubicBezTo>
                  <a:pt x="39767" y="142458"/>
                  <a:pt x="36374" y="142875"/>
                  <a:pt x="32951" y="142875"/>
                </a:cubicBezTo>
                <a:cubicBezTo>
                  <a:pt x="25271" y="142875"/>
                  <a:pt x="19050" y="136654"/>
                  <a:pt x="19050" y="128974"/>
                </a:cubicBezTo>
                <a:lnTo>
                  <a:pt x="19050" y="128498"/>
                </a:lnTo>
                <a:cubicBezTo>
                  <a:pt x="19050" y="125403"/>
                  <a:pt x="19526" y="122307"/>
                  <a:pt x="20598" y="119420"/>
                </a:cubicBezTo>
                <a:close/>
                <a:moveTo>
                  <a:pt x="125551" y="84147"/>
                </a:moveTo>
                <a:cubicBezTo>
                  <a:pt x="118259" y="79980"/>
                  <a:pt x="116890" y="68759"/>
                  <a:pt x="122515" y="59115"/>
                </a:cubicBezTo>
                <a:cubicBezTo>
                  <a:pt x="128141" y="49470"/>
                  <a:pt x="138589" y="45035"/>
                  <a:pt x="145881" y="49203"/>
                </a:cubicBezTo>
                <a:cubicBezTo>
                  <a:pt x="153174" y="53370"/>
                  <a:pt x="154543" y="64591"/>
                  <a:pt x="148917" y="74235"/>
                </a:cubicBezTo>
                <a:cubicBezTo>
                  <a:pt x="143292" y="83880"/>
                  <a:pt x="132844" y="88315"/>
                  <a:pt x="125551" y="84147"/>
                </a:cubicBezTo>
                <a:close/>
                <a:moveTo>
                  <a:pt x="92303" y="56465"/>
                </a:moveTo>
                <a:cubicBezTo>
                  <a:pt x="82689" y="53310"/>
                  <a:pt x="78343" y="40422"/>
                  <a:pt x="82600" y="27652"/>
                </a:cubicBezTo>
                <a:cubicBezTo>
                  <a:pt x="86856" y="14883"/>
                  <a:pt x="98108" y="7084"/>
                  <a:pt x="107722" y="10239"/>
                </a:cubicBezTo>
                <a:cubicBezTo>
                  <a:pt x="117336" y="13395"/>
                  <a:pt x="121682" y="26283"/>
                  <a:pt x="117425" y="39052"/>
                </a:cubicBezTo>
                <a:cubicBezTo>
                  <a:pt x="113169" y="51822"/>
                  <a:pt x="101918" y="59621"/>
                  <a:pt x="92303" y="56465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13" name="Text 8"/>
          <p:cNvSpPr/>
          <p:nvPr/>
        </p:nvSpPr>
        <p:spPr>
          <a:xfrm>
            <a:off x="9342746" y="1676400"/>
            <a:ext cx="2696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Animal symptoms data for dogs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9095096" y="2019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800" y="27652"/>
                </a:moveTo>
                <a:cubicBezTo>
                  <a:pt x="74057" y="40422"/>
                  <a:pt x="69711" y="53310"/>
                  <a:pt x="60097" y="56465"/>
                </a:cubicBezTo>
                <a:cubicBezTo>
                  <a:pt x="50483" y="59621"/>
                  <a:pt x="39231" y="51822"/>
                  <a:pt x="34975" y="39052"/>
                </a:cubicBezTo>
                <a:cubicBezTo>
                  <a:pt x="30718" y="26283"/>
                  <a:pt x="35064" y="13395"/>
                  <a:pt x="44678" y="10239"/>
                </a:cubicBezTo>
                <a:cubicBezTo>
                  <a:pt x="54293" y="7084"/>
                  <a:pt x="65544" y="14883"/>
                  <a:pt x="69800" y="27652"/>
                </a:cubicBezTo>
                <a:close/>
                <a:moveTo>
                  <a:pt x="29885" y="59115"/>
                </a:moveTo>
                <a:cubicBezTo>
                  <a:pt x="35510" y="68759"/>
                  <a:pt x="34141" y="79980"/>
                  <a:pt x="26849" y="84147"/>
                </a:cubicBezTo>
                <a:cubicBezTo>
                  <a:pt x="19556" y="88315"/>
                  <a:pt x="9079" y="83880"/>
                  <a:pt x="3483" y="74235"/>
                </a:cubicBezTo>
                <a:cubicBezTo>
                  <a:pt x="-2113" y="64591"/>
                  <a:pt x="-774" y="53370"/>
                  <a:pt x="6519" y="49203"/>
                </a:cubicBezTo>
                <a:cubicBezTo>
                  <a:pt x="13811" y="45035"/>
                  <a:pt x="24289" y="49470"/>
                  <a:pt x="29885" y="59115"/>
                </a:cubicBezTo>
                <a:close/>
                <a:moveTo>
                  <a:pt x="20598" y="119420"/>
                </a:moveTo>
                <a:cubicBezTo>
                  <a:pt x="36195" y="77361"/>
                  <a:pt x="63907" y="66675"/>
                  <a:pt x="76200" y="66675"/>
                </a:cubicBezTo>
                <a:cubicBezTo>
                  <a:pt x="88493" y="66675"/>
                  <a:pt x="116205" y="77361"/>
                  <a:pt x="131802" y="119420"/>
                </a:cubicBezTo>
                <a:cubicBezTo>
                  <a:pt x="132874" y="122307"/>
                  <a:pt x="133350" y="125403"/>
                  <a:pt x="133350" y="128498"/>
                </a:cubicBezTo>
                <a:lnTo>
                  <a:pt x="133350" y="128974"/>
                </a:lnTo>
                <a:cubicBezTo>
                  <a:pt x="133350" y="136654"/>
                  <a:pt x="127129" y="142875"/>
                  <a:pt x="119449" y="142875"/>
                </a:cubicBezTo>
                <a:cubicBezTo>
                  <a:pt x="116026" y="142875"/>
                  <a:pt x="112633" y="142458"/>
                  <a:pt x="109329" y="141625"/>
                </a:cubicBezTo>
                <a:lnTo>
                  <a:pt x="83135" y="135076"/>
                </a:lnTo>
                <a:cubicBezTo>
                  <a:pt x="78581" y="133945"/>
                  <a:pt x="73819" y="133945"/>
                  <a:pt x="69265" y="135076"/>
                </a:cubicBezTo>
                <a:lnTo>
                  <a:pt x="43071" y="141625"/>
                </a:lnTo>
                <a:cubicBezTo>
                  <a:pt x="39767" y="142458"/>
                  <a:pt x="36374" y="142875"/>
                  <a:pt x="32951" y="142875"/>
                </a:cubicBezTo>
                <a:cubicBezTo>
                  <a:pt x="25271" y="142875"/>
                  <a:pt x="19050" y="136654"/>
                  <a:pt x="19050" y="128974"/>
                </a:cubicBezTo>
                <a:lnTo>
                  <a:pt x="19050" y="128498"/>
                </a:lnTo>
                <a:cubicBezTo>
                  <a:pt x="19050" y="125403"/>
                  <a:pt x="19526" y="122307"/>
                  <a:pt x="20598" y="119420"/>
                </a:cubicBezTo>
                <a:close/>
                <a:moveTo>
                  <a:pt x="125551" y="84147"/>
                </a:moveTo>
                <a:cubicBezTo>
                  <a:pt x="118259" y="79980"/>
                  <a:pt x="116890" y="68759"/>
                  <a:pt x="122515" y="59115"/>
                </a:cubicBezTo>
                <a:cubicBezTo>
                  <a:pt x="128141" y="49470"/>
                  <a:pt x="138589" y="45035"/>
                  <a:pt x="145881" y="49203"/>
                </a:cubicBezTo>
                <a:cubicBezTo>
                  <a:pt x="153174" y="53370"/>
                  <a:pt x="154543" y="64591"/>
                  <a:pt x="148917" y="74235"/>
                </a:cubicBezTo>
                <a:cubicBezTo>
                  <a:pt x="143292" y="83880"/>
                  <a:pt x="132844" y="88315"/>
                  <a:pt x="125551" y="84147"/>
                </a:cubicBezTo>
                <a:close/>
                <a:moveTo>
                  <a:pt x="92303" y="56465"/>
                </a:moveTo>
                <a:cubicBezTo>
                  <a:pt x="82689" y="53310"/>
                  <a:pt x="78343" y="40422"/>
                  <a:pt x="82600" y="27652"/>
                </a:cubicBezTo>
                <a:cubicBezTo>
                  <a:pt x="86856" y="14883"/>
                  <a:pt x="98108" y="7084"/>
                  <a:pt x="107722" y="10239"/>
                </a:cubicBezTo>
                <a:cubicBezTo>
                  <a:pt x="117336" y="13395"/>
                  <a:pt x="121682" y="26283"/>
                  <a:pt x="117425" y="39052"/>
                </a:cubicBezTo>
                <a:cubicBezTo>
                  <a:pt x="113169" y="51822"/>
                  <a:pt x="101918" y="59621"/>
                  <a:pt x="92303" y="56465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15" name="Text 10"/>
          <p:cNvSpPr/>
          <p:nvPr/>
        </p:nvSpPr>
        <p:spPr>
          <a:xfrm>
            <a:off x="9342746" y="1981200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Multiple symptom columns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9095096" y="2324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800" y="27652"/>
                </a:moveTo>
                <a:cubicBezTo>
                  <a:pt x="74057" y="40422"/>
                  <a:pt x="69711" y="53310"/>
                  <a:pt x="60097" y="56465"/>
                </a:cubicBezTo>
                <a:cubicBezTo>
                  <a:pt x="50483" y="59621"/>
                  <a:pt x="39231" y="51822"/>
                  <a:pt x="34975" y="39052"/>
                </a:cubicBezTo>
                <a:cubicBezTo>
                  <a:pt x="30718" y="26283"/>
                  <a:pt x="35064" y="13395"/>
                  <a:pt x="44678" y="10239"/>
                </a:cubicBezTo>
                <a:cubicBezTo>
                  <a:pt x="54293" y="7084"/>
                  <a:pt x="65544" y="14883"/>
                  <a:pt x="69800" y="27652"/>
                </a:cubicBezTo>
                <a:close/>
                <a:moveTo>
                  <a:pt x="29885" y="59115"/>
                </a:moveTo>
                <a:cubicBezTo>
                  <a:pt x="35510" y="68759"/>
                  <a:pt x="34141" y="79980"/>
                  <a:pt x="26849" y="84147"/>
                </a:cubicBezTo>
                <a:cubicBezTo>
                  <a:pt x="19556" y="88315"/>
                  <a:pt x="9079" y="83880"/>
                  <a:pt x="3483" y="74235"/>
                </a:cubicBezTo>
                <a:cubicBezTo>
                  <a:pt x="-2113" y="64591"/>
                  <a:pt x="-774" y="53370"/>
                  <a:pt x="6519" y="49203"/>
                </a:cubicBezTo>
                <a:cubicBezTo>
                  <a:pt x="13811" y="45035"/>
                  <a:pt x="24289" y="49470"/>
                  <a:pt x="29885" y="59115"/>
                </a:cubicBezTo>
                <a:close/>
                <a:moveTo>
                  <a:pt x="20598" y="119420"/>
                </a:moveTo>
                <a:cubicBezTo>
                  <a:pt x="36195" y="77361"/>
                  <a:pt x="63907" y="66675"/>
                  <a:pt x="76200" y="66675"/>
                </a:cubicBezTo>
                <a:cubicBezTo>
                  <a:pt x="88493" y="66675"/>
                  <a:pt x="116205" y="77361"/>
                  <a:pt x="131802" y="119420"/>
                </a:cubicBezTo>
                <a:cubicBezTo>
                  <a:pt x="132874" y="122307"/>
                  <a:pt x="133350" y="125403"/>
                  <a:pt x="133350" y="128498"/>
                </a:cubicBezTo>
                <a:lnTo>
                  <a:pt x="133350" y="128974"/>
                </a:lnTo>
                <a:cubicBezTo>
                  <a:pt x="133350" y="136654"/>
                  <a:pt x="127129" y="142875"/>
                  <a:pt x="119449" y="142875"/>
                </a:cubicBezTo>
                <a:cubicBezTo>
                  <a:pt x="116026" y="142875"/>
                  <a:pt x="112633" y="142458"/>
                  <a:pt x="109329" y="141625"/>
                </a:cubicBezTo>
                <a:lnTo>
                  <a:pt x="83135" y="135076"/>
                </a:lnTo>
                <a:cubicBezTo>
                  <a:pt x="78581" y="133945"/>
                  <a:pt x="73819" y="133945"/>
                  <a:pt x="69265" y="135076"/>
                </a:cubicBezTo>
                <a:lnTo>
                  <a:pt x="43071" y="141625"/>
                </a:lnTo>
                <a:cubicBezTo>
                  <a:pt x="39767" y="142458"/>
                  <a:pt x="36374" y="142875"/>
                  <a:pt x="32951" y="142875"/>
                </a:cubicBezTo>
                <a:cubicBezTo>
                  <a:pt x="25271" y="142875"/>
                  <a:pt x="19050" y="136654"/>
                  <a:pt x="19050" y="128974"/>
                </a:cubicBezTo>
                <a:lnTo>
                  <a:pt x="19050" y="128498"/>
                </a:lnTo>
                <a:cubicBezTo>
                  <a:pt x="19050" y="125403"/>
                  <a:pt x="19526" y="122307"/>
                  <a:pt x="20598" y="119420"/>
                </a:cubicBezTo>
                <a:close/>
                <a:moveTo>
                  <a:pt x="125551" y="84147"/>
                </a:moveTo>
                <a:cubicBezTo>
                  <a:pt x="118259" y="79980"/>
                  <a:pt x="116890" y="68759"/>
                  <a:pt x="122515" y="59115"/>
                </a:cubicBezTo>
                <a:cubicBezTo>
                  <a:pt x="128141" y="49470"/>
                  <a:pt x="138589" y="45035"/>
                  <a:pt x="145881" y="49203"/>
                </a:cubicBezTo>
                <a:cubicBezTo>
                  <a:pt x="153174" y="53370"/>
                  <a:pt x="154543" y="64591"/>
                  <a:pt x="148917" y="74235"/>
                </a:cubicBezTo>
                <a:cubicBezTo>
                  <a:pt x="143292" y="83880"/>
                  <a:pt x="132844" y="88315"/>
                  <a:pt x="125551" y="84147"/>
                </a:cubicBezTo>
                <a:close/>
                <a:moveTo>
                  <a:pt x="92303" y="56465"/>
                </a:moveTo>
                <a:cubicBezTo>
                  <a:pt x="82689" y="53310"/>
                  <a:pt x="78343" y="40422"/>
                  <a:pt x="82600" y="27652"/>
                </a:cubicBezTo>
                <a:cubicBezTo>
                  <a:pt x="86856" y="14883"/>
                  <a:pt x="98108" y="7084"/>
                  <a:pt x="107722" y="10239"/>
                </a:cubicBezTo>
                <a:cubicBezTo>
                  <a:pt x="117336" y="13395"/>
                  <a:pt x="121682" y="26283"/>
                  <a:pt x="117425" y="39052"/>
                </a:cubicBezTo>
                <a:cubicBezTo>
                  <a:pt x="113169" y="51822"/>
                  <a:pt x="101918" y="59621"/>
                  <a:pt x="92303" y="56465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17" name="Text 12"/>
          <p:cNvSpPr/>
          <p:nvPr/>
        </p:nvSpPr>
        <p:spPr>
          <a:xfrm>
            <a:off x="9342746" y="2286000"/>
            <a:ext cx="23621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Dangerous condition labels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885546" y="2852746"/>
            <a:ext cx="3154054" cy="2143108"/>
          </a:xfrm>
          <a:custGeom>
            <a:avLst/>
            <a:gdLst/>
            <a:ahLst/>
            <a:cxnLst/>
            <a:rect l="l" t="t" r="r" b="b"/>
            <a:pathLst>
              <a:path w="3154054" h="2143108">
                <a:moveTo>
                  <a:pt x="165283" y="0"/>
                </a:moveTo>
                <a:lnTo>
                  <a:pt x="2988771" y="0"/>
                </a:lnTo>
                <a:cubicBezTo>
                  <a:pt x="3080055" y="0"/>
                  <a:pt x="3154054" y="60602"/>
                  <a:pt x="3154054" y="135359"/>
                </a:cubicBezTo>
                <a:lnTo>
                  <a:pt x="3154054" y="2007749"/>
                </a:lnTo>
                <a:cubicBezTo>
                  <a:pt x="3154054" y="2082506"/>
                  <a:pt x="3080055" y="2143108"/>
                  <a:pt x="2988771" y="2143108"/>
                </a:cubicBezTo>
                <a:lnTo>
                  <a:pt x="165283" y="2143108"/>
                </a:lnTo>
                <a:cubicBezTo>
                  <a:pt x="74000" y="2143108"/>
                  <a:pt x="0" y="2082506"/>
                  <a:pt x="0" y="2007749"/>
                </a:cubicBezTo>
                <a:lnTo>
                  <a:pt x="0" y="135359"/>
                </a:lnTo>
                <a:cubicBezTo>
                  <a:pt x="0" y="60652"/>
                  <a:pt x="74061" y="0"/>
                  <a:pt x="165283" y="0"/>
                </a:cubicBezTo>
                <a:close/>
              </a:path>
            </a:pathLst>
          </a:custGeom>
          <a:solidFill>
            <a:srgbClr val="FFD700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029348" y="309880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5D4037"/>
          </a:solidFill>
          <a:ln/>
        </p:spPr>
      </p:sp>
      <p:sp>
        <p:nvSpPr>
          <p:cNvPr id="20" name="Text 15"/>
          <p:cNvSpPr/>
          <p:nvPr/>
        </p:nvSpPr>
        <p:spPr>
          <a:xfrm>
            <a:off x="9239250" y="3098802"/>
            <a:ext cx="1885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D4037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9029348" y="3543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22" name="Text 17"/>
          <p:cNvSpPr/>
          <p:nvPr/>
        </p:nvSpPr>
        <p:spPr>
          <a:xfrm>
            <a:off x="8947746" y="35433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9334500" y="3543300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Symptom coverage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9003948" y="3810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25" name="Text 20"/>
          <p:cNvSpPr/>
          <p:nvPr/>
        </p:nvSpPr>
        <p:spPr>
          <a:xfrm>
            <a:off x="8947746" y="38100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9321541" y="3810000"/>
            <a:ext cx="23167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Structured for ML training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9029348" y="4064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28" name="Text 23"/>
          <p:cNvSpPr/>
          <p:nvPr/>
        </p:nvSpPr>
        <p:spPr>
          <a:xfrm>
            <a:off x="8947746" y="40640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9321541" y="4076700"/>
            <a:ext cx="25656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Ready for model optimization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-38100" y="6477000"/>
            <a:ext cx="1226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Nafia Haque Muskan, MD Tamim Hasan</a:t>
            </a:r>
            <a:endParaRPr lang="en-US" sz="16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CE00F08-7516-2499-5A8A-285D69900CA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8639"/>
          <a:stretch>
            <a:fillRect/>
          </a:stretch>
        </p:blipFill>
        <p:spPr>
          <a:xfrm>
            <a:off x="114300" y="1066799"/>
            <a:ext cx="8618846" cy="541020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b06b271ae5c5c344c754c8e5032d84f99c78109b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0800" r="10800"/>
          <a:stretch/>
        </p:blipFill>
        <p:spPr>
          <a:xfrm>
            <a:off x="10972800" y="152400"/>
            <a:ext cx="1066800" cy="1066800"/>
          </a:xfrm>
          <a:prstGeom prst="roundRect">
            <a:avLst>
              <a:gd name="adj" fmla="val 0"/>
            </a:avLst>
          </a:prstGeom>
        </p:spPr>
      </p:pic>
      <p:pic>
        <p:nvPicPr>
          <p:cNvPr id="3" name="Image 1" descr="https://kimi-web-img.moonshot.cn/img/i.etsystatic.com/3be74811b05cbd1b07c8a7b3b374b195b8e3e738.jpg"/>
          <p:cNvPicPr>
            <a:picLocks noChangeAspect="1"/>
          </p:cNvPicPr>
          <p:nvPr/>
        </p:nvPicPr>
        <p:blipFill>
          <a:blip r:embed="rId4">
            <a:alphaModFix amt="50000"/>
          </a:blip>
          <a:srcRect l="10007" r="10007"/>
          <a:stretch/>
        </p:blipFill>
        <p:spPr>
          <a:xfrm>
            <a:off x="190500" y="152400"/>
            <a:ext cx="914400" cy="9144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0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4A460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519113" y="5334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2"/>
          <p:cNvSpPr/>
          <p:nvPr/>
        </p:nvSpPr>
        <p:spPr>
          <a:xfrm>
            <a:off x="1066800" y="457200"/>
            <a:ext cx="430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D269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Behind the Scenes: Code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20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Colab Implementation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52400" y="1066800"/>
            <a:ext cx="8318434" cy="5410200"/>
          </a:xfrm>
          <a:custGeom>
            <a:avLst/>
            <a:gdLst/>
            <a:ahLst/>
            <a:cxnLst/>
            <a:rect l="l" t="t" r="r" b="b"/>
            <a:pathLst>
              <a:path w="8318434" h="5410200">
                <a:moveTo>
                  <a:pt x="302006" y="0"/>
                </a:moveTo>
                <a:lnTo>
                  <a:pt x="8016428" y="0"/>
                </a:lnTo>
                <a:cubicBezTo>
                  <a:pt x="8183221" y="0"/>
                  <a:pt x="8318434" y="102339"/>
                  <a:pt x="8318434" y="228581"/>
                </a:cubicBezTo>
                <a:lnTo>
                  <a:pt x="8318434" y="5181619"/>
                </a:lnTo>
                <a:cubicBezTo>
                  <a:pt x="8318434" y="5307861"/>
                  <a:pt x="8183221" y="5410200"/>
                  <a:pt x="8016428" y="5410200"/>
                </a:cubicBezTo>
                <a:lnTo>
                  <a:pt x="302006" y="5410200"/>
                </a:lnTo>
                <a:cubicBezTo>
                  <a:pt x="135213" y="5410200"/>
                  <a:pt x="0" y="5307861"/>
                  <a:pt x="0" y="5181619"/>
                </a:cubicBezTo>
                <a:lnTo>
                  <a:pt x="0" y="228581"/>
                </a:lnTo>
                <a:cubicBezTo>
                  <a:pt x="0" y="102424"/>
                  <a:pt x="135324" y="0"/>
                  <a:pt x="3020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575631" y="1219200"/>
            <a:ext cx="3463969" cy="1943100"/>
          </a:xfrm>
          <a:custGeom>
            <a:avLst/>
            <a:gdLst/>
            <a:ahLst/>
            <a:cxnLst/>
            <a:rect l="l" t="t" r="r" b="b"/>
            <a:pathLst>
              <a:path w="3463969" h="1943100">
                <a:moveTo>
                  <a:pt x="161432" y="0"/>
                </a:moveTo>
                <a:lnTo>
                  <a:pt x="3302537" y="0"/>
                </a:lnTo>
                <a:cubicBezTo>
                  <a:pt x="3391633" y="0"/>
                  <a:pt x="3463969" y="102435"/>
                  <a:pt x="3463969" y="228606"/>
                </a:cubicBezTo>
                <a:lnTo>
                  <a:pt x="3463969" y="1714494"/>
                </a:lnTo>
                <a:cubicBezTo>
                  <a:pt x="3463969" y="1840665"/>
                  <a:pt x="3391633" y="1943100"/>
                  <a:pt x="3302537" y="1943100"/>
                </a:cubicBezTo>
                <a:lnTo>
                  <a:pt x="161432" y="1943100"/>
                </a:lnTo>
                <a:cubicBezTo>
                  <a:pt x="72335" y="1943100"/>
                  <a:pt x="0" y="1840665"/>
                  <a:pt x="0" y="1714494"/>
                </a:cubicBezTo>
                <a:lnTo>
                  <a:pt x="0" y="228606"/>
                </a:lnTo>
                <a:cubicBezTo>
                  <a:pt x="0" y="102435"/>
                  <a:pt x="72335" y="0"/>
                  <a:pt x="161432" y="0"/>
                </a:cubicBezTo>
                <a:close/>
              </a:path>
            </a:pathLst>
          </a:custGeom>
          <a:solidFill>
            <a:srgbClr val="D2691E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766131" y="146050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6"/>
          <p:cNvSpPr/>
          <p:nvPr/>
        </p:nvSpPr>
        <p:spPr>
          <a:xfrm>
            <a:off x="9109031" y="1409700"/>
            <a:ext cx="253371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Key Components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766131" y="1828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12" name="Text 8"/>
          <p:cNvSpPr/>
          <p:nvPr/>
        </p:nvSpPr>
        <p:spPr>
          <a:xfrm>
            <a:off x="8732794" y="18288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9070931" y="1828800"/>
            <a:ext cx="196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Gemini SDK import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766131" y="2133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15" name="Text 11"/>
          <p:cNvSpPr/>
          <p:nvPr/>
        </p:nvSpPr>
        <p:spPr>
          <a:xfrm>
            <a:off x="8732794" y="21336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9070931" y="2133600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client configuration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766131" y="243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18" name="Text 14"/>
          <p:cNvSpPr/>
          <p:nvPr/>
        </p:nvSpPr>
        <p:spPr>
          <a:xfrm>
            <a:off x="8732794" y="24384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9070931" y="2438400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Professional AI persona setup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8766131" y="2743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21" name="Text 17"/>
          <p:cNvSpPr/>
          <p:nvPr/>
        </p:nvSpPr>
        <p:spPr>
          <a:xfrm>
            <a:off x="8732794" y="27432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9070931" y="274320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Django view function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8594681" y="3200400"/>
            <a:ext cx="3444919" cy="3276600"/>
          </a:xfrm>
          <a:custGeom>
            <a:avLst/>
            <a:gdLst/>
            <a:ahLst/>
            <a:cxnLst/>
            <a:rect l="l" t="t" r="r" b="b"/>
            <a:pathLst>
              <a:path w="3444919" h="3276600">
                <a:moveTo>
                  <a:pt x="161802" y="0"/>
                </a:moveTo>
                <a:lnTo>
                  <a:pt x="3283116" y="0"/>
                </a:lnTo>
                <a:cubicBezTo>
                  <a:pt x="3372477" y="0"/>
                  <a:pt x="3444919" y="102351"/>
                  <a:pt x="3444919" y="228608"/>
                </a:cubicBezTo>
                <a:lnTo>
                  <a:pt x="3444919" y="3047992"/>
                </a:lnTo>
                <a:cubicBezTo>
                  <a:pt x="3444919" y="3174249"/>
                  <a:pt x="3372477" y="3276600"/>
                  <a:pt x="3283116" y="3276600"/>
                </a:cubicBezTo>
                <a:lnTo>
                  <a:pt x="161802" y="3276600"/>
                </a:lnTo>
                <a:cubicBezTo>
                  <a:pt x="72441" y="3276600"/>
                  <a:pt x="0" y="3174249"/>
                  <a:pt x="0" y="3047992"/>
                </a:cubicBezTo>
                <a:lnTo>
                  <a:pt x="0" y="228608"/>
                </a:lnTo>
                <a:cubicBezTo>
                  <a:pt x="0" y="102436"/>
                  <a:pt x="72501" y="0"/>
                  <a:pt x="161802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D700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847094" y="346075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3572"/>
                </a:move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lose/>
                <a:moveTo>
                  <a:pt x="126802" y="143232"/>
                </a:moveTo>
                <a:cubicBezTo>
                  <a:pt x="124391" y="143009"/>
                  <a:pt x="121890" y="142875"/>
                  <a:pt x="119390" y="142875"/>
                </a:cubicBezTo>
                <a:lnTo>
                  <a:pt x="80590" y="142875"/>
                </a:lnTo>
                <a:cubicBezTo>
                  <a:pt x="78090" y="142875"/>
                  <a:pt x="75634" y="143009"/>
                  <a:pt x="73179" y="143232"/>
                </a:cubicBezTo>
                <a:lnTo>
                  <a:pt x="73179" y="173370"/>
                </a:lnTo>
                <a:cubicBezTo>
                  <a:pt x="80546" y="176763"/>
                  <a:pt x="85680" y="184219"/>
                  <a:pt x="85680" y="192837"/>
                </a:cubicBezTo>
                <a:cubicBezTo>
                  <a:pt x="85680" y="204668"/>
                  <a:pt x="76081" y="214268"/>
                  <a:pt x="64249" y="214268"/>
                </a:cubicBezTo>
                <a:cubicBezTo>
                  <a:pt x="52417" y="214268"/>
                  <a:pt x="42818" y="204668"/>
                  <a:pt x="42818" y="192837"/>
                </a:cubicBezTo>
                <a:cubicBezTo>
                  <a:pt x="42818" y="184175"/>
                  <a:pt x="47952" y="176719"/>
                  <a:pt x="55319" y="173370"/>
                </a:cubicBezTo>
                <a:lnTo>
                  <a:pt x="55319" y="147295"/>
                </a:lnTo>
                <a:cubicBezTo>
                  <a:pt x="27236" y="157609"/>
                  <a:pt x="7144" y="184666"/>
                  <a:pt x="7144" y="216366"/>
                </a:cubicBezTo>
                <a:cubicBezTo>
                  <a:pt x="7144" y="223108"/>
                  <a:pt x="12636" y="228600"/>
                  <a:pt x="19377" y="228600"/>
                </a:cubicBezTo>
                <a:lnTo>
                  <a:pt x="180603" y="228600"/>
                </a:lnTo>
                <a:cubicBezTo>
                  <a:pt x="187345" y="228600"/>
                  <a:pt x="192837" y="223108"/>
                  <a:pt x="192837" y="216366"/>
                </a:cubicBezTo>
                <a:cubicBezTo>
                  <a:pt x="192837" y="184666"/>
                  <a:pt x="172745" y="157654"/>
                  <a:pt x="144616" y="147340"/>
                </a:cubicBezTo>
                <a:lnTo>
                  <a:pt x="144616" y="164038"/>
                </a:lnTo>
                <a:cubicBezTo>
                  <a:pt x="155019" y="167700"/>
                  <a:pt x="162476" y="177656"/>
                  <a:pt x="162476" y="189309"/>
                </a:cubicBezTo>
                <a:lnTo>
                  <a:pt x="162476" y="203597"/>
                </a:lnTo>
                <a:cubicBezTo>
                  <a:pt x="162476" y="208508"/>
                  <a:pt x="158457" y="212527"/>
                  <a:pt x="153546" y="212527"/>
                </a:cubicBezTo>
                <a:cubicBezTo>
                  <a:pt x="148635" y="212527"/>
                  <a:pt x="144616" y="208508"/>
                  <a:pt x="144616" y="203597"/>
                </a:cubicBezTo>
                <a:lnTo>
                  <a:pt x="144616" y="189309"/>
                </a:lnTo>
                <a:cubicBezTo>
                  <a:pt x="144616" y="184398"/>
                  <a:pt x="140598" y="180380"/>
                  <a:pt x="135687" y="180380"/>
                </a:cubicBezTo>
                <a:cubicBezTo>
                  <a:pt x="130775" y="180380"/>
                  <a:pt x="126757" y="184398"/>
                  <a:pt x="126757" y="189309"/>
                </a:cubicBezTo>
                <a:lnTo>
                  <a:pt x="126757" y="203597"/>
                </a:lnTo>
                <a:cubicBezTo>
                  <a:pt x="126757" y="208508"/>
                  <a:pt x="122739" y="212527"/>
                  <a:pt x="117827" y="212527"/>
                </a:cubicBezTo>
                <a:cubicBezTo>
                  <a:pt x="112916" y="212527"/>
                  <a:pt x="108898" y="208508"/>
                  <a:pt x="108898" y="203597"/>
                </a:cubicBezTo>
                <a:lnTo>
                  <a:pt x="108898" y="189309"/>
                </a:lnTo>
                <a:cubicBezTo>
                  <a:pt x="108898" y="177656"/>
                  <a:pt x="116354" y="167744"/>
                  <a:pt x="126757" y="164038"/>
                </a:cubicBezTo>
                <a:lnTo>
                  <a:pt x="126757" y="143232"/>
                </a:ln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25" name="Text 21"/>
          <p:cNvSpPr/>
          <p:nvPr/>
        </p:nvSpPr>
        <p:spPr>
          <a:xfrm>
            <a:off x="9147131" y="3409950"/>
            <a:ext cx="2755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269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AI Persona Instructions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8804231" y="3829050"/>
            <a:ext cx="3098850" cy="457200"/>
          </a:xfrm>
          <a:custGeom>
            <a:avLst/>
            <a:gdLst/>
            <a:ahLst/>
            <a:cxnLst/>
            <a:rect l="l" t="t" r="r" b="b"/>
            <a:pathLst>
              <a:path w="3098850" h="457200">
                <a:moveTo>
                  <a:pt x="79628" y="0"/>
                </a:moveTo>
                <a:lnTo>
                  <a:pt x="3019222" y="0"/>
                </a:lnTo>
                <a:cubicBezTo>
                  <a:pt x="3063170" y="0"/>
                  <a:pt x="3098850" y="51216"/>
                  <a:pt x="3098850" y="114300"/>
                </a:cubicBezTo>
                <a:lnTo>
                  <a:pt x="3098850" y="342900"/>
                </a:lnTo>
                <a:cubicBezTo>
                  <a:pt x="3098850" y="405984"/>
                  <a:pt x="3063170" y="457200"/>
                  <a:pt x="3019222" y="457200"/>
                </a:cubicBezTo>
                <a:lnTo>
                  <a:pt x="79628" y="457200"/>
                </a:lnTo>
                <a:cubicBezTo>
                  <a:pt x="35680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35680" y="0"/>
                  <a:pt x="79628" y="0"/>
                </a:cubicBezTo>
                <a:close/>
              </a:path>
            </a:pathLst>
          </a:custGeom>
          <a:solidFill>
            <a:srgbClr val="FFF8E7"/>
          </a:solidFill>
          <a:ln/>
        </p:spPr>
      </p:sp>
      <p:sp>
        <p:nvSpPr>
          <p:cNvPr id="27" name="Text 23"/>
          <p:cNvSpPr/>
          <p:nvPr/>
        </p:nvSpPr>
        <p:spPr>
          <a:xfrm>
            <a:off x="8918531" y="3943350"/>
            <a:ext cx="26607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Expert, empathetic vet assistant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8804231" y="4362450"/>
            <a:ext cx="3098850" cy="457200"/>
          </a:xfrm>
          <a:custGeom>
            <a:avLst/>
            <a:gdLst/>
            <a:ahLst/>
            <a:cxnLst/>
            <a:rect l="l" t="t" r="r" b="b"/>
            <a:pathLst>
              <a:path w="3098850" h="457200">
                <a:moveTo>
                  <a:pt x="79628" y="0"/>
                </a:moveTo>
                <a:lnTo>
                  <a:pt x="3019222" y="0"/>
                </a:lnTo>
                <a:cubicBezTo>
                  <a:pt x="3063170" y="0"/>
                  <a:pt x="3098850" y="51216"/>
                  <a:pt x="3098850" y="114300"/>
                </a:cubicBezTo>
                <a:lnTo>
                  <a:pt x="3098850" y="342900"/>
                </a:lnTo>
                <a:cubicBezTo>
                  <a:pt x="3098850" y="405984"/>
                  <a:pt x="3063170" y="457200"/>
                  <a:pt x="3019222" y="457200"/>
                </a:cubicBezTo>
                <a:lnTo>
                  <a:pt x="79628" y="457200"/>
                </a:lnTo>
                <a:cubicBezTo>
                  <a:pt x="35680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35680" y="0"/>
                  <a:pt x="79628" y="0"/>
                </a:cubicBezTo>
                <a:close/>
              </a:path>
            </a:pathLst>
          </a:custGeom>
          <a:solidFill>
            <a:srgbClr val="FFF8E7"/>
          </a:solidFill>
          <a:ln/>
        </p:spPr>
      </p:sp>
      <p:sp>
        <p:nvSpPr>
          <p:cNvPr id="29" name="Text 25"/>
          <p:cNvSpPr/>
          <p:nvPr/>
        </p:nvSpPr>
        <p:spPr>
          <a:xfrm>
            <a:off x="8918531" y="4476750"/>
            <a:ext cx="31210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Warm greetings &amp; professional analysis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8804231" y="4895850"/>
            <a:ext cx="3098850" cy="457200"/>
          </a:xfrm>
          <a:custGeom>
            <a:avLst/>
            <a:gdLst/>
            <a:ahLst/>
            <a:cxnLst/>
            <a:rect l="l" t="t" r="r" b="b"/>
            <a:pathLst>
              <a:path w="3098850" h="457200">
                <a:moveTo>
                  <a:pt x="79628" y="0"/>
                </a:moveTo>
                <a:lnTo>
                  <a:pt x="3019222" y="0"/>
                </a:lnTo>
                <a:cubicBezTo>
                  <a:pt x="3063170" y="0"/>
                  <a:pt x="3098850" y="51216"/>
                  <a:pt x="3098850" y="114300"/>
                </a:cubicBezTo>
                <a:lnTo>
                  <a:pt x="3098850" y="342900"/>
                </a:lnTo>
                <a:cubicBezTo>
                  <a:pt x="3098850" y="405984"/>
                  <a:pt x="3063170" y="457200"/>
                  <a:pt x="3019222" y="457200"/>
                </a:cubicBezTo>
                <a:lnTo>
                  <a:pt x="79628" y="457200"/>
                </a:lnTo>
                <a:cubicBezTo>
                  <a:pt x="35680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35680" y="0"/>
                  <a:pt x="79628" y="0"/>
                </a:cubicBezTo>
                <a:close/>
              </a:path>
            </a:pathLst>
          </a:custGeom>
          <a:solidFill>
            <a:srgbClr val="FFF8E7"/>
          </a:solidFill>
          <a:ln/>
        </p:spPr>
      </p:sp>
      <p:sp>
        <p:nvSpPr>
          <p:cNvPr id="31" name="Text 27"/>
          <p:cNvSpPr/>
          <p:nvPr/>
        </p:nvSpPr>
        <p:spPr>
          <a:xfrm>
            <a:off x="8918531" y="5010150"/>
            <a:ext cx="31210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Clear URGENT/MONITOR conclusions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8804231" y="5429250"/>
            <a:ext cx="3098850" cy="457200"/>
          </a:xfrm>
          <a:custGeom>
            <a:avLst/>
            <a:gdLst/>
            <a:ahLst/>
            <a:cxnLst/>
            <a:rect l="l" t="t" r="r" b="b"/>
            <a:pathLst>
              <a:path w="3098850" h="457200">
                <a:moveTo>
                  <a:pt x="79628" y="0"/>
                </a:moveTo>
                <a:lnTo>
                  <a:pt x="3019222" y="0"/>
                </a:lnTo>
                <a:cubicBezTo>
                  <a:pt x="3063170" y="0"/>
                  <a:pt x="3098850" y="51216"/>
                  <a:pt x="3098850" y="114300"/>
                </a:cubicBezTo>
                <a:lnTo>
                  <a:pt x="3098850" y="342900"/>
                </a:lnTo>
                <a:cubicBezTo>
                  <a:pt x="3098850" y="405984"/>
                  <a:pt x="3063170" y="457200"/>
                  <a:pt x="3019222" y="457200"/>
                </a:cubicBezTo>
                <a:lnTo>
                  <a:pt x="79628" y="457200"/>
                </a:lnTo>
                <a:cubicBezTo>
                  <a:pt x="35680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35680" y="0"/>
                  <a:pt x="79628" y="0"/>
                </a:cubicBezTo>
                <a:close/>
              </a:path>
            </a:pathLst>
          </a:custGeom>
          <a:solidFill>
            <a:srgbClr val="FFF8E7"/>
          </a:solidFill>
          <a:ln/>
        </p:spPr>
      </p:sp>
      <p:sp>
        <p:nvSpPr>
          <p:cNvPr id="33" name="Text 29"/>
          <p:cNvSpPr/>
          <p:nvPr/>
        </p:nvSpPr>
        <p:spPr>
          <a:xfrm>
            <a:off x="8918531" y="5543550"/>
            <a:ext cx="2882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Never prescribe exact dosages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152400" y="6477000"/>
            <a:ext cx="1207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Nafia Haque Muskan, MD Tamim Hasan</a:t>
            </a:r>
            <a:endParaRPr lang="en-US" sz="16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60802B9-4C97-B272-6EA9-4956323B3D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038" r="24974"/>
          <a:stretch>
            <a:fillRect/>
          </a:stretch>
        </p:blipFill>
        <p:spPr>
          <a:xfrm>
            <a:off x="152401" y="1056383"/>
            <a:ext cx="8318434" cy="542061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297444bfa4d370c58480994b76b8db18bac83b79.jp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152400" y="152400"/>
            <a:ext cx="1066800" cy="1066800"/>
          </a:xfrm>
          <a:prstGeom prst="roundRect">
            <a:avLst>
              <a:gd name="adj" fmla="val 0"/>
            </a:avLst>
          </a:prstGeom>
        </p:spPr>
      </p:pic>
      <p:pic>
        <p:nvPicPr>
          <p:cNvPr id="3" name="Image 1" descr="https://kimi-web-img.moonshot.cn/img/static.vecteezy.com/f8ebfba9e19553c507393d2071031c6bcbc6b979.jp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11125200" y="5791200"/>
            <a:ext cx="914400" cy="9144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2691E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545306" y="542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3154" y="0"/>
                </a:moveTo>
                <a:cubicBezTo>
                  <a:pt x="151358" y="0"/>
                  <a:pt x="158893" y="4521"/>
                  <a:pt x="162799" y="11720"/>
                </a:cubicBezTo>
                <a:lnTo>
                  <a:pt x="283350" y="234962"/>
                </a:lnTo>
                <a:cubicBezTo>
                  <a:pt x="287089" y="241883"/>
                  <a:pt x="286922" y="250254"/>
                  <a:pt x="282904" y="257008"/>
                </a:cubicBezTo>
                <a:cubicBezTo>
                  <a:pt x="278885" y="263761"/>
                  <a:pt x="271574" y="267891"/>
                  <a:pt x="263761" y="267891"/>
                </a:cubicBezTo>
                <a:lnTo>
                  <a:pt x="22659" y="267891"/>
                </a:lnTo>
                <a:cubicBezTo>
                  <a:pt x="14790" y="267891"/>
                  <a:pt x="7534" y="263761"/>
                  <a:pt x="3516" y="257008"/>
                </a:cubicBezTo>
                <a:cubicBezTo>
                  <a:pt x="-502" y="250254"/>
                  <a:pt x="-670" y="241883"/>
                  <a:pt x="3070" y="234962"/>
                </a:cubicBezTo>
                <a:lnTo>
                  <a:pt x="123620" y="11720"/>
                </a:lnTo>
                <a:lnTo>
                  <a:pt x="125239" y="9153"/>
                </a:lnTo>
                <a:cubicBezTo>
                  <a:pt x="129313" y="3460"/>
                  <a:pt x="135954" y="0"/>
                  <a:pt x="143154" y="0"/>
                </a:cubicBezTo>
                <a:close/>
                <a:moveTo>
                  <a:pt x="95101" y="139471"/>
                </a:moveTo>
                <a:lnTo>
                  <a:pt x="110058" y="154428"/>
                </a:lnTo>
                <a:cubicBezTo>
                  <a:pt x="113519" y="157888"/>
                  <a:pt x="119211" y="157888"/>
                  <a:pt x="122672" y="154428"/>
                </a:cubicBezTo>
                <a:lnTo>
                  <a:pt x="146838" y="130262"/>
                </a:lnTo>
                <a:cubicBezTo>
                  <a:pt x="150186" y="126913"/>
                  <a:pt x="154707" y="125016"/>
                  <a:pt x="159451" y="125016"/>
                </a:cubicBezTo>
                <a:lnTo>
                  <a:pt x="183338" y="125016"/>
                </a:lnTo>
                <a:lnTo>
                  <a:pt x="143098" y="50509"/>
                </a:lnTo>
                <a:lnTo>
                  <a:pt x="95045" y="13947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2"/>
          <p:cNvSpPr/>
          <p:nvPr/>
        </p:nvSpPr>
        <p:spPr>
          <a:xfrm>
            <a:off x="1143000" y="457200"/>
            <a:ext cx="4886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269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Challenges We Faced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381000" y="1257300"/>
            <a:ext cx="3686175" cy="4305300"/>
          </a:xfrm>
          <a:custGeom>
            <a:avLst/>
            <a:gdLst/>
            <a:ahLst/>
            <a:cxnLst/>
            <a:rect l="l" t="t" r="r" b="b"/>
            <a:pathLst>
              <a:path w="3686175" h="430530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4076683"/>
                </a:lnTo>
                <a:cubicBezTo>
                  <a:pt x="3686175" y="4202945"/>
                  <a:pt x="3583820" y="4305300"/>
                  <a:pt x="3457558" y="4305300"/>
                </a:cubicBezTo>
                <a:lnTo>
                  <a:pt x="228617" y="4305300"/>
                </a:lnTo>
                <a:cubicBezTo>
                  <a:pt x="102355" y="4305300"/>
                  <a:pt x="0" y="4202945"/>
                  <a:pt x="0" y="4076683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81000" y="1257300"/>
            <a:ext cx="3686175" cy="76200"/>
          </a:xfrm>
          <a:custGeom>
            <a:avLst/>
            <a:gdLst/>
            <a:ahLst/>
            <a:cxnLst/>
            <a:rect l="l" t="t" r="r" b="b"/>
            <a:pathLst>
              <a:path w="3686175" h="7620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76200"/>
                </a:lnTo>
                <a:lnTo>
                  <a:pt x="0" y="76200"/>
                </a:ln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9" name="Shape 5"/>
          <p:cNvSpPr/>
          <p:nvPr/>
        </p:nvSpPr>
        <p:spPr>
          <a:xfrm>
            <a:off x="1841500" y="1524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10" name="Shape 6"/>
          <p:cNvSpPr/>
          <p:nvPr/>
        </p:nvSpPr>
        <p:spPr>
          <a:xfrm>
            <a:off x="2029619" y="1733550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64629" y="0"/>
                </a:moveTo>
                <a:cubicBezTo>
                  <a:pt x="40987" y="0"/>
                  <a:pt x="21766" y="19221"/>
                  <a:pt x="21766" y="42863"/>
                </a:cubicBezTo>
                <a:lnTo>
                  <a:pt x="21766" y="300038"/>
                </a:lnTo>
                <a:cubicBezTo>
                  <a:pt x="21766" y="323679"/>
                  <a:pt x="40987" y="342900"/>
                  <a:pt x="64629" y="342900"/>
                </a:cubicBezTo>
                <a:lnTo>
                  <a:pt x="236079" y="342900"/>
                </a:lnTo>
                <a:cubicBezTo>
                  <a:pt x="259720" y="342900"/>
                  <a:pt x="278941" y="323679"/>
                  <a:pt x="278941" y="300038"/>
                </a:cubicBezTo>
                <a:lnTo>
                  <a:pt x="278941" y="235744"/>
                </a:lnTo>
                <a:lnTo>
                  <a:pt x="331247" y="235744"/>
                </a:lnTo>
                <a:lnTo>
                  <a:pt x="310485" y="256505"/>
                </a:lnTo>
                <a:cubicBezTo>
                  <a:pt x="304190" y="262801"/>
                  <a:pt x="304190" y="272981"/>
                  <a:pt x="310485" y="279209"/>
                </a:cubicBezTo>
                <a:cubicBezTo>
                  <a:pt x="316781" y="285437"/>
                  <a:pt x="326961" y="285504"/>
                  <a:pt x="333189" y="279209"/>
                </a:cubicBezTo>
                <a:lnTo>
                  <a:pt x="381409" y="230989"/>
                </a:lnTo>
                <a:cubicBezTo>
                  <a:pt x="387705" y="224693"/>
                  <a:pt x="387705" y="214513"/>
                  <a:pt x="381409" y="208285"/>
                </a:cubicBezTo>
                <a:lnTo>
                  <a:pt x="333189" y="160065"/>
                </a:lnTo>
                <a:cubicBezTo>
                  <a:pt x="326894" y="153769"/>
                  <a:pt x="316714" y="153769"/>
                  <a:pt x="310485" y="160065"/>
                </a:cubicBezTo>
                <a:cubicBezTo>
                  <a:pt x="304257" y="166360"/>
                  <a:pt x="304190" y="176540"/>
                  <a:pt x="310485" y="182768"/>
                </a:cubicBezTo>
                <a:lnTo>
                  <a:pt x="331247" y="203530"/>
                </a:lnTo>
                <a:lnTo>
                  <a:pt x="278941" y="203530"/>
                </a:lnTo>
                <a:lnTo>
                  <a:pt x="278941" y="114121"/>
                </a:lnTo>
                <a:cubicBezTo>
                  <a:pt x="278941" y="102736"/>
                  <a:pt x="274454" y="91820"/>
                  <a:pt x="266417" y="83783"/>
                </a:cubicBezTo>
                <a:lnTo>
                  <a:pt x="195024" y="12524"/>
                </a:lnTo>
                <a:cubicBezTo>
                  <a:pt x="186988" y="4487"/>
                  <a:pt x="176138" y="0"/>
                  <a:pt x="164753" y="0"/>
                </a:cubicBezTo>
                <a:lnTo>
                  <a:pt x="64629" y="0"/>
                </a:lnTo>
                <a:close/>
                <a:moveTo>
                  <a:pt x="239762" y="117872"/>
                </a:moveTo>
                <a:lnTo>
                  <a:pt x="177143" y="117872"/>
                </a:lnTo>
                <a:cubicBezTo>
                  <a:pt x="168235" y="117872"/>
                  <a:pt x="161069" y="110706"/>
                  <a:pt x="161069" y="101798"/>
                </a:cubicBezTo>
                <a:lnTo>
                  <a:pt x="161069" y="39179"/>
                </a:lnTo>
                <a:lnTo>
                  <a:pt x="239762" y="117872"/>
                </a:lnTo>
                <a:close/>
                <a:moveTo>
                  <a:pt x="150354" y="219670"/>
                </a:moveTo>
                <a:cubicBezTo>
                  <a:pt x="150354" y="210763"/>
                  <a:pt x="157520" y="203597"/>
                  <a:pt x="166427" y="203597"/>
                </a:cubicBezTo>
                <a:lnTo>
                  <a:pt x="236079" y="203597"/>
                </a:lnTo>
                <a:lnTo>
                  <a:pt x="236079" y="235744"/>
                </a:lnTo>
                <a:lnTo>
                  <a:pt x="166427" y="235744"/>
                </a:lnTo>
                <a:cubicBezTo>
                  <a:pt x="157520" y="235744"/>
                  <a:pt x="150354" y="228578"/>
                  <a:pt x="150354" y="21967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7"/>
          <p:cNvSpPr/>
          <p:nvPr/>
        </p:nvSpPr>
        <p:spPr>
          <a:xfrm>
            <a:off x="1410196" y="2400300"/>
            <a:ext cx="1628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2691E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Model Export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66738" y="2857500"/>
            <a:ext cx="33147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Exporting trained model from Google Colab and ensuring compatibility with local Django environment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1721842" y="3845719"/>
            <a:ext cx="1000125" cy="342900"/>
          </a:xfrm>
          <a:custGeom>
            <a:avLst/>
            <a:gdLst/>
            <a:ahLst/>
            <a:cxnLst/>
            <a:rect l="l" t="t" r="r" b="b"/>
            <a:pathLst>
              <a:path w="1000125" h="342900">
                <a:moveTo>
                  <a:pt x="171450" y="0"/>
                </a:moveTo>
                <a:lnTo>
                  <a:pt x="828675" y="0"/>
                </a:lnTo>
                <a:cubicBezTo>
                  <a:pt x="923301" y="0"/>
                  <a:pt x="1000125" y="76824"/>
                  <a:pt x="1000125" y="171450"/>
                </a:cubicBezTo>
                <a:lnTo>
                  <a:pt x="1000125" y="171450"/>
                </a:lnTo>
                <a:cubicBezTo>
                  <a:pt x="1000125" y="266076"/>
                  <a:pt x="923301" y="342900"/>
                  <a:pt x="828675" y="342900"/>
                </a:cubicBezTo>
                <a:lnTo>
                  <a:pt x="171450" y="342900"/>
                </a:lnTo>
                <a:cubicBezTo>
                  <a:pt x="76824" y="342900"/>
                  <a:pt x="0" y="266076"/>
                  <a:pt x="0" y="171450"/>
                </a:cubicBezTo>
                <a:lnTo>
                  <a:pt x="0" y="171450"/>
                </a:lnTo>
                <a:cubicBezTo>
                  <a:pt x="0" y="76824"/>
                  <a:pt x="76824" y="0"/>
                  <a:pt x="171450" y="0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14" name="Text 10"/>
          <p:cNvSpPr/>
          <p:nvPr/>
        </p:nvSpPr>
        <p:spPr>
          <a:xfrm>
            <a:off x="1721842" y="3845719"/>
            <a:ext cx="1066800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SOLVED ✓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254500" y="1257300"/>
            <a:ext cx="3686175" cy="4305300"/>
          </a:xfrm>
          <a:custGeom>
            <a:avLst/>
            <a:gdLst/>
            <a:ahLst/>
            <a:cxnLst/>
            <a:rect l="l" t="t" r="r" b="b"/>
            <a:pathLst>
              <a:path w="3686175" h="430530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4076683"/>
                </a:lnTo>
                <a:cubicBezTo>
                  <a:pt x="3686175" y="4202945"/>
                  <a:pt x="3583820" y="4305300"/>
                  <a:pt x="3457558" y="4305300"/>
                </a:cubicBezTo>
                <a:lnTo>
                  <a:pt x="228617" y="4305300"/>
                </a:lnTo>
                <a:cubicBezTo>
                  <a:pt x="102355" y="4305300"/>
                  <a:pt x="0" y="4202945"/>
                  <a:pt x="0" y="4076683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254500" y="1257300"/>
            <a:ext cx="3686175" cy="76200"/>
          </a:xfrm>
          <a:custGeom>
            <a:avLst/>
            <a:gdLst/>
            <a:ahLst/>
            <a:cxnLst/>
            <a:rect l="l" t="t" r="r" b="b"/>
            <a:pathLst>
              <a:path w="3686175" h="7620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76200"/>
                </a:lnTo>
                <a:lnTo>
                  <a:pt x="0" y="76200"/>
                </a:ln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4A460"/>
          </a:solidFill>
          <a:ln/>
        </p:spPr>
      </p:sp>
      <p:sp>
        <p:nvSpPr>
          <p:cNvPr id="17" name="Shape 13"/>
          <p:cNvSpPr/>
          <p:nvPr/>
        </p:nvSpPr>
        <p:spPr>
          <a:xfrm>
            <a:off x="5715000" y="1524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4A460"/>
          </a:solidFill>
          <a:ln/>
        </p:spPr>
      </p:sp>
      <p:sp>
        <p:nvSpPr>
          <p:cNvPr id="18" name="Shape 14"/>
          <p:cNvSpPr/>
          <p:nvPr/>
        </p:nvSpPr>
        <p:spPr>
          <a:xfrm>
            <a:off x="5924550" y="17335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ubicBezTo>
                  <a:pt x="0" y="76824"/>
                  <a:pt x="76824" y="0"/>
                  <a:pt x="171450" y="0"/>
                </a:cubicBezTo>
                <a:close/>
                <a:moveTo>
                  <a:pt x="155377" y="80367"/>
                </a:moveTo>
                <a:lnTo>
                  <a:pt x="155377" y="171450"/>
                </a:lnTo>
                <a:cubicBezTo>
                  <a:pt x="155377" y="176808"/>
                  <a:pt x="158055" y="181831"/>
                  <a:pt x="162543" y="184845"/>
                </a:cubicBezTo>
                <a:lnTo>
                  <a:pt x="226836" y="227707"/>
                </a:lnTo>
                <a:cubicBezTo>
                  <a:pt x="234203" y="232663"/>
                  <a:pt x="244182" y="230654"/>
                  <a:pt x="249138" y="223220"/>
                </a:cubicBezTo>
                <a:cubicBezTo>
                  <a:pt x="254094" y="215786"/>
                  <a:pt x="252085" y="205874"/>
                  <a:pt x="244651" y="200918"/>
                </a:cubicBezTo>
                <a:lnTo>
                  <a:pt x="187523" y="162878"/>
                </a:lnTo>
                <a:lnTo>
                  <a:pt x="187523" y="80367"/>
                </a:lnTo>
                <a:cubicBezTo>
                  <a:pt x="187523" y="71460"/>
                  <a:pt x="180357" y="64294"/>
                  <a:pt x="171450" y="64294"/>
                </a:cubicBezTo>
                <a:cubicBezTo>
                  <a:pt x="162543" y="64294"/>
                  <a:pt x="155377" y="71460"/>
                  <a:pt x="155377" y="8036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5"/>
          <p:cNvSpPr/>
          <p:nvPr/>
        </p:nvSpPr>
        <p:spPr>
          <a:xfrm>
            <a:off x="5343029" y="2400300"/>
            <a:ext cx="1504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2691E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API Latency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440238" y="2857500"/>
            <a:ext cx="33147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Managing asynchronous requests and handling latency when calling the external Gemini API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595342" y="3845719"/>
            <a:ext cx="1000125" cy="342900"/>
          </a:xfrm>
          <a:custGeom>
            <a:avLst/>
            <a:gdLst/>
            <a:ahLst/>
            <a:cxnLst/>
            <a:rect l="l" t="t" r="r" b="b"/>
            <a:pathLst>
              <a:path w="1000125" h="342900">
                <a:moveTo>
                  <a:pt x="171450" y="0"/>
                </a:moveTo>
                <a:lnTo>
                  <a:pt x="828675" y="0"/>
                </a:lnTo>
                <a:cubicBezTo>
                  <a:pt x="923301" y="0"/>
                  <a:pt x="1000125" y="76824"/>
                  <a:pt x="1000125" y="171450"/>
                </a:cubicBezTo>
                <a:lnTo>
                  <a:pt x="1000125" y="171450"/>
                </a:lnTo>
                <a:cubicBezTo>
                  <a:pt x="1000125" y="266076"/>
                  <a:pt x="923301" y="342900"/>
                  <a:pt x="828675" y="342900"/>
                </a:cubicBezTo>
                <a:lnTo>
                  <a:pt x="171450" y="342900"/>
                </a:lnTo>
                <a:cubicBezTo>
                  <a:pt x="76824" y="342900"/>
                  <a:pt x="0" y="266076"/>
                  <a:pt x="0" y="171450"/>
                </a:cubicBezTo>
                <a:lnTo>
                  <a:pt x="0" y="171450"/>
                </a:lnTo>
                <a:cubicBezTo>
                  <a:pt x="0" y="76824"/>
                  <a:pt x="76824" y="0"/>
                  <a:pt x="171450" y="0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22" name="Text 18"/>
          <p:cNvSpPr/>
          <p:nvPr/>
        </p:nvSpPr>
        <p:spPr>
          <a:xfrm>
            <a:off x="5595342" y="3845719"/>
            <a:ext cx="1066800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SOLVED ✓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8128000" y="1257300"/>
            <a:ext cx="3686175" cy="4305300"/>
          </a:xfrm>
          <a:custGeom>
            <a:avLst/>
            <a:gdLst/>
            <a:ahLst/>
            <a:cxnLst/>
            <a:rect l="l" t="t" r="r" b="b"/>
            <a:pathLst>
              <a:path w="3686175" h="430530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4076683"/>
                </a:lnTo>
                <a:cubicBezTo>
                  <a:pt x="3686175" y="4202945"/>
                  <a:pt x="3583820" y="4305300"/>
                  <a:pt x="3457558" y="4305300"/>
                </a:cubicBezTo>
                <a:lnTo>
                  <a:pt x="228617" y="4305300"/>
                </a:lnTo>
                <a:cubicBezTo>
                  <a:pt x="102355" y="4305300"/>
                  <a:pt x="0" y="4202945"/>
                  <a:pt x="0" y="4076683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128000" y="1257300"/>
            <a:ext cx="3686175" cy="76200"/>
          </a:xfrm>
          <a:custGeom>
            <a:avLst/>
            <a:gdLst/>
            <a:ahLst/>
            <a:cxnLst/>
            <a:rect l="l" t="t" r="r" b="b"/>
            <a:pathLst>
              <a:path w="3686175" h="7620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76200"/>
                </a:lnTo>
                <a:lnTo>
                  <a:pt x="0" y="76200"/>
                </a:ln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25" name="Shape 21"/>
          <p:cNvSpPr/>
          <p:nvPr/>
        </p:nvSpPr>
        <p:spPr>
          <a:xfrm>
            <a:off x="9588500" y="1524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26" name="Shape 22"/>
          <p:cNvSpPr/>
          <p:nvPr/>
        </p:nvSpPr>
        <p:spPr>
          <a:xfrm>
            <a:off x="9798051" y="17335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42863" y="21431"/>
                </a:moveTo>
                <a:cubicBezTo>
                  <a:pt x="19221" y="21431"/>
                  <a:pt x="0" y="40652"/>
                  <a:pt x="0" y="64294"/>
                </a:cubicBezTo>
                <a:lnTo>
                  <a:pt x="0" y="235744"/>
                </a:lnTo>
                <a:cubicBezTo>
                  <a:pt x="0" y="259385"/>
                  <a:pt x="19221" y="278606"/>
                  <a:pt x="42863" y="278606"/>
                </a:cubicBezTo>
                <a:lnTo>
                  <a:pt x="139303" y="278606"/>
                </a:lnTo>
                <a:lnTo>
                  <a:pt x="128588" y="310753"/>
                </a:lnTo>
                <a:lnTo>
                  <a:pt x="80367" y="310753"/>
                </a:lnTo>
                <a:cubicBezTo>
                  <a:pt x="71460" y="310753"/>
                  <a:pt x="64294" y="317919"/>
                  <a:pt x="64294" y="326827"/>
                </a:cubicBezTo>
                <a:cubicBezTo>
                  <a:pt x="64294" y="335734"/>
                  <a:pt x="71460" y="342900"/>
                  <a:pt x="80367" y="342900"/>
                </a:cubicBezTo>
                <a:lnTo>
                  <a:pt x="262533" y="342900"/>
                </a:lnTo>
                <a:cubicBezTo>
                  <a:pt x="271440" y="342900"/>
                  <a:pt x="278606" y="335734"/>
                  <a:pt x="278606" y="326827"/>
                </a:cubicBezTo>
                <a:cubicBezTo>
                  <a:pt x="278606" y="317919"/>
                  <a:pt x="271440" y="310753"/>
                  <a:pt x="262533" y="310753"/>
                </a:cubicBezTo>
                <a:lnTo>
                  <a:pt x="214313" y="310753"/>
                </a:lnTo>
                <a:lnTo>
                  <a:pt x="203597" y="278606"/>
                </a:lnTo>
                <a:lnTo>
                  <a:pt x="300038" y="278606"/>
                </a:lnTo>
                <a:cubicBezTo>
                  <a:pt x="323679" y="278606"/>
                  <a:pt x="342900" y="259385"/>
                  <a:pt x="342900" y="235744"/>
                </a:cubicBezTo>
                <a:lnTo>
                  <a:pt x="342900" y="64294"/>
                </a:lnTo>
                <a:cubicBezTo>
                  <a:pt x="342900" y="40652"/>
                  <a:pt x="323679" y="21431"/>
                  <a:pt x="300038" y="21431"/>
                </a:cubicBezTo>
                <a:lnTo>
                  <a:pt x="42863" y="21431"/>
                </a:lnTo>
                <a:close/>
                <a:moveTo>
                  <a:pt x="64294" y="64294"/>
                </a:moveTo>
                <a:lnTo>
                  <a:pt x="278606" y="64294"/>
                </a:lnTo>
                <a:cubicBezTo>
                  <a:pt x="290460" y="64294"/>
                  <a:pt x="300038" y="73871"/>
                  <a:pt x="300038" y="85725"/>
                </a:cubicBezTo>
                <a:lnTo>
                  <a:pt x="300038" y="192881"/>
                </a:lnTo>
                <a:cubicBezTo>
                  <a:pt x="300038" y="204735"/>
                  <a:pt x="290460" y="214313"/>
                  <a:pt x="278606" y="214313"/>
                </a:cubicBezTo>
                <a:lnTo>
                  <a:pt x="64294" y="214313"/>
                </a:lnTo>
                <a:cubicBezTo>
                  <a:pt x="52440" y="214313"/>
                  <a:pt x="42863" y="204735"/>
                  <a:pt x="42863" y="192881"/>
                </a:cubicBezTo>
                <a:lnTo>
                  <a:pt x="42863" y="85725"/>
                </a:lnTo>
                <a:cubicBezTo>
                  <a:pt x="42863" y="73871"/>
                  <a:pt x="52440" y="64294"/>
                  <a:pt x="64294" y="64294"/>
                </a:cubicBezTo>
                <a:close/>
              </a:path>
            </a:pathLst>
          </a:custGeom>
          <a:solidFill>
            <a:srgbClr val="5D4037"/>
          </a:solidFill>
          <a:ln/>
        </p:spPr>
      </p:sp>
      <p:sp>
        <p:nvSpPr>
          <p:cNvPr id="27" name="Text 23"/>
          <p:cNvSpPr/>
          <p:nvPr/>
        </p:nvSpPr>
        <p:spPr>
          <a:xfrm>
            <a:off x="9285387" y="240030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2691E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UI Updates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8313738" y="2857500"/>
            <a:ext cx="33147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Dynamically updating frontend UI to display real-time AI responses without breaking UX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9468842" y="3845719"/>
            <a:ext cx="1000125" cy="342900"/>
          </a:xfrm>
          <a:custGeom>
            <a:avLst/>
            <a:gdLst/>
            <a:ahLst/>
            <a:cxnLst/>
            <a:rect l="l" t="t" r="r" b="b"/>
            <a:pathLst>
              <a:path w="1000125" h="342900">
                <a:moveTo>
                  <a:pt x="171450" y="0"/>
                </a:moveTo>
                <a:lnTo>
                  <a:pt x="828675" y="0"/>
                </a:lnTo>
                <a:cubicBezTo>
                  <a:pt x="923301" y="0"/>
                  <a:pt x="1000125" y="76824"/>
                  <a:pt x="1000125" y="171450"/>
                </a:cubicBezTo>
                <a:lnTo>
                  <a:pt x="1000125" y="171450"/>
                </a:lnTo>
                <a:cubicBezTo>
                  <a:pt x="1000125" y="266076"/>
                  <a:pt x="923301" y="342900"/>
                  <a:pt x="828675" y="342900"/>
                </a:cubicBezTo>
                <a:lnTo>
                  <a:pt x="171450" y="342900"/>
                </a:lnTo>
                <a:cubicBezTo>
                  <a:pt x="76824" y="342900"/>
                  <a:pt x="0" y="266076"/>
                  <a:pt x="0" y="171450"/>
                </a:cubicBezTo>
                <a:lnTo>
                  <a:pt x="0" y="171450"/>
                </a:lnTo>
                <a:cubicBezTo>
                  <a:pt x="0" y="76824"/>
                  <a:pt x="76824" y="0"/>
                  <a:pt x="171450" y="0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30" name="Text 26"/>
          <p:cNvSpPr/>
          <p:nvPr/>
        </p:nvSpPr>
        <p:spPr>
          <a:xfrm>
            <a:off x="9468842" y="3845719"/>
            <a:ext cx="1066800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SOLVED ✓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381000" y="5753100"/>
            <a:ext cx="11430000" cy="723900"/>
          </a:xfrm>
          <a:custGeom>
            <a:avLst/>
            <a:gdLst/>
            <a:ahLst/>
            <a:cxnLst/>
            <a:rect l="l" t="t" r="r" b="b"/>
            <a:pathLst>
              <a:path w="11430000" h="723900">
                <a:moveTo>
                  <a:pt x="228600" y="0"/>
                </a:moveTo>
                <a:lnTo>
                  <a:pt x="11201400" y="0"/>
                </a:lnTo>
                <a:cubicBezTo>
                  <a:pt x="11327652" y="0"/>
                  <a:pt x="11430000" y="102348"/>
                  <a:pt x="11430000" y="228600"/>
                </a:cubicBezTo>
                <a:lnTo>
                  <a:pt x="11430000" y="495300"/>
                </a:lnTo>
                <a:cubicBezTo>
                  <a:pt x="11430000" y="621552"/>
                  <a:pt x="11327652" y="723900"/>
                  <a:pt x="11201400" y="723900"/>
                </a:cubicBezTo>
                <a:lnTo>
                  <a:pt x="228600" y="723900"/>
                </a:lnTo>
                <a:cubicBezTo>
                  <a:pt x="102348" y="723900"/>
                  <a:pt x="0" y="621552"/>
                  <a:pt x="0" y="4953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2691E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3176774" y="59436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96642" y="0"/>
                </a:moveTo>
                <a:lnTo>
                  <a:pt x="246660" y="0"/>
                </a:lnTo>
                <a:cubicBezTo>
                  <a:pt x="264408" y="0"/>
                  <a:pt x="278874" y="14600"/>
                  <a:pt x="278204" y="32281"/>
                </a:cubicBezTo>
                <a:cubicBezTo>
                  <a:pt x="278070" y="35830"/>
                  <a:pt x="277937" y="39380"/>
                  <a:pt x="277736" y="42863"/>
                </a:cubicBezTo>
                <a:lnTo>
                  <a:pt x="310954" y="42863"/>
                </a:lnTo>
                <a:cubicBezTo>
                  <a:pt x="328434" y="42863"/>
                  <a:pt x="343838" y="57329"/>
                  <a:pt x="342498" y="76215"/>
                </a:cubicBezTo>
                <a:cubicBezTo>
                  <a:pt x="337475" y="145666"/>
                  <a:pt x="301980" y="183840"/>
                  <a:pt x="263470" y="203798"/>
                </a:cubicBezTo>
                <a:cubicBezTo>
                  <a:pt x="252889" y="209290"/>
                  <a:pt x="242106" y="213375"/>
                  <a:pt x="231859" y="216389"/>
                </a:cubicBezTo>
                <a:cubicBezTo>
                  <a:pt x="218331" y="235543"/>
                  <a:pt x="204267" y="245656"/>
                  <a:pt x="193082" y="251080"/>
                </a:cubicBezTo>
                <a:lnTo>
                  <a:pt x="193082" y="300038"/>
                </a:lnTo>
                <a:lnTo>
                  <a:pt x="235945" y="300038"/>
                </a:lnTo>
                <a:cubicBezTo>
                  <a:pt x="247799" y="300038"/>
                  <a:pt x="257376" y="309615"/>
                  <a:pt x="257376" y="321469"/>
                </a:cubicBezTo>
                <a:cubicBezTo>
                  <a:pt x="257376" y="333323"/>
                  <a:pt x="247799" y="342900"/>
                  <a:pt x="235945" y="342900"/>
                </a:cubicBezTo>
                <a:lnTo>
                  <a:pt x="107357" y="342900"/>
                </a:lnTo>
                <a:cubicBezTo>
                  <a:pt x="95503" y="342900"/>
                  <a:pt x="85926" y="333323"/>
                  <a:pt x="85926" y="321469"/>
                </a:cubicBezTo>
                <a:cubicBezTo>
                  <a:pt x="85926" y="309615"/>
                  <a:pt x="95503" y="300038"/>
                  <a:pt x="107357" y="300038"/>
                </a:cubicBezTo>
                <a:lnTo>
                  <a:pt x="150220" y="300038"/>
                </a:lnTo>
                <a:lnTo>
                  <a:pt x="150220" y="251080"/>
                </a:lnTo>
                <a:cubicBezTo>
                  <a:pt x="139504" y="245924"/>
                  <a:pt x="126176" y="236347"/>
                  <a:pt x="113184" y="218733"/>
                </a:cubicBezTo>
                <a:cubicBezTo>
                  <a:pt x="100861" y="215518"/>
                  <a:pt x="87466" y="210629"/>
                  <a:pt x="74407" y="203262"/>
                </a:cubicBezTo>
                <a:cubicBezTo>
                  <a:pt x="38174" y="182969"/>
                  <a:pt x="5492" y="144728"/>
                  <a:pt x="804" y="76081"/>
                </a:cubicBezTo>
                <a:cubicBezTo>
                  <a:pt x="-469" y="57262"/>
                  <a:pt x="14868" y="42796"/>
                  <a:pt x="32348" y="42796"/>
                </a:cubicBezTo>
                <a:lnTo>
                  <a:pt x="65566" y="42796"/>
                </a:lnTo>
                <a:cubicBezTo>
                  <a:pt x="65365" y="39313"/>
                  <a:pt x="65231" y="35830"/>
                  <a:pt x="65097" y="32214"/>
                </a:cubicBezTo>
                <a:cubicBezTo>
                  <a:pt x="64428" y="14466"/>
                  <a:pt x="78894" y="-67"/>
                  <a:pt x="96642" y="-67"/>
                </a:cubicBezTo>
                <a:close/>
                <a:moveTo>
                  <a:pt x="67977" y="75009"/>
                </a:moveTo>
                <a:lnTo>
                  <a:pt x="32884" y="75009"/>
                </a:lnTo>
                <a:cubicBezTo>
                  <a:pt x="37036" y="131735"/>
                  <a:pt x="63088" y="160132"/>
                  <a:pt x="89944" y="175200"/>
                </a:cubicBezTo>
                <a:cubicBezTo>
                  <a:pt x="80300" y="150220"/>
                  <a:pt x="72330" y="117604"/>
                  <a:pt x="67977" y="75009"/>
                </a:cubicBezTo>
                <a:close/>
                <a:moveTo>
                  <a:pt x="254496" y="171986"/>
                </a:moveTo>
                <a:cubicBezTo>
                  <a:pt x="281620" y="156046"/>
                  <a:pt x="306132" y="127717"/>
                  <a:pt x="310284" y="75009"/>
                </a:cubicBezTo>
                <a:lnTo>
                  <a:pt x="275258" y="75009"/>
                </a:lnTo>
                <a:cubicBezTo>
                  <a:pt x="271105" y="115796"/>
                  <a:pt x="263604" y="147474"/>
                  <a:pt x="254496" y="171986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33" name="Text 29"/>
          <p:cNvSpPr/>
          <p:nvPr/>
        </p:nvSpPr>
        <p:spPr>
          <a:xfrm>
            <a:off x="4254500" y="5962650"/>
            <a:ext cx="465792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We turned challenges into learning opportunities!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8989814" y="59436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96642" y="0"/>
                </a:moveTo>
                <a:lnTo>
                  <a:pt x="246660" y="0"/>
                </a:lnTo>
                <a:cubicBezTo>
                  <a:pt x="264408" y="0"/>
                  <a:pt x="278874" y="14600"/>
                  <a:pt x="278204" y="32281"/>
                </a:cubicBezTo>
                <a:cubicBezTo>
                  <a:pt x="278070" y="35830"/>
                  <a:pt x="277937" y="39380"/>
                  <a:pt x="277736" y="42863"/>
                </a:cubicBezTo>
                <a:lnTo>
                  <a:pt x="310954" y="42863"/>
                </a:lnTo>
                <a:cubicBezTo>
                  <a:pt x="328434" y="42863"/>
                  <a:pt x="343838" y="57329"/>
                  <a:pt x="342498" y="76215"/>
                </a:cubicBezTo>
                <a:cubicBezTo>
                  <a:pt x="337475" y="145666"/>
                  <a:pt x="301980" y="183840"/>
                  <a:pt x="263470" y="203798"/>
                </a:cubicBezTo>
                <a:cubicBezTo>
                  <a:pt x="252889" y="209290"/>
                  <a:pt x="242106" y="213375"/>
                  <a:pt x="231859" y="216389"/>
                </a:cubicBezTo>
                <a:cubicBezTo>
                  <a:pt x="218331" y="235543"/>
                  <a:pt x="204267" y="245656"/>
                  <a:pt x="193082" y="251080"/>
                </a:cubicBezTo>
                <a:lnTo>
                  <a:pt x="193082" y="300038"/>
                </a:lnTo>
                <a:lnTo>
                  <a:pt x="235945" y="300038"/>
                </a:lnTo>
                <a:cubicBezTo>
                  <a:pt x="247799" y="300038"/>
                  <a:pt x="257376" y="309615"/>
                  <a:pt x="257376" y="321469"/>
                </a:cubicBezTo>
                <a:cubicBezTo>
                  <a:pt x="257376" y="333323"/>
                  <a:pt x="247799" y="342900"/>
                  <a:pt x="235945" y="342900"/>
                </a:cubicBezTo>
                <a:lnTo>
                  <a:pt x="107357" y="342900"/>
                </a:lnTo>
                <a:cubicBezTo>
                  <a:pt x="95503" y="342900"/>
                  <a:pt x="85926" y="333323"/>
                  <a:pt x="85926" y="321469"/>
                </a:cubicBezTo>
                <a:cubicBezTo>
                  <a:pt x="85926" y="309615"/>
                  <a:pt x="95503" y="300038"/>
                  <a:pt x="107357" y="300038"/>
                </a:cubicBezTo>
                <a:lnTo>
                  <a:pt x="150220" y="300038"/>
                </a:lnTo>
                <a:lnTo>
                  <a:pt x="150220" y="251080"/>
                </a:lnTo>
                <a:cubicBezTo>
                  <a:pt x="139504" y="245924"/>
                  <a:pt x="126176" y="236347"/>
                  <a:pt x="113184" y="218733"/>
                </a:cubicBezTo>
                <a:cubicBezTo>
                  <a:pt x="100861" y="215518"/>
                  <a:pt x="87466" y="210629"/>
                  <a:pt x="74407" y="203262"/>
                </a:cubicBezTo>
                <a:cubicBezTo>
                  <a:pt x="38174" y="182969"/>
                  <a:pt x="5492" y="144728"/>
                  <a:pt x="804" y="76081"/>
                </a:cubicBezTo>
                <a:cubicBezTo>
                  <a:pt x="-469" y="57262"/>
                  <a:pt x="14868" y="42796"/>
                  <a:pt x="32348" y="42796"/>
                </a:cubicBezTo>
                <a:lnTo>
                  <a:pt x="65566" y="42796"/>
                </a:lnTo>
                <a:cubicBezTo>
                  <a:pt x="65365" y="39313"/>
                  <a:pt x="65231" y="35830"/>
                  <a:pt x="65097" y="32214"/>
                </a:cubicBezTo>
                <a:cubicBezTo>
                  <a:pt x="64428" y="14466"/>
                  <a:pt x="78894" y="-67"/>
                  <a:pt x="96642" y="-67"/>
                </a:cubicBezTo>
                <a:close/>
                <a:moveTo>
                  <a:pt x="67977" y="75009"/>
                </a:moveTo>
                <a:lnTo>
                  <a:pt x="32884" y="75009"/>
                </a:lnTo>
                <a:cubicBezTo>
                  <a:pt x="37036" y="131735"/>
                  <a:pt x="63088" y="160132"/>
                  <a:pt x="89944" y="175200"/>
                </a:cubicBezTo>
                <a:cubicBezTo>
                  <a:pt x="80300" y="150220"/>
                  <a:pt x="72330" y="117604"/>
                  <a:pt x="67977" y="75009"/>
                </a:cubicBezTo>
                <a:close/>
                <a:moveTo>
                  <a:pt x="254496" y="171986"/>
                </a:moveTo>
                <a:cubicBezTo>
                  <a:pt x="281620" y="156046"/>
                  <a:pt x="306132" y="127717"/>
                  <a:pt x="310284" y="75009"/>
                </a:cubicBezTo>
                <a:lnTo>
                  <a:pt x="275258" y="75009"/>
                </a:lnTo>
                <a:cubicBezTo>
                  <a:pt x="271105" y="115796"/>
                  <a:pt x="263604" y="147474"/>
                  <a:pt x="254496" y="171986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35" name="Text 31"/>
          <p:cNvSpPr/>
          <p:nvPr/>
        </p:nvSpPr>
        <p:spPr>
          <a:xfrm>
            <a:off x="-38100" y="6477000"/>
            <a:ext cx="1226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Nafia Haque Muskan, MD Tamim Hasan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e097f5e8b604d76b5471e7a8a4867a3ca587efdc.jp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10972800" y="152400"/>
            <a:ext cx="1066800" cy="1066800"/>
          </a:xfrm>
          <a:prstGeom prst="roundRect">
            <a:avLst>
              <a:gd name="adj" fmla="val 0"/>
            </a:avLst>
          </a:prstGeom>
        </p:spPr>
      </p:pic>
      <p:pic>
        <p:nvPicPr>
          <p:cNvPr id="3" name="Image 1" descr="https://kimi-web-img.moonshot.cn/img/img.freepik.com/14270208070730305fe92d1558bbc96d5e8ac5d4.jp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152400" y="5791200"/>
            <a:ext cx="914400" cy="9144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D700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581025" y="5429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5D4037"/>
          </a:solidFill>
          <a:ln/>
        </p:spPr>
      </p:sp>
      <p:sp>
        <p:nvSpPr>
          <p:cNvPr id="6" name="Text 2"/>
          <p:cNvSpPr/>
          <p:nvPr/>
        </p:nvSpPr>
        <p:spPr>
          <a:xfrm>
            <a:off x="1143000" y="457200"/>
            <a:ext cx="5210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269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Smart Decisions Made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381000" y="1219200"/>
            <a:ext cx="5905500" cy="5257800"/>
          </a:xfrm>
          <a:custGeom>
            <a:avLst/>
            <a:gdLst/>
            <a:ahLst/>
            <a:cxnLst/>
            <a:rect l="l" t="t" r="r" b="b"/>
            <a:pathLst>
              <a:path w="5905500" h="5257800">
                <a:moveTo>
                  <a:pt x="228609" y="0"/>
                </a:moveTo>
                <a:lnTo>
                  <a:pt x="5676891" y="0"/>
                </a:lnTo>
                <a:cubicBezTo>
                  <a:pt x="5803148" y="0"/>
                  <a:pt x="5905500" y="102352"/>
                  <a:pt x="5905500" y="228609"/>
                </a:cubicBezTo>
                <a:lnTo>
                  <a:pt x="5905500" y="5029191"/>
                </a:lnTo>
                <a:cubicBezTo>
                  <a:pt x="5905500" y="5155448"/>
                  <a:pt x="5803148" y="5257800"/>
                  <a:pt x="5676891" y="5257800"/>
                </a:cubicBezTo>
                <a:lnTo>
                  <a:pt x="228609" y="5257800"/>
                </a:lnTo>
                <a:cubicBezTo>
                  <a:pt x="102352" y="5257800"/>
                  <a:pt x="0" y="5155448"/>
                  <a:pt x="0" y="5029191"/>
                </a:cubicBezTo>
                <a:lnTo>
                  <a:pt x="0" y="228609"/>
                </a:lnTo>
                <a:cubicBezTo>
                  <a:pt x="0" y="102352"/>
                  <a:pt x="102352" y="0"/>
                  <a:pt x="228609" y="0"/>
                </a:cubicBezTo>
                <a:close/>
              </a:path>
            </a:pathLst>
          </a:custGeom>
          <a:solidFill>
            <a:srgbClr val="D2691E"/>
          </a:soli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85800" y="152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5"/>
          <p:cNvSpPr/>
          <p:nvPr/>
        </p:nvSpPr>
        <p:spPr>
          <a:xfrm>
            <a:off x="850106" y="1685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9760" y="2902"/>
                </a:moveTo>
                <a:cubicBezTo>
                  <a:pt x="138075" y="-949"/>
                  <a:pt x="147675" y="-949"/>
                  <a:pt x="155990" y="2902"/>
                </a:cubicBezTo>
                <a:lnTo>
                  <a:pt x="277992" y="59271"/>
                </a:lnTo>
                <a:cubicBezTo>
                  <a:pt x="282736" y="61447"/>
                  <a:pt x="285750" y="66191"/>
                  <a:pt x="285750" y="71438"/>
                </a:cubicBezTo>
                <a:cubicBezTo>
                  <a:pt x="285750" y="76684"/>
                  <a:pt x="282736" y="81428"/>
                  <a:pt x="277992" y="83604"/>
                </a:cubicBezTo>
                <a:lnTo>
                  <a:pt x="155990" y="139973"/>
                </a:lnTo>
                <a:cubicBezTo>
                  <a:pt x="147675" y="143824"/>
                  <a:pt x="138075" y="143824"/>
                  <a:pt x="129760" y="139973"/>
                </a:cubicBezTo>
                <a:lnTo>
                  <a:pt x="7758" y="83604"/>
                </a:lnTo>
                <a:cubicBezTo>
                  <a:pt x="3014" y="81372"/>
                  <a:pt x="0" y="76628"/>
                  <a:pt x="0" y="71438"/>
                </a:cubicBezTo>
                <a:cubicBezTo>
                  <a:pt x="0" y="66247"/>
                  <a:pt x="3014" y="61447"/>
                  <a:pt x="7758" y="59271"/>
                </a:cubicBezTo>
                <a:lnTo>
                  <a:pt x="129760" y="2902"/>
                </a:lnTo>
                <a:close/>
                <a:moveTo>
                  <a:pt x="26845" y="121890"/>
                </a:moveTo>
                <a:lnTo>
                  <a:pt x="118542" y="164250"/>
                </a:lnTo>
                <a:cubicBezTo>
                  <a:pt x="134001" y="171394"/>
                  <a:pt x="151805" y="171394"/>
                  <a:pt x="167264" y="164250"/>
                </a:cubicBezTo>
                <a:lnTo>
                  <a:pt x="258961" y="121890"/>
                </a:lnTo>
                <a:lnTo>
                  <a:pt x="277992" y="130708"/>
                </a:lnTo>
                <a:cubicBezTo>
                  <a:pt x="282736" y="132885"/>
                  <a:pt x="285750" y="137629"/>
                  <a:pt x="285750" y="142875"/>
                </a:cubicBezTo>
                <a:cubicBezTo>
                  <a:pt x="285750" y="148121"/>
                  <a:pt x="282736" y="152865"/>
                  <a:pt x="277992" y="155042"/>
                </a:cubicBezTo>
                <a:lnTo>
                  <a:pt x="155990" y="211410"/>
                </a:lnTo>
                <a:cubicBezTo>
                  <a:pt x="147675" y="215261"/>
                  <a:pt x="138075" y="215261"/>
                  <a:pt x="129760" y="211410"/>
                </a:cubicBezTo>
                <a:lnTo>
                  <a:pt x="7758" y="155042"/>
                </a:lnTo>
                <a:cubicBezTo>
                  <a:pt x="3014" y="152809"/>
                  <a:pt x="0" y="148065"/>
                  <a:pt x="0" y="142875"/>
                </a:cubicBezTo>
                <a:cubicBezTo>
                  <a:pt x="0" y="137685"/>
                  <a:pt x="3014" y="132885"/>
                  <a:pt x="7758" y="130708"/>
                </a:cubicBezTo>
                <a:lnTo>
                  <a:pt x="26789" y="121890"/>
                </a:lnTo>
                <a:close/>
                <a:moveTo>
                  <a:pt x="7758" y="202146"/>
                </a:moveTo>
                <a:lnTo>
                  <a:pt x="26789" y="193328"/>
                </a:lnTo>
                <a:lnTo>
                  <a:pt x="118486" y="235688"/>
                </a:lnTo>
                <a:cubicBezTo>
                  <a:pt x="133945" y="242832"/>
                  <a:pt x="151749" y="242832"/>
                  <a:pt x="167208" y="235688"/>
                </a:cubicBezTo>
                <a:lnTo>
                  <a:pt x="258905" y="193328"/>
                </a:lnTo>
                <a:lnTo>
                  <a:pt x="277937" y="202146"/>
                </a:lnTo>
                <a:cubicBezTo>
                  <a:pt x="282680" y="204322"/>
                  <a:pt x="285694" y="209066"/>
                  <a:pt x="285694" y="214313"/>
                </a:cubicBezTo>
                <a:cubicBezTo>
                  <a:pt x="285694" y="219559"/>
                  <a:pt x="282680" y="224303"/>
                  <a:pt x="277937" y="226479"/>
                </a:cubicBezTo>
                <a:lnTo>
                  <a:pt x="155935" y="282848"/>
                </a:lnTo>
                <a:cubicBezTo>
                  <a:pt x="147619" y="286699"/>
                  <a:pt x="138019" y="286699"/>
                  <a:pt x="129704" y="282848"/>
                </a:cubicBezTo>
                <a:lnTo>
                  <a:pt x="7758" y="226479"/>
                </a:lnTo>
                <a:cubicBezTo>
                  <a:pt x="3014" y="224247"/>
                  <a:pt x="0" y="219503"/>
                  <a:pt x="0" y="214313"/>
                </a:cubicBezTo>
                <a:cubicBezTo>
                  <a:pt x="0" y="209122"/>
                  <a:pt x="3014" y="204322"/>
                  <a:pt x="7758" y="202146"/>
                </a:cubicBez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10" name="Text 6"/>
          <p:cNvSpPr/>
          <p:nvPr/>
        </p:nvSpPr>
        <p:spPr>
          <a:xfrm>
            <a:off x="1447800" y="1657350"/>
            <a:ext cx="3057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Dual AI Architecture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85800" y="2362200"/>
            <a:ext cx="53911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 decided to use Gemini API as a supplementary intelligent layer to support our primary custom-trained disease detection model.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85800" y="3519488"/>
            <a:ext cx="2571750" cy="1219200"/>
          </a:xfrm>
          <a:custGeom>
            <a:avLst/>
            <a:gdLst/>
            <a:ahLst/>
            <a:cxnLst/>
            <a:rect l="l" t="t" r="r" b="b"/>
            <a:pathLst>
              <a:path w="2571750" h="1219200">
                <a:moveTo>
                  <a:pt x="152400" y="0"/>
                </a:moveTo>
                <a:lnTo>
                  <a:pt x="2419350" y="0"/>
                </a:lnTo>
                <a:cubicBezTo>
                  <a:pt x="2503462" y="0"/>
                  <a:pt x="2571750" y="68288"/>
                  <a:pt x="2571750" y="152400"/>
                </a:cubicBezTo>
                <a:lnTo>
                  <a:pt x="2571750" y="1066800"/>
                </a:lnTo>
                <a:cubicBezTo>
                  <a:pt x="2571750" y="1150912"/>
                  <a:pt x="2503462" y="1219200"/>
                  <a:pt x="2419350" y="1219200"/>
                </a:cubicBezTo>
                <a:lnTo>
                  <a:pt x="152400" y="1219200"/>
                </a:lnTo>
                <a:cubicBezTo>
                  <a:pt x="68288" y="1219200"/>
                  <a:pt x="0" y="1150912"/>
                  <a:pt x="0" y="10668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1800225" y="3671888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0367" y="37505"/>
                </a:moveTo>
                <a:cubicBezTo>
                  <a:pt x="80367" y="16810"/>
                  <a:pt x="97177" y="0"/>
                  <a:pt x="117872" y="0"/>
                </a:cubicBezTo>
                <a:lnTo>
                  <a:pt x="133945" y="0"/>
                </a:lnTo>
                <a:cubicBezTo>
                  <a:pt x="145799" y="0"/>
                  <a:pt x="155377" y="9577"/>
                  <a:pt x="155377" y="21431"/>
                </a:cubicBezTo>
                <a:lnTo>
                  <a:pt x="155377" y="321469"/>
                </a:lnTo>
                <a:cubicBezTo>
                  <a:pt x="155377" y="333323"/>
                  <a:pt x="145799" y="342900"/>
                  <a:pt x="133945" y="342900"/>
                </a:cubicBezTo>
                <a:lnTo>
                  <a:pt x="112514" y="342900"/>
                </a:lnTo>
                <a:cubicBezTo>
                  <a:pt x="92556" y="342900"/>
                  <a:pt x="75746" y="329238"/>
                  <a:pt x="70991" y="310753"/>
                </a:cubicBezTo>
                <a:cubicBezTo>
                  <a:pt x="70522" y="310753"/>
                  <a:pt x="70120" y="310753"/>
                  <a:pt x="69652" y="310753"/>
                </a:cubicBezTo>
                <a:cubicBezTo>
                  <a:pt x="40050" y="310753"/>
                  <a:pt x="16073" y="286777"/>
                  <a:pt x="16073" y="257175"/>
                </a:cubicBezTo>
                <a:cubicBezTo>
                  <a:pt x="16073" y="245120"/>
                  <a:pt x="20092" y="234002"/>
                  <a:pt x="26789" y="225028"/>
                </a:cubicBezTo>
                <a:cubicBezTo>
                  <a:pt x="13796" y="215250"/>
                  <a:pt x="5358" y="199712"/>
                  <a:pt x="5358" y="182166"/>
                </a:cubicBezTo>
                <a:cubicBezTo>
                  <a:pt x="5358" y="161471"/>
                  <a:pt x="17145" y="143455"/>
                  <a:pt x="34290" y="134548"/>
                </a:cubicBezTo>
                <a:cubicBezTo>
                  <a:pt x="29535" y="126511"/>
                  <a:pt x="26789" y="117135"/>
                  <a:pt x="26789" y="107156"/>
                </a:cubicBezTo>
                <a:cubicBezTo>
                  <a:pt x="26789" y="77554"/>
                  <a:pt x="50765" y="53578"/>
                  <a:pt x="80367" y="53578"/>
                </a:cubicBezTo>
                <a:lnTo>
                  <a:pt x="80367" y="37505"/>
                </a:lnTo>
                <a:close/>
                <a:moveTo>
                  <a:pt x="262533" y="37505"/>
                </a:moveTo>
                <a:lnTo>
                  <a:pt x="262533" y="53578"/>
                </a:lnTo>
                <a:cubicBezTo>
                  <a:pt x="292135" y="53578"/>
                  <a:pt x="316111" y="77554"/>
                  <a:pt x="316111" y="107156"/>
                </a:cubicBezTo>
                <a:cubicBezTo>
                  <a:pt x="316111" y="117202"/>
                  <a:pt x="313365" y="126578"/>
                  <a:pt x="308610" y="134548"/>
                </a:cubicBezTo>
                <a:cubicBezTo>
                  <a:pt x="325822" y="143455"/>
                  <a:pt x="337542" y="161404"/>
                  <a:pt x="337542" y="182166"/>
                </a:cubicBezTo>
                <a:cubicBezTo>
                  <a:pt x="337542" y="199712"/>
                  <a:pt x="329104" y="215250"/>
                  <a:pt x="316111" y="225028"/>
                </a:cubicBezTo>
                <a:cubicBezTo>
                  <a:pt x="322808" y="234002"/>
                  <a:pt x="326827" y="245120"/>
                  <a:pt x="326827" y="257175"/>
                </a:cubicBezTo>
                <a:cubicBezTo>
                  <a:pt x="326827" y="286777"/>
                  <a:pt x="302850" y="310753"/>
                  <a:pt x="273248" y="310753"/>
                </a:cubicBezTo>
                <a:cubicBezTo>
                  <a:pt x="272780" y="310753"/>
                  <a:pt x="272378" y="310753"/>
                  <a:pt x="271909" y="310753"/>
                </a:cubicBezTo>
                <a:cubicBezTo>
                  <a:pt x="267154" y="329238"/>
                  <a:pt x="250344" y="342900"/>
                  <a:pt x="230386" y="342900"/>
                </a:cubicBezTo>
                <a:lnTo>
                  <a:pt x="208955" y="342900"/>
                </a:lnTo>
                <a:cubicBezTo>
                  <a:pt x="197101" y="342900"/>
                  <a:pt x="187523" y="333323"/>
                  <a:pt x="187523" y="321469"/>
                </a:cubicBezTo>
                <a:lnTo>
                  <a:pt x="187523" y="21431"/>
                </a:lnTo>
                <a:cubicBezTo>
                  <a:pt x="187523" y="9577"/>
                  <a:pt x="197101" y="0"/>
                  <a:pt x="208955" y="0"/>
                </a:cubicBezTo>
                <a:lnTo>
                  <a:pt x="225028" y="0"/>
                </a:lnTo>
                <a:cubicBezTo>
                  <a:pt x="245723" y="0"/>
                  <a:pt x="262533" y="16810"/>
                  <a:pt x="262533" y="37505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14" name="Text 10"/>
          <p:cNvSpPr/>
          <p:nvPr/>
        </p:nvSpPr>
        <p:spPr>
          <a:xfrm>
            <a:off x="795338" y="4090987"/>
            <a:ext cx="2352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Custom ML Model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00100" y="4357688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Primary detection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409950" y="3519488"/>
            <a:ext cx="2571750" cy="1219200"/>
          </a:xfrm>
          <a:custGeom>
            <a:avLst/>
            <a:gdLst/>
            <a:ahLst/>
            <a:cxnLst/>
            <a:rect l="l" t="t" r="r" b="b"/>
            <a:pathLst>
              <a:path w="2571750" h="1219200">
                <a:moveTo>
                  <a:pt x="152400" y="0"/>
                </a:moveTo>
                <a:lnTo>
                  <a:pt x="2419350" y="0"/>
                </a:lnTo>
                <a:cubicBezTo>
                  <a:pt x="2503462" y="0"/>
                  <a:pt x="2571750" y="68288"/>
                  <a:pt x="2571750" y="152400"/>
                </a:cubicBezTo>
                <a:lnTo>
                  <a:pt x="2571750" y="1066800"/>
                </a:lnTo>
                <a:cubicBezTo>
                  <a:pt x="2571750" y="1150912"/>
                  <a:pt x="2503462" y="1219200"/>
                  <a:pt x="2419350" y="1219200"/>
                </a:cubicBezTo>
                <a:lnTo>
                  <a:pt x="152400" y="1219200"/>
                </a:lnTo>
                <a:cubicBezTo>
                  <a:pt x="68288" y="1219200"/>
                  <a:pt x="0" y="1150912"/>
                  <a:pt x="0" y="10668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4481513" y="3671888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35744" y="0"/>
                </a:moveTo>
                <a:cubicBezTo>
                  <a:pt x="235744" y="-11854"/>
                  <a:pt x="226167" y="-21431"/>
                  <a:pt x="214313" y="-21431"/>
                </a:cubicBezTo>
                <a:cubicBezTo>
                  <a:pt x="202458" y="-21431"/>
                  <a:pt x="192881" y="-11854"/>
                  <a:pt x="192881" y="0"/>
                </a:cubicBezTo>
                <a:lnTo>
                  <a:pt x="192881" y="42863"/>
                </a:lnTo>
                <a:lnTo>
                  <a:pt x="128588" y="42863"/>
                </a:lnTo>
                <a:cubicBezTo>
                  <a:pt x="93092" y="42863"/>
                  <a:pt x="64294" y="71661"/>
                  <a:pt x="64294" y="107156"/>
                </a:cubicBezTo>
                <a:lnTo>
                  <a:pt x="64294" y="257175"/>
                </a:lnTo>
                <a:cubicBezTo>
                  <a:pt x="64294" y="292671"/>
                  <a:pt x="93092" y="321469"/>
                  <a:pt x="128588" y="321469"/>
                </a:cubicBezTo>
                <a:lnTo>
                  <a:pt x="300038" y="321469"/>
                </a:lnTo>
                <a:cubicBezTo>
                  <a:pt x="335533" y="321469"/>
                  <a:pt x="364331" y="292671"/>
                  <a:pt x="364331" y="257175"/>
                </a:cubicBezTo>
                <a:lnTo>
                  <a:pt x="364331" y="107156"/>
                </a:lnTo>
                <a:cubicBezTo>
                  <a:pt x="364331" y="71661"/>
                  <a:pt x="335533" y="42863"/>
                  <a:pt x="300038" y="42863"/>
                </a:cubicBezTo>
                <a:lnTo>
                  <a:pt x="235744" y="42863"/>
                </a:lnTo>
                <a:lnTo>
                  <a:pt x="235744" y="0"/>
                </a:lnTo>
                <a:close/>
                <a:moveTo>
                  <a:pt x="107156" y="246459"/>
                </a:moveTo>
                <a:cubicBezTo>
                  <a:pt x="107156" y="237552"/>
                  <a:pt x="114322" y="230386"/>
                  <a:pt x="123230" y="230386"/>
                </a:cubicBezTo>
                <a:lnTo>
                  <a:pt x="144661" y="230386"/>
                </a:lnTo>
                <a:cubicBezTo>
                  <a:pt x="153568" y="230386"/>
                  <a:pt x="160734" y="237552"/>
                  <a:pt x="160734" y="246459"/>
                </a:cubicBezTo>
                <a:cubicBezTo>
                  <a:pt x="160734" y="255367"/>
                  <a:pt x="153568" y="262533"/>
                  <a:pt x="144661" y="262533"/>
                </a:cubicBezTo>
                <a:lnTo>
                  <a:pt x="123230" y="262533"/>
                </a:lnTo>
                <a:cubicBezTo>
                  <a:pt x="114322" y="262533"/>
                  <a:pt x="107156" y="255367"/>
                  <a:pt x="107156" y="246459"/>
                </a:cubicBezTo>
                <a:close/>
                <a:moveTo>
                  <a:pt x="187523" y="246459"/>
                </a:moveTo>
                <a:cubicBezTo>
                  <a:pt x="187523" y="237552"/>
                  <a:pt x="194690" y="230386"/>
                  <a:pt x="203597" y="230386"/>
                </a:cubicBezTo>
                <a:lnTo>
                  <a:pt x="225028" y="230386"/>
                </a:lnTo>
                <a:cubicBezTo>
                  <a:pt x="233935" y="230386"/>
                  <a:pt x="241102" y="237552"/>
                  <a:pt x="241102" y="246459"/>
                </a:cubicBezTo>
                <a:cubicBezTo>
                  <a:pt x="241102" y="255367"/>
                  <a:pt x="233935" y="262533"/>
                  <a:pt x="225028" y="262533"/>
                </a:cubicBezTo>
                <a:lnTo>
                  <a:pt x="203597" y="262533"/>
                </a:lnTo>
                <a:cubicBezTo>
                  <a:pt x="194690" y="262533"/>
                  <a:pt x="187523" y="255367"/>
                  <a:pt x="187523" y="246459"/>
                </a:cubicBezTo>
                <a:close/>
                <a:moveTo>
                  <a:pt x="267891" y="246459"/>
                </a:moveTo>
                <a:cubicBezTo>
                  <a:pt x="267891" y="237552"/>
                  <a:pt x="275057" y="230386"/>
                  <a:pt x="283964" y="230386"/>
                </a:cubicBezTo>
                <a:lnTo>
                  <a:pt x="305395" y="230386"/>
                </a:lnTo>
                <a:cubicBezTo>
                  <a:pt x="314303" y="230386"/>
                  <a:pt x="321469" y="237552"/>
                  <a:pt x="321469" y="246459"/>
                </a:cubicBezTo>
                <a:cubicBezTo>
                  <a:pt x="321469" y="255367"/>
                  <a:pt x="314303" y="262533"/>
                  <a:pt x="305395" y="262533"/>
                </a:cubicBezTo>
                <a:lnTo>
                  <a:pt x="283964" y="262533"/>
                </a:lnTo>
                <a:cubicBezTo>
                  <a:pt x="275057" y="262533"/>
                  <a:pt x="267891" y="255367"/>
                  <a:pt x="267891" y="246459"/>
                </a:cubicBezTo>
                <a:close/>
                <a:moveTo>
                  <a:pt x="150019" y="117872"/>
                </a:moveTo>
                <a:cubicBezTo>
                  <a:pt x="167761" y="117872"/>
                  <a:pt x="182166" y="132276"/>
                  <a:pt x="182166" y="150019"/>
                </a:cubicBezTo>
                <a:cubicBezTo>
                  <a:pt x="182166" y="167761"/>
                  <a:pt x="167761" y="182166"/>
                  <a:pt x="150019" y="182166"/>
                </a:cubicBezTo>
                <a:cubicBezTo>
                  <a:pt x="132276" y="182166"/>
                  <a:pt x="117872" y="167761"/>
                  <a:pt x="117872" y="150019"/>
                </a:cubicBezTo>
                <a:cubicBezTo>
                  <a:pt x="117872" y="132276"/>
                  <a:pt x="132276" y="117872"/>
                  <a:pt x="150019" y="117872"/>
                </a:cubicBezTo>
                <a:close/>
                <a:moveTo>
                  <a:pt x="246459" y="150019"/>
                </a:moveTo>
                <a:cubicBezTo>
                  <a:pt x="246459" y="132276"/>
                  <a:pt x="260864" y="117872"/>
                  <a:pt x="278606" y="117872"/>
                </a:cubicBezTo>
                <a:cubicBezTo>
                  <a:pt x="296349" y="117872"/>
                  <a:pt x="310753" y="132276"/>
                  <a:pt x="310753" y="150019"/>
                </a:cubicBezTo>
                <a:cubicBezTo>
                  <a:pt x="310753" y="167761"/>
                  <a:pt x="296349" y="182166"/>
                  <a:pt x="278606" y="182166"/>
                </a:cubicBezTo>
                <a:cubicBezTo>
                  <a:pt x="260864" y="182166"/>
                  <a:pt x="246459" y="167761"/>
                  <a:pt x="246459" y="150019"/>
                </a:cubicBezTo>
                <a:close/>
                <a:moveTo>
                  <a:pt x="42863" y="150019"/>
                </a:moveTo>
                <a:cubicBezTo>
                  <a:pt x="42863" y="138165"/>
                  <a:pt x="33285" y="128588"/>
                  <a:pt x="21431" y="128588"/>
                </a:cubicBezTo>
                <a:cubicBezTo>
                  <a:pt x="9577" y="128588"/>
                  <a:pt x="0" y="138165"/>
                  <a:pt x="0" y="150019"/>
                </a:cubicBezTo>
                <a:lnTo>
                  <a:pt x="0" y="214313"/>
                </a:lnTo>
                <a:cubicBezTo>
                  <a:pt x="0" y="226167"/>
                  <a:pt x="9577" y="235744"/>
                  <a:pt x="21431" y="235744"/>
                </a:cubicBezTo>
                <a:cubicBezTo>
                  <a:pt x="33285" y="235744"/>
                  <a:pt x="42863" y="226167"/>
                  <a:pt x="42863" y="214313"/>
                </a:cubicBezTo>
                <a:lnTo>
                  <a:pt x="42863" y="150019"/>
                </a:lnTo>
                <a:close/>
                <a:moveTo>
                  <a:pt x="407194" y="128588"/>
                </a:moveTo>
                <a:cubicBezTo>
                  <a:pt x="395340" y="128588"/>
                  <a:pt x="385763" y="138165"/>
                  <a:pt x="385763" y="150019"/>
                </a:cubicBezTo>
                <a:lnTo>
                  <a:pt x="385763" y="214313"/>
                </a:lnTo>
                <a:cubicBezTo>
                  <a:pt x="385763" y="226167"/>
                  <a:pt x="395340" y="235744"/>
                  <a:pt x="407194" y="235744"/>
                </a:cubicBezTo>
                <a:cubicBezTo>
                  <a:pt x="419048" y="235744"/>
                  <a:pt x="428625" y="226167"/>
                  <a:pt x="428625" y="214313"/>
                </a:cubicBezTo>
                <a:lnTo>
                  <a:pt x="428625" y="150019"/>
                </a:lnTo>
                <a:cubicBezTo>
                  <a:pt x="428625" y="138165"/>
                  <a:pt x="419048" y="128588"/>
                  <a:pt x="407194" y="128588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18" name="Text 14"/>
          <p:cNvSpPr/>
          <p:nvPr/>
        </p:nvSpPr>
        <p:spPr>
          <a:xfrm>
            <a:off x="3519488" y="4090987"/>
            <a:ext cx="2352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Gemini API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524250" y="4357688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Supplementary layer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534150" y="1238250"/>
            <a:ext cx="5257800" cy="2533650"/>
          </a:xfrm>
          <a:custGeom>
            <a:avLst/>
            <a:gdLst/>
            <a:ahLst/>
            <a:cxnLst/>
            <a:rect l="l" t="t" r="r" b="b"/>
            <a:pathLst>
              <a:path w="5257800" h="2533650">
                <a:moveTo>
                  <a:pt x="228611" y="0"/>
                </a:moveTo>
                <a:lnTo>
                  <a:pt x="5029189" y="0"/>
                </a:lnTo>
                <a:cubicBezTo>
                  <a:pt x="5155447" y="0"/>
                  <a:pt x="5257800" y="102353"/>
                  <a:pt x="5257800" y="228611"/>
                </a:cubicBezTo>
                <a:lnTo>
                  <a:pt x="5257800" y="2305039"/>
                </a:lnTo>
                <a:cubicBezTo>
                  <a:pt x="5257800" y="2431297"/>
                  <a:pt x="5155447" y="2533650"/>
                  <a:pt x="5029189" y="2533650"/>
                </a:cubicBezTo>
                <a:lnTo>
                  <a:pt x="228611" y="2533650"/>
                </a:lnTo>
                <a:cubicBezTo>
                  <a:pt x="102353" y="2533650"/>
                  <a:pt x="0" y="2431297"/>
                  <a:pt x="0" y="2305039"/>
                </a:cubicBezTo>
                <a:lnTo>
                  <a:pt x="0" y="228611"/>
                </a:lnTo>
                <a:cubicBezTo>
                  <a:pt x="0" y="102437"/>
                  <a:pt x="102437" y="0"/>
                  <a:pt x="228611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4A460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781800" y="1485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4A460"/>
          </a:solidFill>
          <a:ln/>
        </p:spPr>
      </p:sp>
      <p:sp>
        <p:nvSpPr>
          <p:cNvPr id="22" name="Shape 18"/>
          <p:cNvSpPr/>
          <p:nvPr/>
        </p:nvSpPr>
        <p:spPr>
          <a:xfrm>
            <a:off x="6962775" y="16383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57150" y="42863"/>
                </a:moveTo>
                <a:lnTo>
                  <a:pt x="57150" y="71438"/>
                </a:lnTo>
                <a:lnTo>
                  <a:pt x="114300" y="71438"/>
                </a:lnTo>
                <a:lnTo>
                  <a:pt x="114300" y="42863"/>
                </a:lnTo>
                <a:cubicBezTo>
                  <a:pt x="114300" y="27102"/>
                  <a:pt x="101486" y="14288"/>
                  <a:pt x="85725" y="14288"/>
                </a:cubicBezTo>
                <a:cubicBezTo>
                  <a:pt x="69964" y="14288"/>
                  <a:pt x="57150" y="27102"/>
                  <a:pt x="57150" y="42863"/>
                </a:cubicBezTo>
                <a:close/>
                <a:moveTo>
                  <a:pt x="28575" y="71438"/>
                </a:moveTo>
                <a:lnTo>
                  <a:pt x="28575" y="42863"/>
                </a:lnTo>
                <a:cubicBezTo>
                  <a:pt x="28575" y="11296"/>
                  <a:pt x="54159" y="-14287"/>
                  <a:pt x="85725" y="-14287"/>
                </a:cubicBezTo>
                <a:cubicBezTo>
                  <a:pt x="117291" y="-14287"/>
                  <a:pt x="142875" y="11296"/>
                  <a:pt x="142875" y="42863"/>
                </a:cubicBezTo>
                <a:lnTo>
                  <a:pt x="142875" y="71438"/>
                </a:lnTo>
                <a:cubicBezTo>
                  <a:pt x="158636" y="71438"/>
                  <a:pt x="171450" y="84252"/>
                  <a:pt x="171450" y="10001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100013"/>
                </a:lnTo>
                <a:cubicBezTo>
                  <a:pt x="0" y="84252"/>
                  <a:pt x="12814" y="71438"/>
                  <a:pt x="28575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19"/>
          <p:cNvSpPr/>
          <p:nvPr/>
        </p:nvSpPr>
        <p:spPr>
          <a:xfrm>
            <a:off x="7429500" y="1600200"/>
            <a:ext cx="1628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269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Feature Lock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6781800" y="2171700"/>
            <a:ext cx="4848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Decided to lock further feature development to dedicate all remaining time to refining AI models and system stability.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6515100" y="3981450"/>
            <a:ext cx="5295900" cy="2495550"/>
          </a:xfrm>
          <a:custGeom>
            <a:avLst/>
            <a:gdLst/>
            <a:ahLst/>
            <a:cxnLst/>
            <a:rect l="l" t="t" r="r" b="b"/>
            <a:pathLst>
              <a:path w="5295900" h="2495550">
                <a:moveTo>
                  <a:pt x="228592" y="0"/>
                </a:moveTo>
                <a:lnTo>
                  <a:pt x="5067308" y="0"/>
                </a:lnTo>
                <a:cubicBezTo>
                  <a:pt x="5193556" y="0"/>
                  <a:pt x="5295900" y="102344"/>
                  <a:pt x="5295900" y="228592"/>
                </a:cubicBezTo>
                <a:lnTo>
                  <a:pt x="5295900" y="2266958"/>
                </a:lnTo>
                <a:cubicBezTo>
                  <a:pt x="5295900" y="2393206"/>
                  <a:pt x="5193556" y="2495550"/>
                  <a:pt x="5067308" y="2495550"/>
                </a:cubicBezTo>
                <a:lnTo>
                  <a:pt x="228592" y="2495550"/>
                </a:lnTo>
                <a:cubicBezTo>
                  <a:pt x="102344" y="2495550"/>
                  <a:pt x="0" y="2393206"/>
                  <a:pt x="0" y="2266958"/>
                </a:cubicBezTo>
                <a:lnTo>
                  <a:pt x="0" y="228592"/>
                </a:lnTo>
                <a:cubicBezTo>
                  <a:pt x="0" y="102429"/>
                  <a:pt x="102429" y="0"/>
                  <a:pt x="228592" y="0"/>
                </a:cubicBezTo>
                <a:close/>
              </a:path>
            </a:pathLst>
          </a:custGeom>
          <a:solidFill>
            <a:srgbClr val="FFD700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743700" y="4210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27" name="Shape 23"/>
          <p:cNvSpPr/>
          <p:nvPr/>
        </p:nvSpPr>
        <p:spPr>
          <a:xfrm>
            <a:off x="6896100" y="4362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4"/>
          <p:cNvSpPr/>
          <p:nvPr/>
        </p:nvSpPr>
        <p:spPr>
          <a:xfrm>
            <a:off x="7391400" y="4324350"/>
            <a:ext cx="1895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D4037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Focus Strategy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6743700" y="4895850"/>
            <a:ext cx="49244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Prioritizing quality over quantity - ensuring our AI features work flawlessly before adding more.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-38100" y="6477000"/>
            <a:ext cx="1226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Nafia Haque Muskan, MD Tamim Hasan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66c327b13d51d3927c7e9e27a0760aee5f5a0d4e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1125" r="11125"/>
          <a:stretch/>
        </p:blipFill>
        <p:spPr>
          <a:xfrm>
            <a:off x="152400" y="152400"/>
            <a:ext cx="1066800" cy="1066800"/>
          </a:xfrm>
          <a:prstGeom prst="roundRect">
            <a:avLst>
              <a:gd name="adj" fmla="val 0"/>
            </a:avLst>
          </a:prstGeom>
        </p:spPr>
      </p:pic>
      <p:pic>
        <p:nvPicPr>
          <p:cNvPr id="3" name="Image 1" descr="https://kimi-web-img.moonshot.cn/img/www.shutterstock.com/f18c4f4cbd230f74c093a0bef127185dc1676a61.jp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1125200" y="5791200"/>
            <a:ext cx="914400" cy="9144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4A460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545306" y="542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2"/>
          <p:cNvSpPr/>
          <p:nvPr/>
        </p:nvSpPr>
        <p:spPr>
          <a:xfrm>
            <a:off x="1143000" y="457200"/>
            <a:ext cx="3219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269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What's Next?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19100" y="1219200"/>
            <a:ext cx="5581650" cy="2200275"/>
          </a:xfrm>
          <a:custGeom>
            <a:avLst/>
            <a:gdLst/>
            <a:ahLst/>
            <a:cxnLst/>
            <a:rect l="l" t="t" r="r" b="b"/>
            <a:pathLst>
              <a:path w="5581650" h="2200275">
                <a:moveTo>
                  <a:pt x="76200" y="0"/>
                </a:moveTo>
                <a:lnTo>
                  <a:pt x="5353041" y="0"/>
                </a:lnTo>
                <a:cubicBezTo>
                  <a:pt x="5479298" y="0"/>
                  <a:pt x="5581650" y="102352"/>
                  <a:pt x="5581650" y="228609"/>
                </a:cubicBezTo>
                <a:lnTo>
                  <a:pt x="5581650" y="1971666"/>
                </a:lnTo>
                <a:cubicBezTo>
                  <a:pt x="5581650" y="2097923"/>
                  <a:pt x="5479298" y="2200275"/>
                  <a:pt x="5353041" y="2200275"/>
                </a:cubicBezTo>
                <a:lnTo>
                  <a:pt x="76200" y="2200275"/>
                </a:lnTo>
                <a:cubicBezTo>
                  <a:pt x="34144" y="2200275"/>
                  <a:pt x="0" y="2166131"/>
                  <a:pt x="0" y="21240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19100" y="1219200"/>
            <a:ext cx="76200" cy="2200275"/>
          </a:xfrm>
          <a:custGeom>
            <a:avLst/>
            <a:gdLst/>
            <a:ahLst/>
            <a:cxnLst/>
            <a:rect l="l" t="t" r="r" b="b"/>
            <a:pathLst>
              <a:path w="76200" h="2200275">
                <a:moveTo>
                  <a:pt x="76200" y="0"/>
                </a:moveTo>
                <a:lnTo>
                  <a:pt x="76200" y="0"/>
                </a:lnTo>
                <a:lnTo>
                  <a:pt x="76200" y="2200275"/>
                </a:lnTo>
                <a:lnTo>
                  <a:pt x="76200" y="2200275"/>
                </a:lnTo>
                <a:cubicBezTo>
                  <a:pt x="34144" y="2200275"/>
                  <a:pt x="0" y="2166131"/>
                  <a:pt x="0" y="21240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9" name="Shape 5"/>
          <p:cNvSpPr/>
          <p:nvPr/>
        </p:nvSpPr>
        <p:spPr>
          <a:xfrm>
            <a:off x="685800" y="1447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10" name="Shape 6"/>
          <p:cNvSpPr/>
          <p:nvPr/>
        </p:nvSpPr>
        <p:spPr>
          <a:xfrm>
            <a:off x="832247" y="16097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07156" y="53578"/>
                </a:moveTo>
                <a:cubicBezTo>
                  <a:pt x="107156" y="23999"/>
                  <a:pt x="131155" y="0"/>
                  <a:pt x="160734" y="0"/>
                </a:cubicBezTo>
                <a:cubicBezTo>
                  <a:pt x="190314" y="0"/>
                  <a:pt x="214313" y="23999"/>
                  <a:pt x="214313" y="53578"/>
                </a:cubicBezTo>
                <a:lnTo>
                  <a:pt x="214313" y="55587"/>
                </a:lnTo>
                <a:cubicBezTo>
                  <a:pt x="214313" y="64350"/>
                  <a:pt x="207225" y="71438"/>
                  <a:pt x="198462" y="71438"/>
                </a:cubicBezTo>
                <a:lnTo>
                  <a:pt x="123062" y="71438"/>
                </a:lnTo>
                <a:cubicBezTo>
                  <a:pt x="114300" y="71438"/>
                  <a:pt x="107212" y="64350"/>
                  <a:pt x="107212" y="55587"/>
                </a:cubicBezTo>
                <a:lnTo>
                  <a:pt x="107212" y="53578"/>
                </a:lnTo>
                <a:close/>
                <a:moveTo>
                  <a:pt x="300038" y="60722"/>
                </a:moveTo>
                <a:cubicBezTo>
                  <a:pt x="305953" y="68591"/>
                  <a:pt x="304335" y="79809"/>
                  <a:pt x="296466" y="85725"/>
                </a:cubicBezTo>
                <a:lnTo>
                  <a:pt x="241883" y="126634"/>
                </a:lnTo>
                <a:cubicBezTo>
                  <a:pt x="244841" y="131601"/>
                  <a:pt x="247073" y="137071"/>
                  <a:pt x="248469" y="142875"/>
                </a:cubicBezTo>
                <a:lnTo>
                  <a:pt x="303609" y="142875"/>
                </a:lnTo>
                <a:cubicBezTo>
                  <a:pt x="313488" y="142875"/>
                  <a:pt x="321469" y="150856"/>
                  <a:pt x="321469" y="160734"/>
                </a:cubicBezTo>
                <a:cubicBezTo>
                  <a:pt x="321469" y="170613"/>
                  <a:pt x="313488" y="178594"/>
                  <a:pt x="303609" y="178594"/>
                </a:cubicBezTo>
                <a:lnTo>
                  <a:pt x="250031" y="178594"/>
                </a:lnTo>
                <a:lnTo>
                  <a:pt x="250031" y="196453"/>
                </a:lnTo>
                <a:cubicBezTo>
                  <a:pt x="250031" y="197904"/>
                  <a:pt x="249975" y="199411"/>
                  <a:pt x="249920" y="200862"/>
                </a:cubicBezTo>
                <a:lnTo>
                  <a:pt x="296466" y="235744"/>
                </a:lnTo>
                <a:cubicBezTo>
                  <a:pt x="304335" y="241660"/>
                  <a:pt x="305953" y="252878"/>
                  <a:pt x="300038" y="260747"/>
                </a:cubicBezTo>
                <a:cubicBezTo>
                  <a:pt x="294122" y="268616"/>
                  <a:pt x="282904" y="270235"/>
                  <a:pt x="275034" y="264319"/>
                </a:cubicBezTo>
                <a:lnTo>
                  <a:pt x="239818" y="237920"/>
                </a:lnTo>
                <a:cubicBezTo>
                  <a:pt x="226870" y="262589"/>
                  <a:pt x="202704" y="280448"/>
                  <a:pt x="174129" y="284745"/>
                </a:cubicBezTo>
                <a:lnTo>
                  <a:pt x="174129" y="156270"/>
                </a:lnTo>
                <a:cubicBezTo>
                  <a:pt x="174129" y="148847"/>
                  <a:pt x="168157" y="142875"/>
                  <a:pt x="160734" y="142875"/>
                </a:cubicBezTo>
                <a:cubicBezTo>
                  <a:pt x="153312" y="142875"/>
                  <a:pt x="147340" y="148847"/>
                  <a:pt x="147340" y="156270"/>
                </a:cubicBezTo>
                <a:lnTo>
                  <a:pt x="147340" y="284745"/>
                </a:lnTo>
                <a:cubicBezTo>
                  <a:pt x="118765" y="280448"/>
                  <a:pt x="94599" y="262589"/>
                  <a:pt x="81651" y="237920"/>
                </a:cubicBezTo>
                <a:lnTo>
                  <a:pt x="46434" y="264319"/>
                </a:lnTo>
                <a:cubicBezTo>
                  <a:pt x="38565" y="270235"/>
                  <a:pt x="27347" y="268616"/>
                  <a:pt x="21431" y="260747"/>
                </a:cubicBezTo>
                <a:cubicBezTo>
                  <a:pt x="15515" y="252878"/>
                  <a:pt x="17134" y="241660"/>
                  <a:pt x="25003" y="235744"/>
                </a:cubicBezTo>
                <a:lnTo>
                  <a:pt x="71549" y="200862"/>
                </a:lnTo>
                <a:cubicBezTo>
                  <a:pt x="71493" y="199411"/>
                  <a:pt x="71438" y="197960"/>
                  <a:pt x="71438" y="196453"/>
                </a:cubicBezTo>
                <a:lnTo>
                  <a:pt x="71438" y="178594"/>
                </a:lnTo>
                <a:lnTo>
                  <a:pt x="17859" y="178594"/>
                </a:lnTo>
                <a:cubicBezTo>
                  <a:pt x="7981" y="178594"/>
                  <a:pt x="0" y="170613"/>
                  <a:pt x="0" y="160734"/>
                </a:cubicBezTo>
                <a:cubicBezTo>
                  <a:pt x="0" y="150856"/>
                  <a:pt x="7981" y="142875"/>
                  <a:pt x="17859" y="142875"/>
                </a:cubicBezTo>
                <a:lnTo>
                  <a:pt x="73000" y="142875"/>
                </a:lnTo>
                <a:cubicBezTo>
                  <a:pt x="74395" y="137071"/>
                  <a:pt x="76628" y="131601"/>
                  <a:pt x="79586" y="126634"/>
                </a:cubicBezTo>
                <a:lnTo>
                  <a:pt x="25003" y="85725"/>
                </a:lnTo>
                <a:cubicBezTo>
                  <a:pt x="17134" y="79809"/>
                  <a:pt x="15515" y="68591"/>
                  <a:pt x="21431" y="60722"/>
                </a:cubicBezTo>
                <a:cubicBezTo>
                  <a:pt x="27347" y="52853"/>
                  <a:pt x="38565" y="51234"/>
                  <a:pt x="46434" y="57150"/>
                </a:cubicBezTo>
                <a:lnTo>
                  <a:pt x="107156" y="102691"/>
                </a:lnTo>
                <a:cubicBezTo>
                  <a:pt x="114021" y="99845"/>
                  <a:pt x="121555" y="98227"/>
                  <a:pt x="129480" y="98227"/>
                </a:cubicBezTo>
                <a:lnTo>
                  <a:pt x="191988" y="98227"/>
                </a:lnTo>
                <a:cubicBezTo>
                  <a:pt x="199913" y="98227"/>
                  <a:pt x="207448" y="99789"/>
                  <a:pt x="214313" y="102691"/>
                </a:cubicBezTo>
                <a:lnTo>
                  <a:pt x="275034" y="57150"/>
                </a:lnTo>
                <a:cubicBezTo>
                  <a:pt x="282904" y="51234"/>
                  <a:pt x="294122" y="52853"/>
                  <a:pt x="300038" y="6072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7"/>
          <p:cNvSpPr/>
          <p:nvPr/>
        </p:nvSpPr>
        <p:spPr>
          <a:xfrm>
            <a:off x="1447800" y="1600200"/>
            <a:ext cx="1847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2691E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System Testing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85800" y="2209800"/>
            <a:ext cx="5172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Conduct comprehensive testing across all modules to identify and resolve existing bugs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2919413"/>
            <a:ext cx="838200" cy="266700"/>
          </a:xfrm>
          <a:custGeom>
            <a:avLst/>
            <a:gdLst/>
            <a:ahLst/>
            <a:cxnLst/>
            <a:rect l="l" t="t" r="r" b="b"/>
            <a:pathLst>
              <a:path w="838200" h="266700">
                <a:moveTo>
                  <a:pt x="133350" y="0"/>
                </a:moveTo>
                <a:lnTo>
                  <a:pt x="704850" y="0"/>
                </a:lnTo>
                <a:cubicBezTo>
                  <a:pt x="778448" y="0"/>
                  <a:pt x="838200" y="59752"/>
                  <a:pt x="838200" y="133350"/>
                </a:cubicBezTo>
                <a:lnTo>
                  <a:pt x="838200" y="133350"/>
                </a:lnTo>
                <a:cubicBezTo>
                  <a:pt x="838200" y="206948"/>
                  <a:pt x="778448" y="266700"/>
                  <a:pt x="7048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8E7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2919413"/>
            <a:ext cx="9048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Unit Tests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604367" y="2919413"/>
            <a:ext cx="895350" cy="266700"/>
          </a:xfrm>
          <a:custGeom>
            <a:avLst/>
            <a:gdLst/>
            <a:ahLst/>
            <a:cxnLst/>
            <a:rect l="l" t="t" r="r" b="b"/>
            <a:pathLst>
              <a:path w="895350" h="266700">
                <a:moveTo>
                  <a:pt x="133350" y="0"/>
                </a:moveTo>
                <a:lnTo>
                  <a:pt x="762000" y="0"/>
                </a:lnTo>
                <a:cubicBezTo>
                  <a:pt x="835598" y="0"/>
                  <a:pt x="895350" y="59752"/>
                  <a:pt x="895350" y="133350"/>
                </a:cubicBezTo>
                <a:lnTo>
                  <a:pt x="895350" y="133350"/>
                </a:lnTo>
                <a:cubicBezTo>
                  <a:pt x="895350" y="206948"/>
                  <a:pt x="835598" y="266700"/>
                  <a:pt x="7620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8E7"/>
          </a:solidFill>
          <a:ln/>
        </p:spPr>
      </p:sp>
      <p:sp>
        <p:nvSpPr>
          <p:cNvPr id="16" name="Text 12"/>
          <p:cNvSpPr/>
          <p:nvPr/>
        </p:nvSpPr>
        <p:spPr>
          <a:xfrm>
            <a:off x="1604367" y="2919413"/>
            <a:ext cx="9620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229350" y="1219200"/>
            <a:ext cx="5581650" cy="2200275"/>
          </a:xfrm>
          <a:custGeom>
            <a:avLst/>
            <a:gdLst/>
            <a:ahLst/>
            <a:cxnLst/>
            <a:rect l="l" t="t" r="r" b="b"/>
            <a:pathLst>
              <a:path w="5581650" h="2200275">
                <a:moveTo>
                  <a:pt x="76200" y="0"/>
                </a:moveTo>
                <a:lnTo>
                  <a:pt x="5353041" y="0"/>
                </a:lnTo>
                <a:cubicBezTo>
                  <a:pt x="5479298" y="0"/>
                  <a:pt x="5581650" y="102352"/>
                  <a:pt x="5581650" y="228609"/>
                </a:cubicBezTo>
                <a:lnTo>
                  <a:pt x="5581650" y="1971666"/>
                </a:lnTo>
                <a:cubicBezTo>
                  <a:pt x="5581650" y="2097923"/>
                  <a:pt x="5479298" y="2200275"/>
                  <a:pt x="5353041" y="2200275"/>
                </a:cubicBezTo>
                <a:lnTo>
                  <a:pt x="76200" y="2200275"/>
                </a:lnTo>
                <a:cubicBezTo>
                  <a:pt x="34144" y="2200275"/>
                  <a:pt x="0" y="2166131"/>
                  <a:pt x="0" y="21240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29350" y="1219200"/>
            <a:ext cx="76200" cy="2200275"/>
          </a:xfrm>
          <a:custGeom>
            <a:avLst/>
            <a:gdLst/>
            <a:ahLst/>
            <a:cxnLst/>
            <a:rect l="l" t="t" r="r" b="b"/>
            <a:pathLst>
              <a:path w="76200" h="2200275">
                <a:moveTo>
                  <a:pt x="76200" y="0"/>
                </a:moveTo>
                <a:lnTo>
                  <a:pt x="76200" y="0"/>
                </a:lnTo>
                <a:lnTo>
                  <a:pt x="76200" y="2200275"/>
                </a:lnTo>
                <a:lnTo>
                  <a:pt x="76200" y="2200275"/>
                </a:lnTo>
                <a:cubicBezTo>
                  <a:pt x="34144" y="2200275"/>
                  <a:pt x="0" y="2166131"/>
                  <a:pt x="0" y="21240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4A460"/>
          </a:solidFill>
          <a:ln/>
        </p:spPr>
      </p:sp>
      <p:sp>
        <p:nvSpPr>
          <p:cNvPr id="19" name="Shape 15"/>
          <p:cNvSpPr/>
          <p:nvPr/>
        </p:nvSpPr>
        <p:spPr>
          <a:xfrm>
            <a:off x="6496050" y="1447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4A460"/>
          </a:solidFill>
          <a:ln/>
        </p:spPr>
      </p:sp>
      <p:sp>
        <p:nvSpPr>
          <p:cNvPr id="20" name="Shape 16"/>
          <p:cNvSpPr/>
          <p:nvPr/>
        </p:nvSpPr>
        <p:spPr>
          <a:xfrm>
            <a:off x="6660356" y="16097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7"/>
          <p:cNvSpPr/>
          <p:nvPr/>
        </p:nvSpPr>
        <p:spPr>
          <a:xfrm>
            <a:off x="7258050" y="1600200"/>
            <a:ext cx="2257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2691E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Model Optimization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496050" y="2209800"/>
            <a:ext cx="5172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Smooth and optimize ML model to improve prediction accuracy and reduce false positives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6496050" y="2919413"/>
            <a:ext cx="962025" cy="266700"/>
          </a:xfrm>
          <a:custGeom>
            <a:avLst/>
            <a:gdLst/>
            <a:ahLst/>
            <a:cxnLst/>
            <a:rect l="l" t="t" r="r" b="b"/>
            <a:pathLst>
              <a:path w="962025" h="266700">
                <a:moveTo>
                  <a:pt x="133350" y="0"/>
                </a:moveTo>
                <a:lnTo>
                  <a:pt x="828675" y="0"/>
                </a:lnTo>
                <a:cubicBezTo>
                  <a:pt x="902273" y="0"/>
                  <a:pt x="962025" y="59752"/>
                  <a:pt x="962025" y="133350"/>
                </a:cubicBezTo>
                <a:lnTo>
                  <a:pt x="962025" y="133350"/>
                </a:lnTo>
                <a:cubicBezTo>
                  <a:pt x="962025" y="206948"/>
                  <a:pt x="902273" y="266700"/>
                  <a:pt x="8286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8E7"/>
          </a:solidFill>
          <a:ln/>
        </p:spPr>
      </p:sp>
      <p:sp>
        <p:nvSpPr>
          <p:cNvPr id="24" name="Text 20"/>
          <p:cNvSpPr/>
          <p:nvPr/>
        </p:nvSpPr>
        <p:spPr>
          <a:xfrm>
            <a:off x="6496050" y="2919413"/>
            <a:ext cx="10287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 ↑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7538442" y="2919413"/>
            <a:ext cx="714375" cy="266700"/>
          </a:xfrm>
          <a:custGeom>
            <a:avLst/>
            <a:gdLst/>
            <a:ahLst/>
            <a:cxnLst/>
            <a:rect l="l" t="t" r="r" b="b"/>
            <a:pathLst>
              <a:path w="714375" h="266700">
                <a:moveTo>
                  <a:pt x="133350" y="0"/>
                </a:moveTo>
                <a:lnTo>
                  <a:pt x="581025" y="0"/>
                </a:lnTo>
                <a:cubicBezTo>
                  <a:pt x="654623" y="0"/>
                  <a:pt x="714375" y="59752"/>
                  <a:pt x="714375" y="133350"/>
                </a:cubicBezTo>
                <a:lnTo>
                  <a:pt x="714375" y="133350"/>
                </a:lnTo>
                <a:cubicBezTo>
                  <a:pt x="714375" y="206948"/>
                  <a:pt x="654623" y="266700"/>
                  <a:pt x="5810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8E7"/>
          </a:solidFill>
          <a:ln/>
        </p:spPr>
      </p:sp>
      <p:sp>
        <p:nvSpPr>
          <p:cNvPr id="26" name="Text 22"/>
          <p:cNvSpPr/>
          <p:nvPr/>
        </p:nvSpPr>
        <p:spPr>
          <a:xfrm>
            <a:off x="7538442" y="2919413"/>
            <a:ext cx="7810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False ↓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419100" y="3605213"/>
            <a:ext cx="5581650" cy="2200275"/>
          </a:xfrm>
          <a:custGeom>
            <a:avLst/>
            <a:gdLst/>
            <a:ahLst/>
            <a:cxnLst/>
            <a:rect l="l" t="t" r="r" b="b"/>
            <a:pathLst>
              <a:path w="5581650" h="2200275">
                <a:moveTo>
                  <a:pt x="76200" y="0"/>
                </a:moveTo>
                <a:lnTo>
                  <a:pt x="5353041" y="0"/>
                </a:lnTo>
                <a:cubicBezTo>
                  <a:pt x="5479298" y="0"/>
                  <a:pt x="5581650" y="102352"/>
                  <a:pt x="5581650" y="228609"/>
                </a:cubicBezTo>
                <a:lnTo>
                  <a:pt x="5581650" y="1971666"/>
                </a:lnTo>
                <a:cubicBezTo>
                  <a:pt x="5581650" y="2097923"/>
                  <a:pt x="5479298" y="2200275"/>
                  <a:pt x="5353041" y="2200275"/>
                </a:cubicBezTo>
                <a:lnTo>
                  <a:pt x="76200" y="2200275"/>
                </a:lnTo>
                <a:cubicBezTo>
                  <a:pt x="34144" y="2200275"/>
                  <a:pt x="0" y="2166131"/>
                  <a:pt x="0" y="21240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19100" y="3605213"/>
            <a:ext cx="76200" cy="2200275"/>
          </a:xfrm>
          <a:custGeom>
            <a:avLst/>
            <a:gdLst/>
            <a:ahLst/>
            <a:cxnLst/>
            <a:rect l="l" t="t" r="r" b="b"/>
            <a:pathLst>
              <a:path w="76200" h="2200275">
                <a:moveTo>
                  <a:pt x="76200" y="0"/>
                </a:moveTo>
                <a:lnTo>
                  <a:pt x="76200" y="0"/>
                </a:lnTo>
                <a:lnTo>
                  <a:pt x="76200" y="2200275"/>
                </a:lnTo>
                <a:lnTo>
                  <a:pt x="76200" y="2200275"/>
                </a:lnTo>
                <a:cubicBezTo>
                  <a:pt x="34144" y="2200275"/>
                  <a:pt x="0" y="2166131"/>
                  <a:pt x="0" y="21240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29" name="Shape 25"/>
          <p:cNvSpPr/>
          <p:nvPr/>
        </p:nvSpPr>
        <p:spPr>
          <a:xfrm>
            <a:off x="685800" y="383381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30" name="Shape 26"/>
          <p:cNvSpPr/>
          <p:nvPr/>
        </p:nvSpPr>
        <p:spPr>
          <a:xfrm>
            <a:off x="832247" y="3995738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14313" y="80367"/>
                </a:moveTo>
                <a:cubicBezTo>
                  <a:pt x="214313" y="134615"/>
                  <a:pt x="166315" y="178594"/>
                  <a:pt x="107156" y="178594"/>
                </a:cubicBezTo>
                <a:cubicBezTo>
                  <a:pt x="92255" y="178594"/>
                  <a:pt x="78079" y="175803"/>
                  <a:pt x="65187" y="170780"/>
                </a:cubicBezTo>
                <a:lnTo>
                  <a:pt x="19645" y="194890"/>
                </a:lnTo>
                <a:cubicBezTo>
                  <a:pt x="14455" y="197625"/>
                  <a:pt x="8093" y="196676"/>
                  <a:pt x="3907" y="192546"/>
                </a:cubicBezTo>
                <a:cubicBezTo>
                  <a:pt x="-279" y="188416"/>
                  <a:pt x="-1228" y="181998"/>
                  <a:pt x="1563" y="176808"/>
                </a:cubicBezTo>
                <a:lnTo>
                  <a:pt x="21431" y="139303"/>
                </a:lnTo>
                <a:cubicBezTo>
                  <a:pt x="7981" y="122895"/>
                  <a:pt x="0" y="102468"/>
                  <a:pt x="0" y="80367"/>
                </a:cubicBezTo>
                <a:cubicBezTo>
                  <a:pt x="0" y="26119"/>
                  <a:pt x="47997" y="-17859"/>
                  <a:pt x="107156" y="-17859"/>
                </a:cubicBezTo>
                <a:cubicBezTo>
                  <a:pt x="166315" y="-17859"/>
                  <a:pt x="214313" y="26119"/>
                  <a:pt x="214313" y="80367"/>
                </a:cubicBezTo>
                <a:close/>
                <a:moveTo>
                  <a:pt x="214313" y="285750"/>
                </a:moveTo>
                <a:cubicBezTo>
                  <a:pt x="161795" y="285750"/>
                  <a:pt x="118095" y="251092"/>
                  <a:pt x="108942" y="205383"/>
                </a:cubicBezTo>
                <a:cubicBezTo>
                  <a:pt x="175915" y="204546"/>
                  <a:pt x="234125" y="156883"/>
                  <a:pt x="240543" y="92255"/>
                </a:cubicBezTo>
                <a:cubicBezTo>
                  <a:pt x="287034" y="102970"/>
                  <a:pt x="321469" y="141536"/>
                  <a:pt x="321469" y="187523"/>
                </a:cubicBezTo>
                <a:cubicBezTo>
                  <a:pt x="321469" y="209624"/>
                  <a:pt x="313488" y="230051"/>
                  <a:pt x="300038" y="246459"/>
                </a:cubicBezTo>
                <a:lnTo>
                  <a:pt x="319906" y="283964"/>
                </a:lnTo>
                <a:cubicBezTo>
                  <a:pt x="322641" y="289154"/>
                  <a:pt x="321692" y="295517"/>
                  <a:pt x="317562" y="299703"/>
                </a:cubicBezTo>
                <a:cubicBezTo>
                  <a:pt x="313432" y="303888"/>
                  <a:pt x="307014" y="304837"/>
                  <a:pt x="301823" y="302047"/>
                </a:cubicBezTo>
                <a:lnTo>
                  <a:pt x="256282" y="277937"/>
                </a:lnTo>
                <a:cubicBezTo>
                  <a:pt x="243390" y="282959"/>
                  <a:pt x="229214" y="285750"/>
                  <a:pt x="214313" y="285750"/>
                </a:cubicBezTo>
                <a:close/>
              </a:path>
            </a:pathLst>
          </a:custGeom>
          <a:solidFill>
            <a:srgbClr val="5D4037"/>
          </a:solidFill>
          <a:ln/>
        </p:spPr>
      </p:sp>
      <p:sp>
        <p:nvSpPr>
          <p:cNvPr id="31" name="Text 27"/>
          <p:cNvSpPr/>
          <p:nvPr/>
        </p:nvSpPr>
        <p:spPr>
          <a:xfrm>
            <a:off x="1447800" y="3986213"/>
            <a:ext cx="228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2691E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Prompt Refinement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685800" y="4595813"/>
            <a:ext cx="5172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Refine Gemini API prompts to ensure AI assistant provides highly accurate, context-aware veterinary advice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685800" y="5305425"/>
            <a:ext cx="704850" cy="266700"/>
          </a:xfrm>
          <a:custGeom>
            <a:avLst/>
            <a:gdLst/>
            <a:ahLst/>
            <a:cxnLst/>
            <a:rect l="l" t="t" r="r" b="b"/>
            <a:pathLst>
              <a:path w="704850" h="266700">
                <a:moveTo>
                  <a:pt x="133350" y="0"/>
                </a:moveTo>
                <a:lnTo>
                  <a:pt x="571500" y="0"/>
                </a:lnTo>
                <a:cubicBezTo>
                  <a:pt x="645098" y="0"/>
                  <a:pt x="704850" y="59752"/>
                  <a:pt x="704850" y="133350"/>
                </a:cubicBezTo>
                <a:lnTo>
                  <a:pt x="704850" y="133350"/>
                </a:lnTo>
                <a:cubicBezTo>
                  <a:pt x="704850" y="206948"/>
                  <a:pt x="645098" y="266700"/>
                  <a:pt x="5715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8E7"/>
          </a:solidFill>
          <a:ln/>
        </p:spPr>
      </p:sp>
      <p:sp>
        <p:nvSpPr>
          <p:cNvPr id="34" name="Text 30"/>
          <p:cNvSpPr/>
          <p:nvPr/>
        </p:nvSpPr>
        <p:spPr>
          <a:xfrm>
            <a:off x="685800" y="5305425"/>
            <a:ext cx="7715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1468834" y="5305425"/>
            <a:ext cx="790575" cy="266700"/>
          </a:xfrm>
          <a:custGeom>
            <a:avLst/>
            <a:gdLst/>
            <a:ahLst/>
            <a:cxnLst/>
            <a:rect l="l" t="t" r="r" b="b"/>
            <a:pathLst>
              <a:path w="790575" h="266700">
                <a:moveTo>
                  <a:pt x="133350" y="0"/>
                </a:moveTo>
                <a:lnTo>
                  <a:pt x="657225" y="0"/>
                </a:lnTo>
                <a:cubicBezTo>
                  <a:pt x="730823" y="0"/>
                  <a:pt x="790575" y="59752"/>
                  <a:pt x="790575" y="133350"/>
                </a:cubicBezTo>
                <a:lnTo>
                  <a:pt x="790575" y="133350"/>
                </a:lnTo>
                <a:cubicBezTo>
                  <a:pt x="790575" y="206948"/>
                  <a:pt x="730823" y="266700"/>
                  <a:pt x="6572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8E7"/>
          </a:solidFill>
          <a:ln/>
        </p:spPr>
      </p:sp>
      <p:sp>
        <p:nvSpPr>
          <p:cNvPr id="36" name="Text 32"/>
          <p:cNvSpPr/>
          <p:nvPr/>
        </p:nvSpPr>
        <p:spPr>
          <a:xfrm>
            <a:off x="1468834" y="5305425"/>
            <a:ext cx="8572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37" name="Shape 33"/>
          <p:cNvSpPr/>
          <p:nvPr/>
        </p:nvSpPr>
        <p:spPr>
          <a:xfrm>
            <a:off x="6229350" y="3605213"/>
            <a:ext cx="5581650" cy="2200275"/>
          </a:xfrm>
          <a:custGeom>
            <a:avLst/>
            <a:gdLst/>
            <a:ahLst/>
            <a:cxnLst/>
            <a:rect l="l" t="t" r="r" b="b"/>
            <a:pathLst>
              <a:path w="5581650" h="2200275">
                <a:moveTo>
                  <a:pt x="76200" y="0"/>
                </a:moveTo>
                <a:lnTo>
                  <a:pt x="5353041" y="0"/>
                </a:lnTo>
                <a:cubicBezTo>
                  <a:pt x="5479298" y="0"/>
                  <a:pt x="5581650" y="102352"/>
                  <a:pt x="5581650" y="228609"/>
                </a:cubicBezTo>
                <a:lnTo>
                  <a:pt x="5581650" y="1971666"/>
                </a:lnTo>
                <a:cubicBezTo>
                  <a:pt x="5581650" y="2097923"/>
                  <a:pt x="5479298" y="2200275"/>
                  <a:pt x="5353041" y="2200275"/>
                </a:cubicBezTo>
                <a:lnTo>
                  <a:pt x="76200" y="2200275"/>
                </a:lnTo>
                <a:cubicBezTo>
                  <a:pt x="34144" y="2200275"/>
                  <a:pt x="0" y="2166131"/>
                  <a:pt x="0" y="21240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6229350" y="3605213"/>
            <a:ext cx="76200" cy="2200275"/>
          </a:xfrm>
          <a:custGeom>
            <a:avLst/>
            <a:gdLst/>
            <a:ahLst/>
            <a:cxnLst/>
            <a:rect l="l" t="t" r="r" b="b"/>
            <a:pathLst>
              <a:path w="76200" h="2200275">
                <a:moveTo>
                  <a:pt x="76200" y="0"/>
                </a:moveTo>
                <a:lnTo>
                  <a:pt x="76200" y="0"/>
                </a:lnTo>
                <a:lnTo>
                  <a:pt x="76200" y="2200275"/>
                </a:lnTo>
                <a:lnTo>
                  <a:pt x="76200" y="2200275"/>
                </a:lnTo>
                <a:cubicBezTo>
                  <a:pt x="34144" y="2200275"/>
                  <a:pt x="0" y="2166131"/>
                  <a:pt x="0" y="21240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39" name="Shape 35"/>
          <p:cNvSpPr/>
          <p:nvPr/>
        </p:nvSpPr>
        <p:spPr>
          <a:xfrm>
            <a:off x="6496050" y="383381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40" name="Shape 36"/>
          <p:cNvSpPr/>
          <p:nvPr/>
        </p:nvSpPr>
        <p:spPr>
          <a:xfrm>
            <a:off x="6678216" y="399573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71438" y="-17859"/>
                </a:moveTo>
                <a:cubicBezTo>
                  <a:pt x="81316" y="-17859"/>
                  <a:pt x="89297" y="-9878"/>
                  <a:pt x="89297" y="0"/>
                </a:cubicBezTo>
                <a:lnTo>
                  <a:pt x="89297" y="53578"/>
                </a:lnTo>
                <a:lnTo>
                  <a:pt x="160734" y="53578"/>
                </a:lnTo>
                <a:lnTo>
                  <a:pt x="160734" y="0"/>
                </a:lnTo>
                <a:cubicBezTo>
                  <a:pt x="160734" y="-9878"/>
                  <a:pt x="168715" y="-17859"/>
                  <a:pt x="178594" y="-17859"/>
                </a:cubicBezTo>
                <a:cubicBezTo>
                  <a:pt x="188472" y="-17859"/>
                  <a:pt x="196453" y="-9878"/>
                  <a:pt x="196453" y="0"/>
                </a:cubicBezTo>
                <a:lnTo>
                  <a:pt x="196453" y="53578"/>
                </a:lnTo>
                <a:lnTo>
                  <a:pt x="232172" y="53578"/>
                </a:lnTo>
                <a:cubicBezTo>
                  <a:pt x="242050" y="53578"/>
                  <a:pt x="250031" y="61559"/>
                  <a:pt x="250031" y="71438"/>
                </a:cubicBezTo>
                <a:cubicBezTo>
                  <a:pt x="250031" y="81316"/>
                  <a:pt x="242050" y="89297"/>
                  <a:pt x="232172" y="89297"/>
                </a:cubicBezTo>
                <a:lnTo>
                  <a:pt x="232172" y="125016"/>
                </a:lnTo>
                <a:cubicBezTo>
                  <a:pt x="232172" y="178091"/>
                  <a:pt x="193551" y="222182"/>
                  <a:pt x="142875" y="230665"/>
                </a:cubicBezTo>
                <a:lnTo>
                  <a:pt x="142875" y="267891"/>
                </a:lnTo>
                <a:cubicBezTo>
                  <a:pt x="142875" y="277769"/>
                  <a:pt x="134894" y="285750"/>
                  <a:pt x="125016" y="285750"/>
                </a:cubicBezTo>
                <a:cubicBezTo>
                  <a:pt x="115137" y="285750"/>
                  <a:pt x="107156" y="277769"/>
                  <a:pt x="107156" y="267891"/>
                </a:cubicBezTo>
                <a:lnTo>
                  <a:pt x="107156" y="230665"/>
                </a:lnTo>
                <a:cubicBezTo>
                  <a:pt x="56480" y="222182"/>
                  <a:pt x="17859" y="178091"/>
                  <a:pt x="17859" y="125016"/>
                </a:cubicBezTo>
                <a:lnTo>
                  <a:pt x="17859" y="89297"/>
                </a:lnTo>
                <a:cubicBezTo>
                  <a:pt x="7981" y="89297"/>
                  <a:pt x="0" y="81316"/>
                  <a:pt x="0" y="71438"/>
                </a:cubicBezTo>
                <a:cubicBezTo>
                  <a:pt x="0" y="61559"/>
                  <a:pt x="7981" y="53578"/>
                  <a:pt x="17859" y="53578"/>
                </a:cubicBezTo>
                <a:lnTo>
                  <a:pt x="53578" y="53578"/>
                </a:lnTo>
                <a:lnTo>
                  <a:pt x="53578" y="0"/>
                </a:lnTo>
                <a:cubicBezTo>
                  <a:pt x="53578" y="-9878"/>
                  <a:pt x="61559" y="-17859"/>
                  <a:pt x="71438" y="-178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7"/>
          <p:cNvSpPr/>
          <p:nvPr/>
        </p:nvSpPr>
        <p:spPr>
          <a:xfrm>
            <a:off x="7258050" y="3986213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2691E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End-to-End Testing</a:t>
            </a:r>
            <a:endParaRPr lang="en-US" sz="1600" dirty="0"/>
          </a:p>
        </p:txBody>
      </p:sp>
      <p:sp>
        <p:nvSpPr>
          <p:cNvPr id="42" name="Text 38"/>
          <p:cNvSpPr/>
          <p:nvPr/>
        </p:nvSpPr>
        <p:spPr>
          <a:xfrm>
            <a:off x="6496050" y="4595813"/>
            <a:ext cx="5172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 integration testing to ensure frontend, Django backend, and AI models communicate flawlessly</a:t>
            </a:r>
            <a:endParaRPr lang="en-US" sz="1600" dirty="0"/>
          </a:p>
        </p:txBody>
      </p:sp>
      <p:sp>
        <p:nvSpPr>
          <p:cNvPr id="43" name="Shape 39"/>
          <p:cNvSpPr/>
          <p:nvPr/>
        </p:nvSpPr>
        <p:spPr>
          <a:xfrm>
            <a:off x="6496050" y="5305425"/>
            <a:ext cx="781050" cy="266700"/>
          </a:xfrm>
          <a:custGeom>
            <a:avLst/>
            <a:gdLst/>
            <a:ahLst/>
            <a:cxnLst/>
            <a:rect l="l" t="t" r="r" b="b"/>
            <a:pathLst>
              <a:path w="781050" h="266700">
                <a:moveTo>
                  <a:pt x="133350" y="0"/>
                </a:moveTo>
                <a:lnTo>
                  <a:pt x="647700" y="0"/>
                </a:lnTo>
                <a:cubicBezTo>
                  <a:pt x="721298" y="0"/>
                  <a:pt x="781050" y="59752"/>
                  <a:pt x="781050" y="133350"/>
                </a:cubicBezTo>
                <a:lnTo>
                  <a:pt x="781050" y="133350"/>
                </a:lnTo>
                <a:cubicBezTo>
                  <a:pt x="781050" y="206948"/>
                  <a:pt x="721298" y="266700"/>
                  <a:pt x="6477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8E7"/>
          </a:solidFill>
          <a:ln/>
        </p:spPr>
      </p:sp>
      <p:sp>
        <p:nvSpPr>
          <p:cNvPr id="44" name="Text 40"/>
          <p:cNvSpPr/>
          <p:nvPr/>
        </p:nvSpPr>
        <p:spPr>
          <a:xfrm>
            <a:off x="6496050" y="5305425"/>
            <a:ext cx="8477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45" name="Shape 41"/>
          <p:cNvSpPr/>
          <p:nvPr/>
        </p:nvSpPr>
        <p:spPr>
          <a:xfrm>
            <a:off x="7357666" y="5305425"/>
            <a:ext cx="752475" cy="266700"/>
          </a:xfrm>
          <a:custGeom>
            <a:avLst/>
            <a:gdLst/>
            <a:ahLst/>
            <a:cxnLst/>
            <a:rect l="l" t="t" r="r" b="b"/>
            <a:pathLst>
              <a:path w="752475" h="266700">
                <a:moveTo>
                  <a:pt x="133350" y="0"/>
                </a:moveTo>
                <a:lnTo>
                  <a:pt x="619125" y="0"/>
                </a:lnTo>
                <a:cubicBezTo>
                  <a:pt x="692723" y="0"/>
                  <a:pt x="752475" y="59752"/>
                  <a:pt x="752475" y="133350"/>
                </a:cubicBezTo>
                <a:lnTo>
                  <a:pt x="752475" y="133350"/>
                </a:lnTo>
                <a:cubicBezTo>
                  <a:pt x="752475" y="206948"/>
                  <a:pt x="692723" y="266700"/>
                  <a:pt x="6191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8E7"/>
          </a:solidFill>
          <a:ln/>
        </p:spPr>
      </p:sp>
      <p:sp>
        <p:nvSpPr>
          <p:cNvPr id="46" name="Text 42"/>
          <p:cNvSpPr/>
          <p:nvPr/>
        </p:nvSpPr>
        <p:spPr>
          <a:xfrm>
            <a:off x="7357666" y="5305425"/>
            <a:ext cx="8191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Backend</a:t>
            </a:r>
            <a:endParaRPr lang="en-US" sz="1600" dirty="0"/>
          </a:p>
        </p:txBody>
      </p:sp>
      <p:sp>
        <p:nvSpPr>
          <p:cNvPr id="47" name="Shape 43"/>
          <p:cNvSpPr/>
          <p:nvPr/>
        </p:nvSpPr>
        <p:spPr>
          <a:xfrm>
            <a:off x="8190309" y="5305425"/>
            <a:ext cx="352425" cy="266700"/>
          </a:xfrm>
          <a:custGeom>
            <a:avLst/>
            <a:gdLst/>
            <a:ahLst/>
            <a:cxnLst/>
            <a:rect l="l" t="t" r="r" b="b"/>
            <a:pathLst>
              <a:path w="352425" h="266700">
                <a:moveTo>
                  <a:pt x="133350" y="0"/>
                </a:moveTo>
                <a:lnTo>
                  <a:pt x="219075" y="0"/>
                </a:lnTo>
                <a:cubicBezTo>
                  <a:pt x="292673" y="0"/>
                  <a:pt x="352425" y="59752"/>
                  <a:pt x="352425" y="133350"/>
                </a:cubicBezTo>
                <a:lnTo>
                  <a:pt x="352425" y="133350"/>
                </a:lnTo>
                <a:cubicBezTo>
                  <a:pt x="352425" y="206948"/>
                  <a:pt x="292673" y="266700"/>
                  <a:pt x="2190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8E7"/>
          </a:solidFill>
          <a:ln/>
        </p:spPr>
      </p:sp>
      <p:sp>
        <p:nvSpPr>
          <p:cNvPr id="48" name="Text 44"/>
          <p:cNvSpPr/>
          <p:nvPr/>
        </p:nvSpPr>
        <p:spPr>
          <a:xfrm>
            <a:off x="8190309" y="5305425"/>
            <a:ext cx="4191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</a:t>
            </a:r>
            <a:endParaRPr lang="en-US" sz="1600" dirty="0"/>
          </a:p>
        </p:txBody>
      </p:sp>
      <p:sp>
        <p:nvSpPr>
          <p:cNvPr id="49" name="Shape 45"/>
          <p:cNvSpPr/>
          <p:nvPr/>
        </p:nvSpPr>
        <p:spPr>
          <a:xfrm>
            <a:off x="381000" y="5953125"/>
            <a:ext cx="11430000" cy="571500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152402" y="0"/>
                </a:moveTo>
                <a:lnTo>
                  <a:pt x="11277598" y="0"/>
                </a:lnTo>
                <a:cubicBezTo>
                  <a:pt x="11361767" y="0"/>
                  <a:pt x="11430000" y="68233"/>
                  <a:pt x="11430000" y="152402"/>
                </a:cubicBezTo>
                <a:lnTo>
                  <a:pt x="11430000" y="419098"/>
                </a:lnTo>
                <a:cubicBezTo>
                  <a:pt x="11430000" y="503267"/>
                  <a:pt x="11361767" y="571500"/>
                  <a:pt x="11277598" y="571500"/>
                </a:cubicBezTo>
                <a:lnTo>
                  <a:pt x="152402" y="571500"/>
                </a:lnTo>
                <a:cubicBezTo>
                  <a:pt x="68233" y="571500"/>
                  <a:pt x="0" y="503267"/>
                  <a:pt x="0" y="4190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50" name="Shape 46"/>
          <p:cNvSpPr/>
          <p:nvPr/>
        </p:nvSpPr>
        <p:spPr>
          <a:xfrm>
            <a:off x="4387056" y="614997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1906" y="0"/>
                </a:moveTo>
                <a:cubicBezTo>
                  <a:pt x="18492" y="0"/>
                  <a:pt x="23812" y="5321"/>
                  <a:pt x="23812" y="11906"/>
                </a:cubicBezTo>
                <a:lnTo>
                  <a:pt x="23812" y="17859"/>
                </a:lnTo>
                <a:lnTo>
                  <a:pt x="49485" y="11460"/>
                </a:lnTo>
                <a:cubicBezTo>
                  <a:pt x="63661" y="7925"/>
                  <a:pt x="78618" y="9562"/>
                  <a:pt x="91715" y="16111"/>
                </a:cubicBezTo>
                <a:cubicBezTo>
                  <a:pt x="108942" y="24743"/>
                  <a:pt x="129220" y="24743"/>
                  <a:pt x="146447" y="16111"/>
                </a:cubicBezTo>
                <a:lnTo>
                  <a:pt x="150019" y="14325"/>
                </a:lnTo>
                <a:cubicBezTo>
                  <a:pt x="157683" y="10455"/>
                  <a:pt x="166688" y="16036"/>
                  <a:pt x="166688" y="24594"/>
                </a:cubicBezTo>
                <a:lnTo>
                  <a:pt x="166688" y="128662"/>
                </a:lnTo>
                <a:cubicBezTo>
                  <a:pt x="166688" y="133610"/>
                  <a:pt x="163599" y="138075"/>
                  <a:pt x="158948" y="139824"/>
                </a:cubicBezTo>
                <a:lnTo>
                  <a:pt x="146038" y="144661"/>
                </a:lnTo>
                <a:cubicBezTo>
                  <a:pt x="128848" y="151098"/>
                  <a:pt x="109724" y="150093"/>
                  <a:pt x="93315" y="141908"/>
                </a:cubicBezTo>
                <a:cubicBezTo>
                  <a:pt x="79214" y="134838"/>
                  <a:pt x="63029" y="133090"/>
                  <a:pt x="47737" y="136922"/>
                </a:cubicBezTo>
                <a:lnTo>
                  <a:pt x="23812" y="142875"/>
                </a:lnTo>
                <a:lnTo>
                  <a:pt x="23812" y="178594"/>
                </a:lnTo>
                <a:cubicBezTo>
                  <a:pt x="23812" y="185179"/>
                  <a:pt x="18492" y="190500"/>
                  <a:pt x="11906" y="190500"/>
                </a:cubicBezTo>
                <a:cubicBezTo>
                  <a:pt x="5321" y="190500"/>
                  <a:pt x="0" y="185179"/>
                  <a:pt x="0" y="178594"/>
                </a:cubicBezTo>
                <a:lnTo>
                  <a:pt x="0" y="11906"/>
                </a:lnTo>
                <a:cubicBezTo>
                  <a:pt x="0" y="5321"/>
                  <a:pt x="5321" y="0"/>
                  <a:pt x="11906" y="0"/>
                </a:cubicBezTo>
                <a:close/>
                <a:moveTo>
                  <a:pt x="23812" y="69614"/>
                </a:moveTo>
                <a:lnTo>
                  <a:pt x="47625" y="64443"/>
                </a:lnTo>
                <a:lnTo>
                  <a:pt x="47625" y="88813"/>
                </a:lnTo>
                <a:lnTo>
                  <a:pt x="23812" y="93985"/>
                </a:lnTo>
                <a:lnTo>
                  <a:pt x="23812" y="118356"/>
                </a:lnTo>
                <a:lnTo>
                  <a:pt x="41970" y="113816"/>
                </a:lnTo>
                <a:cubicBezTo>
                  <a:pt x="43867" y="113333"/>
                  <a:pt x="45727" y="112923"/>
                  <a:pt x="47625" y="112588"/>
                </a:cubicBezTo>
                <a:lnTo>
                  <a:pt x="47625" y="88813"/>
                </a:lnTo>
                <a:lnTo>
                  <a:pt x="62099" y="85688"/>
                </a:lnTo>
                <a:cubicBezTo>
                  <a:pt x="65187" y="85018"/>
                  <a:pt x="68312" y="84758"/>
                  <a:pt x="71438" y="84906"/>
                </a:cubicBezTo>
                <a:lnTo>
                  <a:pt x="71438" y="61094"/>
                </a:lnTo>
                <a:cubicBezTo>
                  <a:pt x="76498" y="61243"/>
                  <a:pt x="81558" y="62061"/>
                  <a:pt x="86469" y="63475"/>
                </a:cubicBezTo>
                <a:lnTo>
                  <a:pt x="95250" y="66042"/>
                </a:lnTo>
                <a:lnTo>
                  <a:pt x="95250" y="90860"/>
                </a:lnTo>
                <a:lnTo>
                  <a:pt x="79735" y="86283"/>
                </a:lnTo>
                <a:cubicBezTo>
                  <a:pt x="77019" y="85502"/>
                  <a:pt x="74228" y="85018"/>
                  <a:pt x="71438" y="84869"/>
                </a:cubicBezTo>
                <a:lnTo>
                  <a:pt x="71438" y="111435"/>
                </a:lnTo>
                <a:cubicBezTo>
                  <a:pt x="79549" y="112142"/>
                  <a:pt x="87548" y="113928"/>
                  <a:pt x="95250" y="116793"/>
                </a:cubicBezTo>
                <a:lnTo>
                  <a:pt x="95250" y="90822"/>
                </a:lnTo>
                <a:lnTo>
                  <a:pt x="103696" y="93315"/>
                </a:lnTo>
                <a:cubicBezTo>
                  <a:pt x="108719" y="94804"/>
                  <a:pt x="113854" y="95696"/>
                  <a:pt x="119063" y="96069"/>
                </a:cubicBezTo>
                <a:lnTo>
                  <a:pt x="119063" y="72182"/>
                </a:lnTo>
                <a:cubicBezTo>
                  <a:pt x="116160" y="71884"/>
                  <a:pt x="113258" y="71326"/>
                  <a:pt x="110430" y="70507"/>
                </a:cubicBezTo>
                <a:lnTo>
                  <a:pt x="95250" y="66042"/>
                </a:lnTo>
                <a:lnTo>
                  <a:pt x="95250" y="42974"/>
                </a:lnTo>
                <a:cubicBezTo>
                  <a:pt x="90413" y="41560"/>
                  <a:pt x="85651" y="39700"/>
                  <a:pt x="81037" y="37393"/>
                </a:cubicBezTo>
                <a:cubicBezTo>
                  <a:pt x="77986" y="35868"/>
                  <a:pt x="74749" y="34789"/>
                  <a:pt x="71438" y="34119"/>
                </a:cubicBezTo>
                <a:lnTo>
                  <a:pt x="71438" y="61057"/>
                </a:lnTo>
                <a:cubicBezTo>
                  <a:pt x="66601" y="60908"/>
                  <a:pt x="61764" y="61354"/>
                  <a:pt x="57038" y="62396"/>
                </a:cubicBezTo>
                <a:lnTo>
                  <a:pt x="47625" y="64443"/>
                </a:lnTo>
                <a:lnTo>
                  <a:pt x="47625" y="36463"/>
                </a:lnTo>
                <a:lnTo>
                  <a:pt x="23812" y="42416"/>
                </a:lnTo>
                <a:lnTo>
                  <a:pt x="23812" y="69614"/>
                </a:lnTo>
                <a:close/>
                <a:moveTo>
                  <a:pt x="119063" y="124904"/>
                </a:moveTo>
                <a:cubicBezTo>
                  <a:pt x="125313" y="125462"/>
                  <a:pt x="131676" y="124644"/>
                  <a:pt x="137666" y="122374"/>
                </a:cubicBezTo>
                <a:lnTo>
                  <a:pt x="142875" y="120439"/>
                </a:lnTo>
                <a:lnTo>
                  <a:pt x="142875" y="93762"/>
                </a:lnTo>
                <a:lnTo>
                  <a:pt x="139936" y="94431"/>
                </a:lnTo>
                <a:cubicBezTo>
                  <a:pt x="133090" y="96031"/>
                  <a:pt x="126057" y="96552"/>
                  <a:pt x="119063" y="96106"/>
                </a:cubicBezTo>
                <a:lnTo>
                  <a:pt x="119063" y="124904"/>
                </a:lnTo>
                <a:close/>
                <a:moveTo>
                  <a:pt x="142875" y="69317"/>
                </a:moveTo>
                <a:lnTo>
                  <a:pt x="142875" y="42974"/>
                </a:lnTo>
                <a:cubicBezTo>
                  <a:pt x="135099" y="45244"/>
                  <a:pt x="127099" y="46360"/>
                  <a:pt x="119063" y="46360"/>
                </a:cubicBezTo>
                <a:lnTo>
                  <a:pt x="119063" y="72182"/>
                </a:lnTo>
                <a:cubicBezTo>
                  <a:pt x="124234" y="72703"/>
                  <a:pt x="129480" y="72368"/>
                  <a:pt x="134578" y="71214"/>
                </a:cubicBezTo>
                <a:lnTo>
                  <a:pt x="142875" y="69279"/>
                </a:ln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51" name="Text 47"/>
          <p:cNvSpPr/>
          <p:nvPr/>
        </p:nvSpPr>
        <p:spPr>
          <a:xfrm>
            <a:off x="781050" y="6105525"/>
            <a:ext cx="1092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Goal: Production-ready system!</a:t>
            </a:r>
            <a:endParaRPr lang="en-US" sz="1600" dirty="0"/>
          </a:p>
        </p:txBody>
      </p:sp>
      <p:sp>
        <p:nvSpPr>
          <p:cNvPr id="52" name="Text 48"/>
          <p:cNvSpPr/>
          <p:nvPr/>
        </p:nvSpPr>
        <p:spPr>
          <a:xfrm>
            <a:off x="-38100" y="6477000"/>
            <a:ext cx="1226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Nafia Haque Muskan, MD Tamim Hasan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e097f5e8b604d76b5471e7a8a4867a3ca587efdc.jpg"/>
          <p:cNvPicPr>
            <a:picLocks noChangeAspect="1"/>
          </p:cNvPicPr>
          <p:nvPr/>
        </p:nvPicPr>
        <p:blipFill>
          <a:blip r:embed="rId3">
            <a:alphaModFix amt="70000"/>
          </a:blip>
          <a:srcRect/>
          <a:stretch/>
        </p:blipFill>
        <p:spPr>
          <a:xfrm>
            <a:off x="152400" y="152400"/>
            <a:ext cx="1219200" cy="1219200"/>
          </a:xfrm>
          <a:prstGeom prst="roundRect">
            <a:avLst>
              <a:gd name="adj" fmla="val 0"/>
            </a:avLst>
          </a:prstGeom>
        </p:spPr>
      </p:pic>
      <p:pic>
        <p:nvPicPr>
          <p:cNvPr id="3" name="Image 1" descr="https://kimi-web-img.moonshot.cn/img/static.vecteezy.com/f8ebfba9e19553c507393d2071031c6bcbc6b979.jp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10668000" y="304800"/>
            <a:ext cx="914400" cy="914400"/>
          </a:xfrm>
          <a:prstGeom prst="roundRect">
            <a:avLst>
              <a:gd name="adj" fmla="val 0"/>
            </a:avLst>
          </a:prstGeom>
        </p:spPr>
      </p:pic>
      <p:pic>
        <p:nvPicPr>
          <p:cNvPr id="4" name="Image 2" descr="https://kimi-web-img.moonshot.cn/img/thumbs.dreamstime.com/297444bfa4d370c58480994b76b8db18bac83b79.jpg"/>
          <p:cNvPicPr>
            <a:picLocks noChangeAspect="1"/>
          </p:cNvPicPr>
          <p:nvPr/>
        </p:nvPicPr>
        <p:blipFill>
          <a:blip r:embed="rId5">
            <a:alphaModFix amt="60000"/>
          </a:blip>
          <a:srcRect/>
          <a:stretch/>
        </p:blipFill>
        <p:spPr>
          <a:xfrm>
            <a:off x="304800" y="5334000"/>
            <a:ext cx="1371600" cy="1371600"/>
          </a:xfrm>
          <a:prstGeom prst="roundRect">
            <a:avLst>
              <a:gd name="adj" fmla="val 0"/>
            </a:avLst>
          </a:prstGeom>
        </p:spPr>
      </p:pic>
      <p:pic>
        <p:nvPicPr>
          <p:cNvPr id="5" name="Image 3" descr="https://kimi-web-img.moonshot.cn/img/img.freepik.com/14270208070730305fe92d1558bbc96d5e8ac5d4.jpg"/>
          <p:cNvPicPr>
            <a:picLocks noChangeAspect="1"/>
          </p:cNvPicPr>
          <p:nvPr/>
        </p:nvPicPr>
        <p:blipFill>
          <a:blip r:embed="rId6">
            <a:alphaModFix amt="40000"/>
          </a:blip>
          <a:srcRect/>
          <a:stretch/>
        </p:blipFill>
        <p:spPr>
          <a:xfrm>
            <a:off x="10668000" y="5334000"/>
            <a:ext cx="1219200" cy="1219200"/>
          </a:xfrm>
          <a:prstGeom prst="roundRect">
            <a:avLst>
              <a:gd name="adj" fmla="val 0"/>
            </a:avLst>
          </a:prstGeom>
        </p:spPr>
      </p:pic>
      <p:sp>
        <p:nvSpPr>
          <p:cNvPr id="6" name="Text 0"/>
          <p:cNvSpPr/>
          <p:nvPr/>
        </p:nvSpPr>
        <p:spPr>
          <a:xfrm>
            <a:off x="-38100" y="6477000"/>
            <a:ext cx="1226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Nafia Haque Muskan, MD Tamim Hasan</a:t>
            </a:r>
            <a:endParaRPr lang="en-US" sz="1600" dirty="0"/>
          </a:p>
        </p:txBody>
      </p:sp>
      <p:sp>
        <p:nvSpPr>
          <p:cNvPr id="7" name="Shape 1"/>
          <p:cNvSpPr/>
          <p:nvPr/>
        </p:nvSpPr>
        <p:spPr>
          <a:xfrm>
            <a:off x="3341787" y="895350"/>
            <a:ext cx="5505450" cy="1752600"/>
          </a:xfrm>
          <a:custGeom>
            <a:avLst/>
            <a:gdLst/>
            <a:ahLst/>
            <a:cxnLst/>
            <a:rect l="l" t="t" r="r" b="b"/>
            <a:pathLst>
              <a:path w="5505450" h="1752600">
                <a:moveTo>
                  <a:pt x="476252" y="0"/>
                </a:moveTo>
                <a:lnTo>
                  <a:pt x="5029198" y="0"/>
                </a:lnTo>
                <a:cubicBezTo>
                  <a:pt x="5292225" y="0"/>
                  <a:pt x="5505450" y="213225"/>
                  <a:pt x="5505450" y="476252"/>
                </a:cubicBezTo>
                <a:lnTo>
                  <a:pt x="5505450" y="1276348"/>
                </a:lnTo>
                <a:cubicBezTo>
                  <a:pt x="5505450" y="1539375"/>
                  <a:pt x="5292225" y="1752600"/>
                  <a:pt x="5029198" y="1752600"/>
                </a:cubicBezTo>
                <a:lnTo>
                  <a:pt x="476252" y="1752600"/>
                </a:lnTo>
                <a:cubicBezTo>
                  <a:pt x="213225" y="1752600"/>
                  <a:pt x="0" y="1539375"/>
                  <a:pt x="0" y="1276348"/>
                </a:cubicBezTo>
                <a:lnTo>
                  <a:pt x="0" y="476252"/>
                </a:lnTo>
                <a:cubicBezTo>
                  <a:pt x="0" y="213225"/>
                  <a:pt x="213225" y="0"/>
                  <a:pt x="476252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50800">
            <a:solidFill>
              <a:srgbClr val="D2691E"/>
            </a:solidFill>
            <a:prstDash val="solid"/>
          </a:ln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8" name="Text 2"/>
          <p:cNvSpPr/>
          <p:nvPr/>
        </p:nvSpPr>
        <p:spPr>
          <a:xfrm>
            <a:off x="3894237" y="1219200"/>
            <a:ext cx="468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D2691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Meet The Team!</a:t>
            </a:r>
            <a:endParaRPr lang="en-US" sz="1600" dirty="0"/>
          </a:p>
        </p:txBody>
      </p:sp>
      <p:sp>
        <p:nvSpPr>
          <p:cNvPr id="9" name="Shape 3"/>
          <p:cNvSpPr/>
          <p:nvPr/>
        </p:nvSpPr>
        <p:spPr>
          <a:xfrm>
            <a:off x="3894237" y="1866900"/>
            <a:ext cx="1457325" cy="457200"/>
          </a:xfrm>
          <a:custGeom>
            <a:avLst/>
            <a:gdLst/>
            <a:ahLst/>
            <a:cxnLst/>
            <a:rect l="l" t="t" r="r" b="b"/>
            <a:pathLst>
              <a:path w="1457325" h="457200">
                <a:moveTo>
                  <a:pt x="228600" y="0"/>
                </a:moveTo>
                <a:lnTo>
                  <a:pt x="1228725" y="0"/>
                </a:lnTo>
                <a:cubicBezTo>
                  <a:pt x="1354893" y="0"/>
                  <a:pt x="1457325" y="102432"/>
                  <a:pt x="1457325" y="228600"/>
                </a:cubicBezTo>
                <a:lnTo>
                  <a:pt x="1457325" y="228600"/>
                </a:lnTo>
                <a:cubicBezTo>
                  <a:pt x="1457325" y="354768"/>
                  <a:pt x="1354893" y="457200"/>
                  <a:pt x="1228725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10" name="Text 4"/>
          <p:cNvSpPr/>
          <p:nvPr/>
        </p:nvSpPr>
        <p:spPr>
          <a:xfrm>
            <a:off x="4122837" y="1943100"/>
            <a:ext cx="1114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</a:t>
            </a: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>
            <a:off x="1828800" y="2895600"/>
            <a:ext cx="4171950" cy="990600"/>
          </a:xfrm>
          <a:custGeom>
            <a:avLst/>
            <a:gdLst/>
            <a:ahLst/>
            <a:cxnLst/>
            <a:rect l="l" t="t" r="r" b="b"/>
            <a:pathLst>
              <a:path w="4171950" h="990600">
                <a:moveTo>
                  <a:pt x="228601" y="0"/>
                </a:moveTo>
                <a:lnTo>
                  <a:pt x="3943349" y="0"/>
                </a:lnTo>
                <a:cubicBezTo>
                  <a:pt x="4069602" y="0"/>
                  <a:pt x="4171950" y="102348"/>
                  <a:pt x="4171950" y="228601"/>
                </a:cubicBezTo>
                <a:lnTo>
                  <a:pt x="4171950" y="761999"/>
                </a:lnTo>
                <a:cubicBezTo>
                  <a:pt x="4171950" y="888252"/>
                  <a:pt x="4069602" y="990600"/>
                  <a:pt x="3943349" y="990600"/>
                </a:cubicBezTo>
                <a:lnTo>
                  <a:pt x="228601" y="990600"/>
                </a:lnTo>
                <a:cubicBezTo>
                  <a:pt x="102348" y="990600"/>
                  <a:pt x="0" y="888252"/>
                  <a:pt x="0" y="761999"/>
                </a:cubicBezTo>
                <a:lnTo>
                  <a:pt x="0" y="228601"/>
                </a:lnTo>
                <a:cubicBezTo>
                  <a:pt x="0" y="102433"/>
                  <a:pt x="102433" y="0"/>
                  <a:pt x="228601" y="0"/>
                </a:cubicBezTo>
                <a:close/>
              </a:path>
            </a:pathLst>
          </a:custGeom>
          <a:solidFill>
            <a:srgbClr val="D2691E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6"/>
          <p:cNvSpPr/>
          <p:nvPr/>
        </p:nvSpPr>
        <p:spPr>
          <a:xfrm>
            <a:off x="2019300" y="3086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hape 7"/>
          <p:cNvSpPr/>
          <p:nvPr/>
        </p:nvSpPr>
        <p:spPr>
          <a:xfrm>
            <a:off x="2201466" y="32480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138410"/>
                </a:moveTo>
                <a:cubicBezTo>
                  <a:pt x="161979" y="138410"/>
                  <a:pt x="191988" y="108401"/>
                  <a:pt x="191988" y="71438"/>
                </a:cubicBezTo>
                <a:cubicBezTo>
                  <a:pt x="191988" y="34474"/>
                  <a:pt x="161979" y="4465"/>
                  <a:pt x="125016" y="4465"/>
                </a:cubicBezTo>
                <a:cubicBezTo>
                  <a:pt x="88052" y="4465"/>
                  <a:pt x="58043" y="34474"/>
                  <a:pt x="58043" y="71438"/>
                </a:cubicBezTo>
                <a:cubicBezTo>
                  <a:pt x="58043" y="108401"/>
                  <a:pt x="88052" y="138410"/>
                  <a:pt x="125016" y="138410"/>
                </a:cubicBezTo>
                <a:close/>
                <a:moveTo>
                  <a:pt x="108440" y="169664"/>
                </a:moveTo>
                <a:cubicBezTo>
                  <a:pt x="53467" y="169664"/>
                  <a:pt x="8930" y="214201"/>
                  <a:pt x="8930" y="269174"/>
                </a:cubicBezTo>
                <a:cubicBezTo>
                  <a:pt x="8930" y="278327"/>
                  <a:pt x="16352" y="285750"/>
                  <a:pt x="25505" y="285750"/>
                </a:cubicBezTo>
                <a:lnTo>
                  <a:pt x="224526" y="285750"/>
                </a:lnTo>
                <a:cubicBezTo>
                  <a:pt x="233679" y="285750"/>
                  <a:pt x="241102" y="278327"/>
                  <a:pt x="241102" y="269174"/>
                </a:cubicBezTo>
                <a:cubicBezTo>
                  <a:pt x="241102" y="214201"/>
                  <a:pt x="196565" y="169664"/>
                  <a:pt x="141591" y="169664"/>
                </a:cubicBezTo>
                <a:lnTo>
                  <a:pt x="108440" y="169664"/>
                </a:ln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14" name="Text 8"/>
          <p:cNvSpPr/>
          <p:nvPr/>
        </p:nvSpPr>
        <p:spPr>
          <a:xfrm>
            <a:off x="2781300" y="3124200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Rishat Bin Sultan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2781300" y="3429000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Gemini API Integration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6191250" y="2895600"/>
            <a:ext cx="4171950" cy="990600"/>
          </a:xfrm>
          <a:custGeom>
            <a:avLst/>
            <a:gdLst/>
            <a:ahLst/>
            <a:cxnLst/>
            <a:rect l="l" t="t" r="r" b="b"/>
            <a:pathLst>
              <a:path w="4171950" h="990600">
                <a:moveTo>
                  <a:pt x="228601" y="0"/>
                </a:moveTo>
                <a:lnTo>
                  <a:pt x="3943349" y="0"/>
                </a:lnTo>
                <a:cubicBezTo>
                  <a:pt x="4069602" y="0"/>
                  <a:pt x="4171950" y="102348"/>
                  <a:pt x="4171950" y="228601"/>
                </a:cubicBezTo>
                <a:lnTo>
                  <a:pt x="4171950" y="761999"/>
                </a:lnTo>
                <a:cubicBezTo>
                  <a:pt x="4171950" y="888252"/>
                  <a:pt x="4069602" y="990600"/>
                  <a:pt x="3943349" y="990600"/>
                </a:cubicBezTo>
                <a:lnTo>
                  <a:pt x="228601" y="990600"/>
                </a:lnTo>
                <a:cubicBezTo>
                  <a:pt x="102348" y="990600"/>
                  <a:pt x="0" y="888252"/>
                  <a:pt x="0" y="761999"/>
                </a:cubicBezTo>
                <a:lnTo>
                  <a:pt x="0" y="228601"/>
                </a:lnTo>
                <a:cubicBezTo>
                  <a:pt x="0" y="102433"/>
                  <a:pt x="102433" y="0"/>
                  <a:pt x="228601" y="0"/>
                </a:cubicBezTo>
                <a:close/>
              </a:path>
            </a:pathLst>
          </a:custGeom>
          <a:solidFill>
            <a:srgbClr val="F4A460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381750" y="3086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Shape 12"/>
          <p:cNvSpPr/>
          <p:nvPr/>
        </p:nvSpPr>
        <p:spPr>
          <a:xfrm>
            <a:off x="6563916" y="32480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138410"/>
                </a:moveTo>
                <a:cubicBezTo>
                  <a:pt x="161979" y="138410"/>
                  <a:pt x="191988" y="108401"/>
                  <a:pt x="191988" y="71438"/>
                </a:cubicBezTo>
                <a:cubicBezTo>
                  <a:pt x="191988" y="34474"/>
                  <a:pt x="161979" y="4465"/>
                  <a:pt x="125016" y="4465"/>
                </a:cubicBezTo>
                <a:cubicBezTo>
                  <a:pt x="88052" y="4465"/>
                  <a:pt x="58043" y="34474"/>
                  <a:pt x="58043" y="71438"/>
                </a:cubicBezTo>
                <a:cubicBezTo>
                  <a:pt x="58043" y="108401"/>
                  <a:pt x="88052" y="138410"/>
                  <a:pt x="125016" y="138410"/>
                </a:cubicBezTo>
                <a:close/>
                <a:moveTo>
                  <a:pt x="108440" y="169664"/>
                </a:moveTo>
                <a:cubicBezTo>
                  <a:pt x="53467" y="169664"/>
                  <a:pt x="8930" y="214201"/>
                  <a:pt x="8930" y="269174"/>
                </a:cubicBezTo>
                <a:cubicBezTo>
                  <a:pt x="8930" y="278327"/>
                  <a:pt x="16352" y="285750"/>
                  <a:pt x="25505" y="285750"/>
                </a:cubicBezTo>
                <a:lnTo>
                  <a:pt x="224526" y="285750"/>
                </a:lnTo>
                <a:cubicBezTo>
                  <a:pt x="233679" y="285750"/>
                  <a:pt x="241102" y="278327"/>
                  <a:pt x="241102" y="269174"/>
                </a:cubicBezTo>
                <a:cubicBezTo>
                  <a:pt x="241102" y="214201"/>
                  <a:pt x="196565" y="169664"/>
                  <a:pt x="141591" y="169664"/>
                </a:cubicBezTo>
                <a:lnTo>
                  <a:pt x="108440" y="169664"/>
                </a:lnTo>
                <a:close/>
              </a:path>
            </a:pathLst>
          </a:custGeom>
          <a:solidFill>
            <a:srgbClr val="F4A460"/>
          </a:solidFill>
          <a:ln/>
        </p:spPr>
      </p:sp>
      <p:sp>
        <p:nvSpPr>
          <p:cNvPr id="19" name="Text 13"/>
          <p:cNvSpPr/>
          <p:nvPr/>
        </p:nvSpPr>
        <p:spPr>
          <a:xfrm>
            <a:off x="7143750" y="3124200"/>
            <a:ext cx="145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Fariha Islam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143750" y="3429000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Django Backend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1828800" y="4076700"/>
            <a:ext cx="4171950" cy="990600"/>
          </a:xfrm>
          <a:custGeom>
            <a:avLst/>
            <a:gdLst/>
            <a:ahLst/>
            <a:cxnLst/>
            <a:rect l="l" t="t" r="r" b="b"/>
            <a:pathLst>
              <a:path w="4171950" h="990600">
                <a:moveTo>
                  <a:pt x="228601" y="0"/>
                </a:moveTo>
                <a:lnTo>
                  <a:pt x="3943349" y="0"/>
                </a:lnTo>
                <a:cubicBezTo>
                  <a:pt x="4069602" y="0"/>
                  <a:pt x="4171950" y="102348"/>
                  <a:pt x="4171950" y="228601"/>
                </a:cubicBezTo>
                <a:lnTo>
                  <a:pt x="4171950" y="761999"/>
                </a:lnTo>
                <a:cubicBezTo>
                  <a:pt x="4171950" y="888252"/>
                  <a:pt x="4069602" y="990600"/>
                  <a:pt x="3943349" y="990600"/>
                </a:cubicBezTo>
                <a:lnTo>
                  <a:pt x="228601" y="990600"/>
                </a:lnTo>
                <a:cubicBezTo>
                  <a:pt x="102348" y="990600"/>
                  <a:pt x="0" y="888252"/>
                  <a:pt x="0" y="761999"/>
                </a:cubicBezTo>
                <a:lnTo>
                  <a:pt x="0" y="228601"/>
                </a:lnTo>
                <a:cubicBezTo>
                  <a:pt x="0" y="102433"/>
                  <a:pt x="102433" y="0"/>
                  <a:pt x="228601" y="0"/>
                </a:cubicBezTo>
                <a:close/>
              </a:path>
            </a:pathLst>
          </a:custGeom>
          <a:solidFill>
            <a:srgbClr val="FFD700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2019300" y="4267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2201466" y="44291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138410"/>
                </a:moveTo>
                <a:cubicBezTo>
                  <a:pt x="161979" y="138410"/>
                  <a:pt x="191988" y="108401"/>
                  <a:pt x="191988" y="71438"/>
                </a:cubicBezTo>
                <a:cubicBezTo>
                  <a:pt x="191988" y="34474"/>
                  <a:pt x="161979" y="4465"/>
                  <a:pt x="125016" y="4465"/>
                </a:cubicBezTo>
                <a:cubicBezTo>
                  <a:pt x="88052" y="4465"/>
                  <a:pt x="58043" y="34474"/>
                  <a:pt x="58043" y="71438"/>
                </a:cubicBezTo>
                <a:cubicBezTo>
                  <a:pt x="58043" y="108401"/>
                  <a:pt x="88052" y="138410"/>
                  <a:pt x="125016" y="138410"/>
                </a:cubicBezTo>
                <a:close/>
                <a:moveTo>
                  <a:pt x="108440" y="169664"/>
                </a:moveTo>
                <a:cubicBezTo>
                  <a:pt x="53467" y="169664"/>
                  <a:pt x="8930" y="214201"/>
                  <a:pt x="8930" y="269174"/>
                </a:cubicBezTo>
                <a:cubicBezTo>
                  <a:pt x="8930" y="278327"/>
                  <a:pt x="16352" y="285750"/>
                  <a:pt x="25505" y="285750"/>
                </a:cubicBezTo>
                <a:lnTo>
                  <a:pt x="224526" y="285750"/>
                </a:lnTo>
                <a:cubicBezTo>
                  <a:pt x="233679" y="285750"/>
                  <a:pt x="241102" y="278327"/>
                  <a:pt x="241102" y="269174"/>
                </a:cubicBezTo>
                <a:cubicBezTo>
                  <a:pt x="241102" y="214201"/>
                  <a:pt x="196565" y="169664"/>
                  <a:pt x="141591" y="169664"/>
                </a:cubicBezTo>
                <a:lnTo>
                  <a:pt x="108440" y="169664"/>
                </a:ln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24" name="Text 18"/>
          <p:cNvSpPr/>
          <p:nvPr/>
        </p:nvSpPr>
        <p:spPr>
          <a:xfrm>
            <a:off x="2781300" y="4305300"/>
            <a:ext cx="2466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D4037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Nafia Haque Muskan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2781300" y="4610100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D40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&amp; ML Training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6191250" y="4076700"/>
            <a:ext cx="4171950" cy="990600"/>
          </a:xfrm>
          <a:custGeom>
            <a:avLst/>
            <a:gdLst/>
            <a:ahLst/>
            <a:cxnLst/>
            <a:rect l="l" t="t" r="r" b="b"/>
            <a:pathLst>
              <a:path w="4171950" h="990600">
                <a:moveTo>
                  <a:pt x="228601" y="0"/>
                </a:moveTo>
                <a:lnTo>
                  <a:pt x="3943349" y="0"/>
                </a:lnTo>
                <a:cubicBezTo>
                  <a:pt x="4069602" y="0"/>
                  <a:pt x="4171950" y="102348"/>
                  <a:pt x="4171950" y="228601"/>
                </a:cubicBezTo>
                <a:lnTo>
                  <a:pt x="4171950" y="761999"/>
                </a:lnTo>
                <a:cubicBezTo>
                  <a:pt x="4171950" y="888252"/>
                  <a:pt x="4069602" y="990600"/>
                  <a:pt x="3943349" y="990600"/>
                </a:cubicBezTo>
                <a:lnTo>
                  <a:pt x="228601" y="990600"/>
                </a:lnTo>
                <a:cubicBezTo>
                  <a:pt x="102348" y="990600"/>
                  <a:pt x="0" y="888252"/>
                  <a:pt x="0" y="761999"/>
                </a:cubicBezTo>
                <a:lnTo>
                  <a:pt x="0" y="228601"/>
                </a:lnTo>
                <a:cubicBezTo>
                  <a:pt x="0" y="102433"/>
                  <a:pt x="102433" y="0"/>
                  <a:pt x="228601" y="0"/>
                </a:cubicBezTo>
                <a:close/>
              </a:path>
            </a:pathLst>
          </a:custGeom>
          <a:solidFill>
            <a:srgbClr val="D2691E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381750" y="4267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Shape 22"/>
          <p:cNvSpPr/>
          <p:nvPr/>
        </p:nvSpPr>
        <p:spPr>
          <a:xfrm>
            <a:off x="6563916" y="44291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138410"/>
                </a:moveTo>
                <a:cubicBezTo>
                  <a:pt x="161979" y="138410"/>
                  <a:pt x="191988" y="108401"/>
                  <a:pt x="191988" y="71438"/>
                </a:cubicBezTo>
                <a:cubicBezTo>
                  <a:pt x="191988" y="34474"/>
                  <a:pt x="161979" y="4465"/>
                  <a:pt x="125016" y="4465"/>
                </a:cubicBezTo>
                <a:cubicBezTo>
                  <a:pt x="88052" y="4465"/>
                  <a:pt x="58043" y="34474"/>
                  <a:pt x="58043" y="71438"/>
                </a:cubicBezTo>
                <a:cubicBezTo>
                  <a:pt x="58043" y="108401"/>
                  <a:pt x="88052" y="138410"/>
                  <a:pt x="125016" y="138410"/>
                </a:cubicBezTo>
                <a:close/>
                <a:moveTo>
                  <a:pt x="108440" y="169664"/>
                </a:moveTo>
                <a:cubicBezTo>
                  <a:pt x="53467" y="169664"/>
                  <a:pt x="8930" y="214201"/>
                  <a:pt x="8930" y="269174"/>
                </a:cubicBezTo>
                <a:cubicBezTo>
                  <a:pt x="8930" y="278327"/>
                  <a:pt x="16352" y="285750"/>
                  <a:pt x="25505" y="285750"/>
                </a:cubicBezTo>
                <a:lnTo>
                  <a:pt x="224526" y="285750"/>
                </a:lnTo>
                <a:cubicBezTo>
                  <a:pt x="233679" y="285750"/>
                  <a:pt x="241102" y="278327"/>
                  <a:pt x="241102" y="269174"/>
                </a:cubicBezTo>
                <a:cubicBezTo>
                  <a:pt x="241102" y="214201"/>
                  <a:pt x="196565" y="169664"/>
                  <a:pt x="141591" y="169664"/>
                </a:cubicBezTo>
                <a:lnTo>
                  <a:pt x="108440" y="169664"/>
                </a:lnTo>
                <a:close/>
              </a:path>
            </a:pathLst>
          </a:custGeom>
          <a:solidFill>
            <a:srgbClr val="D2691E"/>
          </a:solidFill>
          <a:ln/>
        </p:spPr>
      </p:sp>
      <p:sp>
        <p:nvSpPr>
          <p:cNvPr id="29" name="Text 23"/>
          <p:cNvSpPr/>
          <p:nvPr/>
        </p:nvSpPr>
        <p:spPr>
          <a:xfrm>
            <a:off x="7143750" y="4305300"/>
            <a:ext cx="2009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MD Tamim Hasan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7143750" y="461010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Frontend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4185841" y="5295900"/>
            <a:ext cx="3819525" cy="685800"/>
          </a:xfrm>
          <a:custGeom>
            <a:avLst/>
            <a:gdLst/>
            <a:ahLst/>
            <a:cxnLst/>
            <a:rect l="l" t="t" r="r" b="b"/>
            <a:pathLst>
              <a:path w="3819525" h="685800">
                <a:moveTo>
                  <a:pt x="342900" y="0"/>
                </a:moveTo>
                <a:lnTo>
                  <a:pt x="3476625" y="0"/>
                </a:lnTo>
                <a:cubicBezTo>
                  <a:pt x="3665877" y="0"/>
                  <a:pt x="3819525" y="153648"/>
                  <a:pt x="3819525" y="342900"/>
                </a:cubicBezTo>
                <a:lnTo>
                  <a:pt x="3819525" y="342900"/>
                </a:lnTo>
                <a:cubicBezTo>
                  <a:pt x="3819525" y="532152"/>
                  <a:pt x="3665877" y="685800"/>
                  <a:pt x="3476625" y="685800"/>
                </a:cubicBezTo>
                <a:lnTo>
                  <a:pt x="342900" y="685800"/>
                </a:lnTo>
                <a:cubicBezTo>
                  <a:pt x="153648" y="685800"/>
                  <a:pt x="0" y="532152"/>
                  <a:pt x="0" y="342900"/>
                </a:cubicBezTo>
                <a:lnTo>
                  <a:pt x="0" y="342900"/>
                </a:lnTo>
                <a:cubicBezTo>
                  <a:pt x="0" y="153648"/>
                  <a:pt x="153648" y="0"/>
                  <a:pt x="342900" y="0"/>
                </a:cubicBezTo>
                <a:close/>
              </a:path>
            </a:pathLst>
          </a:custGeom>
          <a:solidFill>
            <a:srgbClr val="D2691E"/>
          </a:soli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609703" y="54864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61404" y="58333"/>
                </a:moveTo>
                <a:lnTo>
                  <a:pt x="171450" y="72197"/>
                </a:lnTo>
                <a:lnTo>
                  <a:pt x="181496" y="58333"/>
                </a:lnTo>
                <a:cubicBezTo>
                  <a:pt x="198239" y="35161"/>
                  <a:pt x="225162" y="21431"/>
                  <a:pt x="253759" y="21431"/>
                </a:cubicBezTo>
                <a:cubicBezTo>
                  <a:pt x="302984" y="21431"/>
                  <a:pt x="342900" y="61347"/>
                  <a:pt x="342900" y="110572"/>
                </a:cubicBezTo>
                <a:lnTo>
                  <a:pt x="342900" y="112313"/>
                </a:lnTo>
                <a:cubicBezTo>
                  <a:pt x="342900" y="187456"/>
                  <a:pt x="249205" y="274722"/>
                  <a:pt x="200315" y="312026"/>
                </a:cubicBezTo>
                <a:cubicBezTo>
                  <a:pt x="192011" y="318321"/>
                  <a:pt x="181831" y="321469"/>
                  <a:pt x="171450" y="321469"/>
                </a:cubicBezTo>
                <a:cubicBezTo>
                  <a:pt x="161069" y="321469"/>
                  <a:pt x="150822" y="318388"/>
                  <a:pt x="142585" y="312026"/>
                </a:cubicBezTo>
                <a:cubicBezTo>
                  <a:pt x="93695" y="274722"/>
                  <a:pt x="0" y="187456"/>
                  <a:pt x="0" y="112313"/>
                </a:cubicBezTo>
                <a:lnTo>
                  <a:pt x="0" y="110572"/>
                </a:lnTo>
                <a:cubicBezTo>
                  <a:pt x="0" y="61347"/>
                  <a:pt x="39916" y="21431"/>
                  <a:pt x="89141" y="21431"/>
                </a:cubicBezTo>
                <a:cubicBezTo>
                  <a:pt x="117738" y="21431"/>
                  <a:pt x="144661" y="35161"/>
                  <a:pt x="161404" y="58333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33" name="Text 27"/>
          <p:cNvSpPr/>
          <p:nvPr/>
        </p:nvSpPr>
        <p:spPr>
          <a:xfrm>
            <a:off x="5081191" y="5448300"/>
            <a:ext cx="2714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Thank You!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830</Words>
  <Application>Microsoft Office PowerPoint</Application>
  <PresentationFormat>Widescreen</PresentationFormat>
  <Paragraphs>160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MiSans</vt:lpstr>
      <vt:lpstr>微软雅黑</vt:lpstr>
      <vt:lpstr>ZCOOL KuaiLe</vt:lpstr>
      <vt:lpstr>得意黑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PETDOC - Smart Veterinary Care</dc:title>
  <dc:subject>PETDOC - Smart Veterinary Care</dc:subject>
  <dc:creator>Kimi</dc:creator>
  <cp:lastModifiedBy>Fariha Islam</cp:lastModifiedBy>
  <cp:revision>2</cp:revision>
  <dcterms:created xsi:type="dcterms:W3CDTF">2026-04-05T19:24:43Z</dcterms:created>
  <dcterms:modified xsi:type="dcterms:W3CDTF">2026-04-05T19:36:11Z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{"Label":"PETDOC - Smart Veterinary Care","ContentProducer":"001191110108MACG2KBH8F10000","ProduceID":"19d5eaea-f842-8cf5-8000-000074702b35","ReservedCode1":"","ContentPropagator":"001191110108MACG2KBH8F20000","PropagateID":"19d5eaea-f842-8cf5-8000-000074702b35","ReservedCode2":""}</vt:lpwstr>
  </property>
</Properties>
</file>